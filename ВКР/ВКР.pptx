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8" r:id="rId4"/>
    <p:sldId id="258" r:id="rId5"/>
    <p:sldId id="273" r:id="rId6"/>
    <p:sldId id="275" r:id="rId7"/>
    <p:sldId id="259" r:id="rId8"/>
    <p:sldId id="274" r:id="rId9"/>
    <p:sldId id="276" r:id="rId10"/>
    <p:sldId id="277" r:id="rId11"/>
  </p:sldIdLst>
  <p:sldSz cx="9144000" cy="5143500" type="screen16x9"/>
  <p:notesSz cx="6858000" cy="9144000"/>
  <p:embeddedFontLst>
    <p:embeddedFont>
      <p:font typeface="Abadi" panose="020B0604020104020204" pitchFamily="34" charset="0"/>
      <p:regular r:id="rId13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ka" initials="B" lastIdx="1" clrIdx="0">
    <p:extLst>
      <p:ext uri="{19B8F6BF-5375-455C-9EA6-DF929625EA0E}">
        <p15:presenceInfo xmlns:p15="http://schemas.microsoft.com/office/powerpoint/2012/main" userId="Ba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25" d="100"/>
          <a:sy n="125" d="100"/>
        </p:scale>
        <p:origin x="1194" y="504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badi" panose="020B0604020104020204" pitchFamily="34" charset="0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0B5463-65C2-FBEE-F8BF-E5BCC8E28A40}" type="slidenum">
              <a:rPr>
                <a:latin typeface="Abadi" panose="020B0604020104020204" pitchFamily="34" charset="0"/>
              </a:rPr>
              <a:t>1</a:t>
            </a:fld>
            <a:endParaRPr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67003" name="Google Shape;791;g1161526d799_0_144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78723" name="Google Shape;792;g1161526d799_0_14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67003" name="Google Shape;791;g1161526d799_0_144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78723" name="Google Shape;792;g1161526d799_0_14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457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401423" name="Google Shape;741;g1161526d799_0_1356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547268" name="Google Shape;742;g1161526d799_0_135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401423" name="Google Shape;741;g1161526d799_0_1356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547268" name="Google Shape;742;g1161526d799_0_135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586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401423" name="Google Shape;741;g1161526d799_0_1356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547268" name="Google Shape;742;g1161526d799_0_135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159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597852" name="Google Shape;791;g1161526d799_0_144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695146" name="Google Shape;792;g1161526d799_0_14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597852" name="Google Shape;791;g1161526d799_0_144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695146" name="Google Shape;792;g1161526d799_0_14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858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597852" name="Google Shape;791;g1161526d799_0_144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695146" name="Google Shape;792;g1161526d799_0_14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398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597852" name="Google Shape;791;g1161526d799_0_144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695146" name="Google Shape;792;g1161526d799_0_14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584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 bwMode="auto"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0" name="Google Shape;30;p3"/>
            <p:cNvCxnSpPr>
              <a:cxnSpLocks/>
            </p:cNvCxnSpPr>
            <p:nvPr/>
          </p:nvCxnSpPr>
          <p:spPr bwMode="auto">
            <a:xfrm>
              <a:off x="78699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>
              <a:cxnSpLocks/>
            </p:cNvCxnSpPr>
            <p:nvPr/>
          </p:nvCxnSpPr>
          <p:spPr bwMode="auto"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>
              <a:cxnSpLocks/>
            </p:cNvCxnSpPr>
            <p:nvPr/>
          </p:nvCxnSpPr>
          <p:spPr bwMode="auto"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>
              <a:cxnSpLocks/>
            </p:cNvCxnSpPr>
            <p:nvPr/>
          </p:nvCxnSpPr>
          <p:spPr bwMode="auto">
            <a:xfrm>
              <a:off x="78699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>
              <a:cxnSpLocks/>
            </p:cNvCxnSpPr>
            <p:nvPr/>
          </p:nvCxnSpPr>
          <p:spPr bwMode="auto">
            <a:xfrm>
              <a:off x="78699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Google Shape;35;p3"/>
          <p:cNvSpPr/>
          <p:nvPr/>
        </p:nvSpPr>
        <p:spPr bwMode="auto"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  <p:grpSp>
        <p:nvGrpSpPr>
          <p:cNvPr id="36" name="Google Shape;36;p3"/>
          <p:cNvGrpSpPr/>
          <p:nvPr/>
        </p:nvGrpSpPr>
        <p:grpSpPr bwMode="auto"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7" name="Google Shape;37;p3"/>
            <p:cNvSpPr/>
            <p:nvPr/>
          </p:nvSpPr>
          <p:spPr bwMode="auto"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38" name="Google Shape;38;p3"/>
            <p:cNvSpPr/>
            <p:nvPr/>
          </p:nvSpPr>
          <p:spPr bwMode="auto"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</p:grpSp>
      <p:cxnSp>
        <p:nvCxnSpPr>
          <p:cNvPr id="39" name="Google Shape;39;p3"/>
          <p:cNvCxnSpPr>
            <a:cxnSpLocks/>
          </p:cNvCxnSpPr>
          <p:nvPr/>
        </p:nvCxnSpPr>
        <p:spPr bwMode="auto"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" name="Google Shape;40;p3"/>
          <p:cNvGrpSpPr/>
          <p:nvPr/>
        </p:nvGrpSpPr>
        <p:grpSpPr bwMode="auto">
          <a:xfrm>
            <a:off x="6760299" y="117804"/>
            <a:ext cx="2161200" cy="256800"/>
            <a:chOff x="6760299" y="96350"/>
            <a:chExt cx="2161200" cy="256800"/>
          </a:xfrm>
        </p:grpSpPr>
        <p:sp>
          <p:nvSpPr>
            <p:cNvPr id="41" name="Google Shape;41;p3"/>
            <p:cNvSpPr/>
            <p:nvPr/>
          </p:nvSpPr>
          <p:spPr bwMode="auto">
            <a:xfrm>
              <a:off x="6760299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grpSp>
          <p:nvGrpSpPr>
            <p:cNvPr id="42" name="Google Shape;42;p3"/>
            <p:cNvGrpSpPr/>
            <p:nvPr/>
          </p:nvGrpSpPr>
          <p:grpSpPr bwMode="auto">
            <a:xfrm>
              <a:off x="8683881" y="115948"/>
              <a:ext cx="159361" cy="217605"/>
              <a:chOff x="2025348" y="3145361"/>
              <a:chExt cx="406327" cy="554831"/>
            </a:xfrm>
          </p:grpSpPr>
          <p:sp>
            <p:nvSpPr>
              <p:cNvPr id="43" name="Google Shape;43;p3"/>
              <p:cNvSpPr/>
              <p:nvPr/>
            </p:nvSpPr>
            <p:spPr bwMode="auto"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dirty="0">
                  <a:latin typeface="Abadi" panose="020B0604020104020204" pitchFamily="34" charset="0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 bwMode="auto"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dirty="0">
                  <a:latin typeface="Abadi" panose="020B0604020104020204" pitchFamily="34" charset="0"/>
                </a:endParaRPr>
              </a:p>
            </p:txBody>
          </p: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 bwMode="auto"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 dirty="0"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 bwMode="auto"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 dirty="0"/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 bwMode="auto"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" name="Google Shape;145;p9"/>
          <p:cNvGrpSpPr/>
          <p:nvPr/>
        </p:nvGrpSpPr>
        <p:grpSpPr bwMode="auto"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46" name="Google Shape;146;p9"/>
            <p:cNvCxnSpPr>
              <a:cxnSpLocks/>
            </p:cNvCxnSpPr>
            <p:nvPr/>
          </p:nvCxnSpPr>
          <p:spPr bwMode="auto">
            <a:xfrm>
              <a:off x="78699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9"/>
            <p:cNvCxnSpPr>
              <a:cxnSpLocks/>
            </p:cNvCxnSpPr>
            <p:nvPr/>
          </p:nvCxnSpPr>
          <p:spPr bwMode="auto"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9"/>
            <p:cNvCxnSpPr>
              <a:cxnSpLocks/>
            </p:cNvCxnSpPr>
            <p:nvPr/>
          </p:nvCxnSpPr>
          <p:spPr bwMode="auto"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9"/>
            <p:cNvCxnSpPr>
              <a:cxnSpLocks/>
            </p:cNvCxnSpPr>
            <p:nvPr/>
          </p:nvCxnSpPr>
          <p:spPr bwMode="auto">
            <a:xfrm>
              <a:off x="78699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9"/>
            <p:cNvCxnSpPr>
              <a:cxnSpLocks/>
            </p:cNvCxnSpPr>
            <p:nvPr/>
          </p:nvCxnSpPr>
          <p:spPr bwMode="auto">
            <a:xfrm>
              <a:off x="78699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9"/>
          <p:cNvSpPr/>
          <p:nvPr/>
        </p:nvSpPr>
        <p:spPr bwMode="auto"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  <p:grpSp>
        <p:nvGrpSpPr>
          <p:cNvPr id="152" name="Google Shape;152;p9"/>
          <p:cNvGrpSpPr/>
          <p:nvPr/>
        </p:nvGrpSpPr>
        <p:grpSpPr bwMode="auto"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53" name="Google Shape;153;p9"/>
            <p:cNvSpPr/>
            <p:nvPr/>
          </p:nvSpPr>
          <p:spPr bwMode="auto"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154" name="Google Shape;154;p9"/>
            <p:cNvSpPr/>
            <p:nvPr/>
          </p:nvSpPr>
          <p:spPr bwMode="auto"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</p:grpSp>
      <p:cxnSp>
        <p:nvCxnSpPr>
          <p:cNvPr id="155" name="Google Shape;155;p9"/>
          <p:cNvCxnSpPr>
            <a:cxnSpLocks/>
          </p:cNvCxnSpPr>
          <p:nvPr/>
        </p:nvCxnSpPr>
        <p:spPr bwMode="auto"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" name="Google Shape;156;p9"/>
          <p:cNvGrpSpPr/>
          <p:nvPr/>
        </p:nvGrpSpPr>
        <p:grpSpPr bwMode="auto">
          <a:xfrm>
            <a:off x="6760299" y="117804"/>
            <a:ext cx="2161200" cy="256800"/>
            <a:chOff x="6760299" y="96350"/>
            <a:chExt cx="2161200" cy="256800"/>
          </a:xfrm>
        </p:grpSpPr>
        <p:sp>
          <p:nvSpPr>
            <p:cNvPr id="157" name="Google Shape;157;p9"/>
            <p:cNvSpPr/>
            <p:nvPr/>
          </p:nvSpPr>
          <p:spPr bwMode="auto">
            <a:xfrm>
              <a:off x="6760299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grpSp>
          <p:nvGrpSpPr>
            <p:cNvPr id="158" name="Google Shape;158;p9"/>
            <p:cNvGrpSpPr/>
            <p:nvPr/>
          </p:nvGrpSpPr>
          <p:grpSpPr bwMode="auto">
            <a:xfrm>
              <a:off x="8683881" y="115948"/>
              <a:ext cx="159361" cy="217605"/>
              <a:chOff x="2025348" y="3145361"/>
              <a:chExt cx="406327" cy="554831"/>
            </a:xfrm>
          </p:grpSpPr>
          <p:sp>
            <p:nvSpPr>
              <p:cNvPr id="159" name="Google Shape;159;p9"/>
              <p:cNvSpPr/>
              <p:nvPr/>
            </p:nvSpPr>
            <p:spPr bwMode="auto"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dirty="0">
                  <a:latin typeface="Abadi" panose="020B0604020104020204" pitchFamily="34" charset="0"/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 bwMode="auto"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dirty="0">
                  <a:latin typeface="Abadi" panose="020B0604020104020204" pitchFamily="34" charset="0"/>
                </a:endParaRPr>
              </a:p>
            </p:txBody>
          </p:sp>
        </p:grpSp>
      </p:grp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 bwMode="auto">
          <a:xfrm>
            <a:off x="715099" y="1547575"/>
            <a:ext cx="4661100" cy="64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 dirty="0"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1"/>
          </p:nvPr>
        </p:nvSpPr>
        <p:spPr bwMode="auto">
          <a:xfrm>
            <a:off x="715099" y="2305922"/>
            <a:ext cx="46611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ackground" userDrawn="1">
  <p:cSld name="BLANK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 bwMode="auto"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>
              <a:cxnSpLocks/>
            </p:cNvCxnSpPr>
            <p:nvPr/>
          </p:nvCxnSpPr>
          <p:spPr bwMode="auto">
            <a:xfrm>
              <a:off x="78699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31"/>
            <p:cNvCxnSpPr>
              <a:cxnSpLocks/>
            </p:cNvCxnSpPr>
            <p:nvPr/>
          </p:nvCxnSpPr>
          <p:spPr bwMode="auto"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31"/>
            <p:cNvCxnSpPr>
              <a:cxnSpLocks/>
            </p:cNvCxnSpPr>
            <p:nvPr/>
          </p:nvCxnSpPr>
          <p:spPr bwMode="auto"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31"/>
            <p:cNvCxnSpPr>
              <a:cxnSpLocks/>
            </p:cNvCxnSpPr>
            <p:nvPr/>
          </p:nvCxnSpPr>
          <p:spPr bwMode="auto">
            <a:xfrm>
              <a:off x="78699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31"/>
            <p:cNvCxnSpPr>
              <a:cxnSpLocks/>
            </p:cNvCxnSpPr>
            <p:nvPr/>
          </p:nvCxnSpPr>
          <p:spPr bwMode="auto">
            <a:xfrm>
              <a:off x="78699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1" name="Google Shape;611;p31"/>
          <p:cNvSpPr/>
          <p:nvPr/>
        </p:nvSpPr>
        <p:spPr bwMode="auto"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  <p:grpSp>
        <p:nvGrpSpPr>
          <p:cNvPr id="612" name="Google Shape;612;p31"/>
          <p:cNvGrpSpPr/>
          <p:nvPr/>
        </p:nvGrpSpPr>
        <p:grpSpPr bwMode="auto"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 bwMode="auto"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14" name="Google Shape;614;p31"/>
            <p:cNvSpPr/>
            <p:nvPr/>
          </p:nvSpPr>
          <p:spPr bwMode="auto">
            <a:xfrm>
              <a:off x="253750" y="130008"/>
              <a:ext cx="218100" cy="218100"/>
            </a:xfrm>
            <a:prstGeom prst="smileyFace">
              <a:avLst>
                <a:gd name="adj" fmla="val 465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</p:grpSp>
      <p:cxnSp>
        <p:nvCxnSpPr>
          <p:cNvPr id="615" name="Google Shape;615;p31"/>
          <p:cNvCxnSpPr>
            <a:cxnSpLocks/>
          </p:cNvCxnSpPr>
          <p:nvPr/>
        </p:nvCxnSpPr>
        <p:spPr bwMode="auto"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1"/>
          <p:cNvSpPr/>
          <p:nvPr/>
        </p:nvSpPr>
        <p:spPr bwMode="auto">
          <a:xfrm>
            <a:off x="6760299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  <p:grpSp>
        <p:nvGrpSpPr>
          <p:cNvPr id="617" name="Google Shape;617;p31"/>
          <p:cNvGrpSpPr/>
          <p:nvPr/>
        </p:nvGrpSpPr>
        <p:grpSpPr bwMode="auto"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 bwMode="auto"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19" name="Google Shape;619;p31"/>
            <p:cNvSpPr/>
            <p:nvPr/>
          </p:nvSpPr>
          <p:spPr bwMode="auto"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0" name="Google Shape;620;p31"/>
            <p:cNvSpPr/>
            <p:nvPr/>
          </p:nvSpPr>
          <p:spPr bwMode="auto"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1" name="Google Shape;621;p31"/>
            <p:cNvSpPr/>
            <p:nvPr/>
          </p:nvSpPr>
          <p:spPr bwMode="auto"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2" name="Google Shape;622;p31"/>
            <p:cNvSpPr/>
            <p:nvPr/>
          </p:nvSpPr>
          <p:spPr bwMode="auto"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3" name="Google Shape;623;p31"/>
            <p:cNvSpPr/>
            <p:nvPr/>
          </p:nvSpPr>
          <p:spPr bwMode="auto"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4" name="Google Shape;624;p31"/>
            <p:cNvSpPr/>
            <p:nvPr/>
          </p:nvSpPr>
          <p:spPr bwMode="auto"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5" name="Google Shape;625;p31"/>
            <p:cNvSpPr/>
            <p:nvPr/>
          </p:nvSpPr>
          <p:spPr bwMode="auto"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6" name="Google Shape;626;p31"/>
            <p:cNvSpPr/>
            <p:nvPr/>
          </p:nvSpPr>
          <p:spPr bwMode="auto"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7" name="Google Shape;627;p31"/>
            <p:cNvSpPr/>
            <p:nvPr/>
          </p:nvSpPr>
          <p:spPr bwMode="auto"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8" name="Google Shape;628;p31"/>
            <p:cNvSpPr/>
            <p:nvPr/>
          </p:nvSpPr>
          <p:spPr bwMode="auto"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29" name="Google Shape;629;p31"/>
            <p:cNvSpPr/>
            <p:nvPr/>
          </p:nvSpPr>
          <p:spPr bwMode="auto"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0" name="Google Shape;630;p31"/>
            <p:cNvSpPr/>
            <p:nvPr/>
          </p:nvSpPr>
          <p:spPr bwMode="auto"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1" name="Google Shape;631;p31"/>
            <p:cNvSpPr/>
            <p:nvPr/>
          </p:nvSpPr>
          <p:spPr bwMode="auto"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2" name="Google Shape;632;p31"/>
            <p:cNvSpPr/>
            <p:nvPr/>
          </p:nvSpPr>
          <p:spPr bwMode="auto"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3" name="Google Shape;633;p31"/>
            <p:cNvSpPr/>
            <p:nvPr/>
          </p:nvSpPr>
          <p:spPr bwMode="auto"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4" name="Google Shape;634;p31"/>
            <p:cNvSpPr/>
            <p:nvPr/>
          </p:nvSpPr>
          <p:spPr bwMode="auto"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5" name="Google Shape;635;p31"/>
            <p:cNvSpPr/>
            <p:nvPr/>
          </p:nvSpPr>
          <p:spPr bwMode="auto"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6" name="Google Shape;636;p31"/>
            <p:cNvSpPr/>
            <p:nvPr/>
          </p:nvSpPr>
          <p:spPr bwMode="auto"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7" name="Google Shape;637;p31"/>
            <p:cNvSpPr/>
            <p:nvPr/>
          </p:nvSpPr>
          <p:spPr bwMode="auto"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8" name="Google Shape;638;p31"/>
            <p:cNvSpPr/>
            <p:nvPr/>
          </p:nvSpPr>
          <p:spPr bwMode="auto"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39" name="Google Shape;639;p31"/>
            <p:cNvSpPr/>
            <p:nvPr/>
          </p:nvSpPr>
          <p:spPr bwMode="auto"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40" name="Google Shape;640;p31"/>
            <p:cNvSpPr/>
            <p:nvPr/>
          </p:nvSpPr>
          <p:spPr bwMode="auto"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ackground 1" userDrawn="1">
  <p:cSld name="CUSTOM_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 bwMode="auto"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>
              <a:cxnSpLocks/>
            </p:cNvCxnSpPr>
            <p:nvPr/>
          </p:nvCxnSpPr>
          <p:spPr bwMode="auto">
            <a:xfrm>
              <a:off x="78699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2"/>
            <p:cNvCxnSpPr>
              <a:cxnSpLocks/>
            </p:cNvCxnSpPr>
            <p:nvPr/>
          </p:nvCxnSpPr>
          <p:spPr bwMode="auto"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32"/>
            <p:cNvCxnSpPr>
              <a:cxnSpLocks/>
            </p:cNvCxnSpPr>
            <p:nvPr/>
          </p:nvCxnSpPr>
          <p:spPr bwMode="auto"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2"/>
            <p:cNvCxnSpPr>
              <a:cxnSpLocks/>
            </p:cNvCxnSpPr>
            <p:nvPr/>
          </p:nvCxnSpPr>
          <p:spPr bwMode="auto">
            <a:xfrm>
              <a:off x="78699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2"/>
            <p:cNvCxnSpPr>
              <a:cxnSpLocks/>
            </p:cNvCxnSpPr>
            <p:nvPr/>
          </p:nvCxnSpPr>
          <p:spPr bwMode="auto">
            <a:xfrm>
              <a:off x="78699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8" name="Google Shape;648;p32"/>
          <p:cNvSpPr/>
          <p:nvPr/>
        </p:nvSpPr>
        <p:spPr bwMode="auto"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  <p:grpSp>
        <p:nvGrpSpPr>
          <p:cNvPr id="649" name="Google Shape;649;p32"/>
          <p:cNvGrpSpPr/>
          <p:nvPr/>
        </p:nvGrpSpPr>
        <p:grpSpPr bwMode="auto"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 bwMode="auto"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  <p:sp>
          <p:nvSpPr>
            <p:cNvPr id="651" name="Google Shape;651;p32"/>
            <p:cNvSpPr/>
            <p:nvPr/>
          </p:nvSpPr>
          <p:spPr bwMode="auto">
            <a:xfrm>
              <a:off x="253750" y="130008"/>
              <a:ext cx="218100" cy="218100"/>
            </a:xfrm>
            <a:prstGeom prst="leftRightArrowCallout">
              <a:avLst>
                <a:gd name="adj1" fmla="val 34916"/>
                <a:gd name="adj2" fmla="val 25000"/>
                <a:gd name="adj3" fmla="val 35030"/>
                <a:gd name="adj4" fmla="val 4812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Abadi" panose="020B0604020104020204" pitchFamily="34" charset="0"/>
              </a:endParaRPr>
            </a:p>
          </p:txBody>
        </p:sp>
      </p:grpSp>
      <p:cxnSp>
        <p:nvCxnSpPr>
          <p:cNvPr id="652" name="Google Shape;652;p32"/>
          <p:cNvCxnSpPr>
            <a:cxnSpLocks/>
          </p:cNvCxnSpPr>
          <p:nvPr/>
        </p:nvCxnSpPr>
        <p:spPr bwMode="auto"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2"/>
          <p:cNvSpPr/>
          <p:nvPr/>
        </p:nvSpPr>
        <p:spPr bwMode="auto">
          <a:xfrm>
            <a:off x="6760299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  <p:sp>
        <p:nvSpPr>
          <p:cNvPr id="654" name="Google Shape;654;p32"/>
          <p:cNvSpPr/>
          <p:nvPr/>
        </p:nvSpPr>
        <p:spPr bwMode="auto">
          <a:xfrm>
            <a:off x="8690995" y="137150"/>
            <a:ext cx="152400" cy="2181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715099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</a:defRPr>
            </a:lvl9pPr>
          </a:lstStyle>
          <a:p>
            <a:pPr>
              <a:defRPr/>
            </a:pPr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715099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1pPr>
            <a:lvl2pPr marL="914400" lvl="1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2pPr>
            <a:lvl3pPr marL="1371600" lvl="2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5pPr>
            <a:lvl6pPr marL="2743200" lvl="5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Abadi" panose="020B0604020104020204" pitchFamily="34" charset="0"/>
          <a:cs typeface="Times New Roman" panose="02020603050405020304" pitchFamily="18" charset="0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283604" name="TextBox 1621283603"/>
          <p:cNvSpPr txBox="1"/>
          <p:nvPr/>
        </p:nvSpPr>
        <p:spPr bwMode="auto">
          <a:xfrm>
            <a:off x="572" y="1729308"/>
            <a:ext cx="9142856" cy="16848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ru-RU" sz="3600" b="1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Разработка динамической библиотеки на C++ для моделирования клеточных автоматов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8691449" name="TextBox 608691448"/>
          <p:cNvSpPr txBox="1"/>
          <p:nvPr/>
        </p:nvSpPr>
        <p:spPr bwMode="auto">
          <a:xfrm>
            <a:off x="1262127" y="447219"/>
            <a:ext cx="6627495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b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</a:b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ФГБОУ ВО «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Чувашский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государственный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университет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имени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И.Н. 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Ульянова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» </a:t>
            </a:r>
            <a:b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</a:b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Факультет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информатики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и 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вычислительной</a:t>
            </a:r>
            <a:r>
              <a:rPr sz="12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</a:t>
            </a:r>
            <a:r>
              <a:rPr sz="12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техники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4736419" name="TextBox 514736418"/>
          <p:cNvSpPr txBox="1"/>
          <p:nvPr/>
        </p:nvSpPr>
        <p:spPr bwMode="auto">
          <a:xfrm>
            <a:off x="6684475" y="3662095"/>
            <a:ext cx="2410294" cy="13311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400" b="1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Выполнил</a:t>
            </a:r>
            <a:r>
              <a:rPr sz="1400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sz="1400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студент </a:t>
            </a:r>
            <a:r>
              <a:rPr sz="1400" dirty="0" err="1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группы</a:t>
            </a:r>
            <a:r>
              <a:rPr sz="1400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 ИВТ-41-22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1400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Ярдыков Эдуард Евгеньевич</a:t>
            </a:r>
          </a:p>
          <a:p>
            <a:pPr>
              <a:defRPr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ст.пр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Юрьева Е.В.</a:t>
            </a:r>
          </a:p>
          <a:p>
            <a:pPr>
              <a:defRPr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доц.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Ржавин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В.В.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C3E9277-77FA-45C3-8296-151DBDD44E4C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6" name="Google Shape;9830;p83"/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Google Shape;9841;p83"/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9841;p83">
              <a:extLst>
                <a:ext uri="{FF2B5EF4-FFF2-40B4-BE49-F238E27FC236}">
                  <a16:creationId xmlns:a16="http://schemas.microsoft.com/office/drawing/2014/main" id="{CDC943A0-A04D-4F6E-9651-A9F449117B63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Google Shape;9841;p83">
              <a:extLst>
                <a:ext uri="{FF2B5EF4-FFF2-40B4-BE49-F238E27FC236}">
                  <a16:creationId xmlns:a16="http://schemas.microsoft.com/office/drawing/2014/main" id="{647D8708-86F4-47B1-8176-02FD61B44964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Google Shape;9841;p83">
              <a:extLst>
                <a:ext uri="{FF2B5EF4-FFF2-40B4-BE49-F238E27FC236}">
                  <a16:creationId xmlns:a16="http://schemas.microsoft.com/office/drawing/2014/main" id="{22749BAF-7F88-4EDE-BD42-E2F9DA7FFEEA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Google Shape;9841;p83">
              <a:extLst>
                <a:ext uri="{FF2B5EF4-FFF2-40B4-BE49-F238E27FC236}">
                  <a16:creationId xmlns:a16="http://schemas.microsoft.com/office/drawing/2014/main" id="{E4572158-5DE3-4CE8-B8E7-79DA8A83D3D9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Google Shape;9841;p83">
              <a:extLst>
                <a:ext uri="{FF2B5EF4-FFF2-40B4-BE49-F238E27FC236}">
                  <a16:creationId xmlns:a16="http://schemas.microsoft.com/office/drawing/2014/main" id="{0F98696E-9D3F-46E0-BEAA-AC12E5D7F157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Google Shape;9841;p83">
              <a:extLst>
                <a:ext uri="{FF2B5EF4-FFF2-40B4-BE49-F238E27FC236}">
                  <a16:creationId xmlns:a16="http://schemas.microsoft.com/office/drawing/2014/main" id="{157B5CD0-9DE7-49D1-B1B5-0F8B7420A4B4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Google Shape;9841;p83">
              <a:extLst>
                <a:ext uri="{FF2B5EF4-FFF2-40B4-BE49-F238E27FC236}">
                  <a16:creationId xmlns:a16="http://schemas.microsoft.com/office/drawing/2014/main" id="{4D0D47C8-EAC6-4720-A6B0-58062B071F6F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Google Shape;9841;p83">
              <a:extLst>
                <a:ext uri="{FF2B5EF4-FFF2-40B4-BE49-F238E27FC236}">
                  <a16:creationId xmlns:a16="http://schemas.microsoft.com/office/drawing/2014/main" id="{C5E7C139-DE49-4D81-BF84-E4FDCD4AD24E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84416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107504" y="428979"/>
            <a:ext cx="3285262" cy="841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Актуальность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7766380" name="TextBox 387766379"/>
          <p:cNvSpPr txBox="1"/>
          <p:nvPr/>
        </p:nvSpPr>
        <p:spPr bwMode="auto">
          <a:xfrm>
            <a:off x="107504" y="1270779"/>
            <a:ext cx="7128792" cy="351019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Возникает потребность в разработке специализированной динамической библиотеки на C++, ориентированной исключительно на максимальную производительность вычислений клеточных автоматов.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Актуальность темы обусловлена следующими факторами: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ценность. Создание универсального модуля, который разработчики смогут подключать к своим проектам (играм, симуляторам) как «черный ящик», получая высокую скорость работы «из коробки»;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технологическая новизна. Применение современных стандартов C++ 20/23, включая концепты (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concepts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для 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типобезопасности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модули для структуры кода, в сочетании с ручной оптимизацией через SIMD-инструкции;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решение проблемы интеграции. Предоставление готового бинарного артефакта (DLL), что упрощает взаимодействие между компонентами системы, написанными на разных языках или компилируемыми разными компиляторами;</a:t>
            </a:r>
          </a:p>
        </p:txBody>
      </p: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6EEFF390-3C80-460A-BB13-AF7EE7740359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80" name="Google Shape;9830;p83">
              <a:extLst>
                <a:ext uri="{FF2B5EF4-FFF2-40B4-BE49-F238E27FC236}">
                  <a16:creationId xmlns:a16="http://schemas.microsoft.com/office/drawing/2014/main" id="{C83417F4-F7F0-4AAC-83AA-3E2ABDEEEBB7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Google Shape;9841;p83">
              <a:extLst>
                <a:ext uri="{FF2B5EF4-FFF2-40B4-BE49-F238E27FC236}">
                  <a16:creationId xmlns:a16="http://schemas.microsoft.com/office/drawing/2014/main" id="{E02F7B6E-4063-4B5F-8CBE-C72B0B6810E9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Google Shape;9841;p83">
              <a:extLst>
                <a:ext uri="{FF2B5EF4-FFF2-40B4-BE49-F238E27FC236}">
                  <a16:creationId xmlns:a16="http://schemas.microsoft.com/office/drawing/2014/main" id="{F4651E71-30B5-4C7B-92E2-C285915CA71A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Google Shape;9841;p83">
              <a:extLst>
                <a:ext uri="{FF2B5EF4-FFF2-40B4-BE49-F238E27FC236}">
                  <a16:creationId xmlns:a16="http://schemas.microsoft.com/office/drawing/2014/main" id="{7F59A4C8-9CAC-4D3A-8A68-108E783A6795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Google Shape;9841;p83">
              <a:extLst>
                <a:ext uri="{FF2B5EF4-FFF2-40B4-BE49-F238E27FC236}">
                  <a16:creationId xmlns:a16="http://schemas.microsoft.com/office/drawing/2014/main" id="{F4EC25BF-6DFA-4297-9C8C-B7C7669CC6C3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Google Shape;9841;p83">
              <a:extLst>
                <a:ext uri="{FF2B5EF4-FFF2-40B4-BE49-F238E27FC236}">
                  <a16:creationId xmlns:a16="http://schemas.microsoft.com/office/drawing/2014/main" id="{72810C15-CCE6-4246-962D-615D01E2497E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Google Shape;9841;p83">
              <a:extLst>
                <a:ext uri="{FF2B5EF4-FFF2-40B4-BE49-F238E27FC236}">
                  <a16:creationId xmlns:a16="http://schemas.microsoft.com/office/drawing/2014/main" id="{DCA4FA60-BA0D-4B35-809A-47ACABBD6748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Google Shape;9841;p83">
              <a:extLst>
                <a:ext uri="{FF2B5EF4-FFF2-40B4-BE49-F238E27FC236}">
                  <a16:creationId xmlns:a16="http://schemas.microsoft.com/office/drawing/2014/main" id="{A5C3090E-4AA7-40EB-A9AD-27FA427470D3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Google Shape;9841;p83">
              <a:extLst>
                <a:ext uri="{FF2B5EF4-FFF2-40B4-BE49-F238E27FC236}">
                  <a16:creationId xmlns:a16="http://schemas.microsoft.com/office/drawing/2014/main" id="{3B3A3AF6-7224-4DAC-A264-124136D01253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Google Shape;9841;p83">
              <a:extLst>
                <a:ext uri="{FF2B5EF4-FFF2-40B4-BE49-F238E27FC236}">
                  <a16:creationId xmlns:a16="http://schemas.microsoft.com/office/drawing/2014/main" id="{EB7BA7A2-973A-4515-923E-A93B0B428C01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:push dir="u"/>
      </p:transition>
    </mc:Choice>
    <mc:Fallback xmlns:w="http://schemas.openxmlformats.org/wordprocessingml/2006/main" xmlns:m="http://schemas.openxmlformats.org/officeDocument/2006/math" xmlns="">
      <p:transition spd="med" advClick="1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84416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107504" y="428979"/>
            <a:ext cx="3285262" cy="841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latin typeface="Times New Roman" panose="02020603050405020304" pitchFamily="18" charset="0"/>
                <a:ea typeface="Federov2"/>
                <a:cs typeface="Times New Roman" panose="02020603050405020304" pitchFamily="18" charset="0"/>
              </a:rPr>
              <a:t>Цель и задачи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7766380" name="TextBox 387766379"/>
          <p:cNvSpPr txBox="1"/>
          <p:nvPr/>
        </p:nvSpPr>
        <p:spPr bwMode="auto">
          <a:xfrm>
            <a:off x="450648" y="1875874"/>
            <a:ext cx="6223013" cy="20336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проектирование архитектуры и программная реализация высокопроизводительной библиотеки на языке C++ для моделирования клеточных автоматов, обеспечивающей эффективное использование аппаратных ресурсов процессора и удобный интерфейс интеграции.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B7E60A42-4D81-4F42-8F89-1A9F3BE7580A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24" name="Google Shape;9830;p83">
              <a:extLst>
                <a:ext uri="{FF2B5EF4-FFF2-40B4-BE49-F238E27FC236}">
                  <a16:creationId xmlns:a16="http://schemas.microsoft.com/office/drawing/2014/main" id="{DF9D34E1-9C63-485E-A3F1-7D85F12CE9B1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Google Shape;9841;p83">
              <a:extLst>
                <a:ext uri="{FF2B5EF4-FFF2-40B4-BE49-F238E27FC236}">
                  <a16:creationId xmlns:a16="http://schemas.microsoft.com/office/drawing/2014/main" id="{14A73F59-A2AE-40D2-A5A2-42393A990F10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Google Shape;9841;p83">
              <a:extLst>
                <a:ext uri="{FF2B5EF4-FFF2-40B4-BE49-F238E27FC236}">
                  <a16:creationId xmlns:a16="http://schemas.microsoft.com/office/drawing/2014/main" id="{39E402CE-4F82-43AB-99B6-A6DC165609E1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9841;p83">
              <a:extLst>
                <a:ext uri="{FF2B5EF4-FFF2-40B4-BE49-F238E27FC236}">
                  <a16:creationId xmlns:a16="http://schemas.microsoft.com/office/drawing/2014/main" id="{D4E96B38-49A9-4AA6-AAF8-22F9891888C3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Google Shape;9841;p83">
              <a:extLst>
                <a:ext uri="{FF2B5EF4-FFF2-40B4-BE49-F238E27FC236}">
                  <a16:creationId xmlns:a16="http://schemas.microsoft.com/office/drawing/2014/main" id="{A7181382-08D6-4669-A817-BB73C79AEB1D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Google Shape;9841;p83">
              <a:extLst>
                <a:ext uri="{FF2B5EF4-FFF2-40B4-BE49-F238E27FC236}">
                  <a16:creationId xmlns:a16="http://schemas.microsoft.com/office/drawing/2014/main" id="{DFB00DC4-7ABB-4A3E-BB99-33B5DF17619E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Google Shape;9841;p83">
              <a:extLst>
                <a:ext uri="{FF2B5EF4-FFF2-40B4-BE49-F238E27FC236}">
                  <a16:creationId xmlns:a16="http://schemas.microsoft.com/office/drawing/2014/main" id="{2F2383B8-2FF5-4D78-B5AC-777F7464009F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Google Shape;9841;p83">
              <a:extLst>
                <a:ext uri="{FF2B5EF4-FFF2-40B4-BE49-F238E27FC236}">
                  <a16:creationId xmlns:a16="http://schemas.microsoft.com/office/drawing/2014/main" id="{CAEE4FAB-0D32-4701-81E1-8808708BAC5B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Google Shape;9841;p83">
              <a:extLst>
                <a:ext uri="{FF2B5EF4-FFF2-40B4-BE49-F238E27FC236}">
                  <a16:creationId xmlns:a16="http://schemas.microsoft.com/office/drawing/2014/main" id="{884AAAF6-6DD6-446C-95E7-117161853442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Google Shape;9841;p83">
              <a:extLst>
                <a:ext uri="{FF2B5EF4-FFF2-40B4-BE49-F238E27FC236}">
                  <a16:creationId xmlns:a16="http://schemas.microsoft.com/office/drawing/2014/main" id="{95268EAA-3FFF-4117-B5EA-B91A855234FA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3464173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956684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82059" y="430010"/>
            <a:ext cx="5774069" cy="841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Выбор средств разработки</a:t>
            </a:r>
            <a:endParaRPr sz="3600" b="1" dirty="0">
              <a:latin typeface="Times New Roman" panose="02020603050405020304" pitchFamily="18" charset="0"/>
              <a:ea typeface="AMDRTG"/>
              <a:cs typeface="Times New Roman" panose="02020603050405020304" pitchFamily="18" charset="0"/>
            </a:endParaRPr>
          </a:p>
        </p:txBody>
      </p:sp>
      <p:sp>
        <p:nvSpPr>
          <p:cNvPr id="1588833458" name="TextBox 1588833457"/>
          <p:cNvSpPr txBox="1"/>
          <p:nvPr/>
        </p:nvSpPr>
        <p:spPr bwMode="auto">
          <a:xfrm>
            <a:off x="153263" y="1271808"/>
            <a:ext cx="5774069" cy="22490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Язык программирования</a:t>
            </a:r>
            <a:r>
              <a:rPr lang="en-US" sz="2000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: C++ 23;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Интегрированная среда разработки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Studio 2026;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MSVC 14.51.36231,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набор инструментов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v145;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9353D405-9010-43B8-AEE7-64CDA2B0E6B9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81" name="Google Shape;9830;p83">
              <a:extLst>
                <a:ext uri="{FF2B5EF4-FFF2-40B4-BE49-F238E27FC236}">
                  <a16:creationId xmlns:a16="http://schemas.microsoft.com/office/drawing/2014/main" id="{5CB09E3A-0FFA-4285-94CE-43961C37F09B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Google Shape;9841;p83">
              <a:extLst>
                <a:ext uri="{FF2B5EF4-FFF2-40B4-BE49-F238E27FC236}">
                  <a16:creationId xmlns:a16="http://schemas.microsoft.com/office/drawing/2014/main" id="{C79D9156-6E4C-45A6-B83F-001C2D141056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Google Shape;9841;p83">
              <a:extLst>
                <a:ext uri="{FF2B5EF4-FFF2-40B4-BE49-F238E27FC236}">
                  <a16:creationId xmlns:a16="http://schemas.microsoft.com/office/drawing/2014/main" id="{26608158-AF00-472B-B5EC-90E5511E54ED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Google Shape;9841;p83">
              <a:extLst>
                <a:ext uri="{FF2B5EF4-FFF2-40B4-BE49-F238E27FC236}">
                  <a16:creationId xmlns:a16="http://schemas.microsoft.com/office/drawing/2014/main" id="{465650A7-0F27-4563-9F55-30358870850C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Google Shape;9841;p83">
              <a:extLst>
                <a:ext uri="{FF2B5EF4-FFF2-40B4-BE49-F238E27FC236}">
                  <a16:creationId xmlns:a16="http://schemas.microsoft.com/office/drawing/2014/main" id="{938E18AC-7723-408E-8710-CEBF545898D5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Google Shape;9841;p83">
              <a:extLst>
                <a:ext uri="{FF2B5EF4-FFF2-40B4-BE49-F238E27FC236}">
                  <a16:creationId xmlns:a16="http://schemas.microsoft.com/office/drawing/2014/main" id="{9CA3F124-6259-4727-BEB1-6C3E063D8CFD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Google Shape;9841;p83">
              <a:extLst>
                <a:ext uri="{FF2B5EF4-FFF2-40B4-BE49-F238E27FC236}">
                  <a16:creationId xmlns:a16="http://schemas.microsoft.com/office/drawing/2014/main" id="{4E8DD3E2-F1FF-4F9A-A780-0BDAAA41C0DA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Google Shape;9841;p83">
              <a:extLst>
                <a:ext uri="{FF2B5EF4-FFF2-40B4-BE49-F238E27FC236}">
                  <a16:creationId xmlns:a16="http://schemas.microsoft.com/office/drawing/2014/main" id="{17F18EA8-7609-45F5-9C8F-65490D72AE8E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Google Shape;9841;p83">
              <a:extLst>
                <a:ext uri="{FF2B5EF4-FFF2-40B4-BE49-F238E27FC236}">
                  <a16:creationId xmlns:a16="http://schemas.microsoft.com/office/drawing/2014/main" id="{3AEFA975-A17F-4D6D-8204-29A39CB3F747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Google Shape;9841;p83">
              <a:extLst>
                <a:ext uri="{FF2B5EF4-FFF2-40B4-BE49-F238E27FC236}">
                  <a16:creationId xmlns:a16="http://schemas.microsoft.com/office/drawing/2014/main" id="{FFE24C00-6E3E-4FE3-A054-0307418E8DF4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2BB6DC-D362-4554-A40A-A9A98771F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572926"/>
            <a:ext cx="1515852" cy="17076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2841FA-320A-46A1-B9EF-2F2800854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2571750"/>
            <a:ext cx="2173645" cy="1995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:push dir="u"/>
      </p:transition>
    </mc:Choice>
    <mc:Fallback xmlns:w="http://schemas.openxmlformats.org/wordprocessingml/2006/main" xmlns:m="http://schemas.openxmlformats.org/officeDocument/2006/math" xmlns="">
      <p:transition spd="med" advClick="1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956684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82059" y="430010"/>
            <a:ext cx="5774069" cy="841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Архитектура библиотеки</a:t>
            </a:r>
            <a:endParaRPr sz="3600" b="1" dirty="0">
              <a:latin typeface="Times New Roman" panose="02020603050405020304" pitchFamily="18" charset="0"/>
              <a:ea typeface="AMDRTG"/>
              <a:cs typeface="Times New Roman" panose="02020603050405020304" pitchFamily="18" charset="0"/>
            </a:endParaRPr>
          </a:p>
        </p:txBody>
      </p:sp>
      <p:sp>
        <p:nvSpPr>
          <p:cNvPr id="1588833458" name="TextBox 1588833457"/>
          <p:cNvSpPr txBox="1"/>
          <p:nvPr/>
        </p:nvSpPr>
        <p:spPr bwMode="auto">
          <a:xfrm>
            <a:off x="153265" y="1271808"/>
            <a:ext cx="4839174" cy="38722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Text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0F14C775-0F24-476B-87C7-1F499D99FF85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24" name="Google Shape;9830;p83">
              <a:extLst>
                <a:ext uri="{FF2B5EF4-FFF2-40B4-BE49-F238E27FC236}">
                  <a16:creationId xmlns:a16="http://schemas.microsoft.com/office/drawing/2014/main" id="{94297A68-E66C-4538-B14B-6C830362FE5F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Google Shape;9841;p83">
              <a:extLst>
                <a:ext uri="{FF2B5EF4-FFF2-40B4-BE49-F238E27FC236}">
                  <a16:creationId xmlns:a16="http://schemas.microsoft.com/office/drawing/2014/main" id="{EF48CD2E-1E98-474E-8A4A-952FE532ED2B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Google Shape;9841;p83">
              <a:extLst>
                <a:ext uri="{FF2B5EF4-FFF2-40B4-BE49-F238E27FC236}">
                  <a16:creationId xmlns:a16="http://schemas.microsoft.com/office/drawing/2014/main" id="{1A0F9BC3-79A6-463F-8F53-13BF83C6BA41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9841;p83">
              <a:extLst>
                <a:ext uri="{FF2B5EF4-FFF2-40B4-BE49-F238E27FC236}">
                  <a16:creationId xmlns:a16="http://schemas.microsoft.com/office/drawing/2014/main" id="{29226A3D-3190-43A5-9B2B-ED41FEE8468A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Google Shape;9841;p83">
              <a:extLst>
                <a:ext uri="{FF2B5EF4-FFF2-40B4-BE49-F238E27FC236}">
                  <a16:creationId xmlns:a16="http://schemas.microsoft.com/office/drawing/2014/main" id="{7D3FCB48-84E8-4692-B6C4-FC1F70A47A2A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Google Shape;9841;p83">
              <a:extLst>
                <a:ext uri="{FF2B5EF4-FFF2-40B4-BE49-F238E27FC236}">
                  <a16:creationId xmlns:a16="http://schemas.microsoft.com/office/drawing/2014/main" id="{533F8149-7814-469F-903F-694358BDFFF2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Google Shape;9841;p83">
              <a:extLst>
                <a:ext uri="{FF2B5EF4-FFF2-40B4-BE49-F238E27FC236}">
                  <a16:creationId xmlns:a16="http://schemas.microsoft.com/office/drawing/2014/main" id="{306F7B52-85D7-4D35-A94D-6C4271306C75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Google Shape;9841;p83">
              <a:extLst>
                <a:ext uri="{FF2B5EF4-FFF2-40B4-BE49-F238E27FC236}">
                  <a16:creationId xmlns:a16="http://schemas.microsoft.com/office/drawing/2014/main" id="{AE6609E9-892F-4B5B-9865-5898BBE5C05B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Google Shape;9841;p83">
              <a:extLst>
                <a:ext uri="{FF2B5EF4-FFF2-40B4-BE49-F238E27FC236}">
                  <a16:creationId xmlns:a16="http://schemas.microsoft.com/office/drawing/2014/main" id="{98FEEA01-ACB3-4921-A3A5-A688D0D5AEB6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Google Shape;9841;p83">
              <a:extLst>
                <a:ext uri="{FF2B5EF4-FFF2-40B4-BE49-F238E27FC236}">
                  <a16:creationId xmlns:a16="http://schemas.microsoft.com/office/drawing/2014/main" id="{E95E52F2-3A71-4601-B01B-7CCC6FD2A341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298C9FD-09BB-4CAC-8992-5583C6B731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51017" y="1208984"/>
            <a:ext cx="3835300" cy="367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73050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956684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82059" y="430010"/>
            <a:ext cx="5774069" cy="841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Декомпозиция задачи</a:t>
            </a:r>
            <a:endParaRPr sz="3600" b="1" dirty="0">
              <a:latin typeface="Times New Roman" panose="02020603050405020304" pitchFamily="18" charset="0"/>
              <a:ea typeface="AMDRTG"/>
              <a:cs typeface="Times New Roman" panose="02020603050405020304" pitchFamily="18" charset="0"/>
            </a:endParaRPr>
          </a:p>
        </p:txBody>
      </p:sp>
      <p:sp>
        <p:nvSpPr>
          <p:cNvPr id="1588833458" name="TextBox 1588833457"/>
          <p:cNvSpPr txBox="1"/>
          <p:nvPr/>
        </p:nvSpPr>
        <p:spPr bwMode="auto">
          <a:xfrm>
            <a:off x="153264" y="1271809"/>
            <a:ext cx="5629086" cy="26914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одной итерации клеточного автомата можно разбить на две отдельные операции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lnSpc>
                <a:spcPct val="150000"/>
              </a:lnSpc>
              <a:buAutoNum type="arabicParenR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суммы соседей для клетки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>
              <a:lnSpc>
                <a:spcPct val="150000"/>
              </a:lnSpc>
              <a:buAutoNum type="arabicParenR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правила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соответствующей клетке согласно количеству соседей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9BE2BB9-0D0C-45FD-951A-4311783AA021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24" name="Google Shape;9830;p83">
              <a:extLst>
                <a:ext uri="{FF2B5EF4-FFF2-40B4-BE49-F238E27FC236}">
                  <a16:creationId xmlns:a16="http://schemas.microsoft.com/office/drawing/2014/main" id="{E9536291-4272-49B9-B892-6E3BB3BEF4A6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Google Shape;9841;p83">
              <a:extLst>
                <a:ext uri="{FF2B5EF4-FFF2-40B4-BE49-F238E27FC236}">
                  <a16:creationId xmlns:a16="http://schemas.microsoft.com/office/drawing/2014/main" id="{753F8346-0445-4529-AC1A-1CB2266CE80E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Google Shape;9841;p83">
              <a:extLst>
                <a:ext uri="{FF2B5EF4-FFF2-40B4-BE49-F238E27FC236}">
                  <a16:creationId xmlns:a16="http://schemas.microsoft.com/office/drawing/2014/main" id="{CC1F9B59-7420-443A-A570-220BD3472BDA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9841;p83">
              <a:extLst>
                <a:ext uri="{FF2B5EF4-FFF2-40B4-BE49-F238E27FC236}">
                  <a16:creationId xmlns:a16="http://schemas.microsoft.com/office/drawing/2014/main" id="{99CD349B-5CFE-4759-8846-C858DD5344AB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Google Shape;9841;p83">
              <a:extLst>
                <a:ext uri="{FF2B5EF4-FFF2-40B4-BE49-F238E27FC236}">
                  <a16:creationId xmlns:a16="http://schemas.microsoft.com/office/drawing/2014/main" id="{97F8FD77-4E54-46D0-A146-B9563414C010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Google Shape;9841;p83">
              <a:extLst>
                <a:ext uri="{FF2B5EF4-FFF2-40B4-BE49-F238E27FC236}">
                  <a16:creationId xmlns:a16="http://schemas.microsoft.com/office/drawing/2014/main" id="{311125A0-8826-482F-A106-920159218E83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Google Shape;9841;p83">
              <a:extLst>
                <a:ext uri="{FF2B5EF4-FFF2-40B4-BE49-F238E27FC236}">
                  <a16:creationId xmlns:a16="http://schemas.microsoft.com/office/drawing/2014/main" id="{86107225-0C71-4188-9B80-22381F50E41B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Google Shape;9841;p83">
              <a:extLst>
                <a:ext uri="{FF2B5EF4-FFF2-40B4-BE49-F238E27FC236}">
                  <a16:creationId xmlns:a16="http://schemas.microsoft.com/office/drawing/2014/main" id="{F732CD6D-90BD-40C0-A019-BA0FAE34FF99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Google Shape;9841;p83">
              <a:extLst>
                <a:ext uri="{FF2B5EF4-FFF2-40B4-BE49-F238E27FC236}">
                  <a16:creationId xmlns:a16="http://schemas.microsoft.com/office/drawing/2014/main" id="{510A7DBF-2862-4995-ACAD-BE273F51D946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Google Shape;9841;p83">
              <a:extLst>
                <a:ext uri="{FF2B5EF4-FFF2-40B4-BE49-F238E27FC236}">
                  <a16:creationId xmlns:a16="http://schemas.microsoft.com/office/drawing/2014/main" id="{0EAFBB1B-3944-46C6-9BA0-6F7847B02EF1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1146696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549038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107504" y="426524"/>
            <a:ext cx="3078122" cy="841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36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SISD </a:t>
            </a:r>
            <a:r>
              <a:rPr lang="ru-RU" sz="36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и</a:t>
            </a:r>
            <a:r>
              <a:rPr lang="en" sz="36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 SIMD</a:t>
            </a:r>
            <a:endParaRPr sz="3600" b="1" dirty="0">
              <a:latin typeface="Times New Roman" panose="02020603050405020304" pitchFamily="18" charset="0"/>
              <a:ea typeface="AMDRTG"/>
              <a:cs typeface="Times New Roman" panose="02020603050405020304" pitchFamily="18" charset="0"/>
            </a:endParaRPr>
          </a:p>
        </p:txBody>
      </p:sp>
      <p:sp>
        <p:nvSpPr>
          <p:cNvPr id="749599721" name="TextBox 749599720"/>
          <p:cNvSpPr txBox="1"/>
          <p:nvPr/>
        </p:nvSpPr>
        <p:spPr bwMode="auto">
          <a:xfrm>
            <a:off x="188536" y="1779662"/>
            <a:ext cx="6027017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Text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122B916E-A766-466D-813C-C74F02E84948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54" name="Google Shape;9830;p83">
              <a:extLst>
                <a:ext uri="{FF2B5EF4-FFF2-40B4-BE49-F238E27FC236}">
                  <a16:creationId xmlns:a16="http://schemas.microsoft.com/office/drawing/2014/main" id="{C1C4FF65-4959-46E7-B23A-3EE3D86FD573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Google Shape;9841;p83">
              <a:extLst>
                <a:ext uri="{FF2B5EF4-FFF2-40B4-BE49-F238E27FC236}">
                  <a16:creationId xmlns:a16="http://schemas.microsoft.com/office/drawing/2014/main" id="{4C28DD65-3FC7-4D48-8010-D808C7508E61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Google Shape;9841;p83">
              <a:extLst>
                <a:ext uri="{FF2B5EF4-FFF2-40B4-BE49-F238E27FC236}">
                  <a16:creationId xmlns:a16="http://schemas.microsoft.com/office/drawing/2014/main" id="{8835B26E-1F39-4442-B317-327764C5904B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Google Shape;9841;p83">
              <a:extLst>
                <a:ext uri="{FF2B5EF4-FFF2-40B4-BE49-F238E27FC236}">
                  <a16:creationId xmlns:a16="http://schemas.microsoft.com/office/drawing/2014/main" id="{4D713A52-AB5F-4046-BC43-D8EA05F36D47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Google Shape;9841;p83">
              <a:extLst>
                <a:ext uri="{FF2B5EF4-FFF2-40B4-BE49-F238E27FC236}">
                  <a16:creationId xmlns:a16="http://schemas.microsoft.com/office/drawing/2014/main" id="{B4EE31B2-14A6-4268-973A-A7A8E637E1E2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Google Shape;9841;p83">
              <a:extLst>
                <a:ext uri="{FF2B5EF4-FFF2-40B4-BE49-F238E27FC236}">
                  <a16:creationId xmlns:a16="http://schemas.microsoft.com/office/drawing/2014/main" id="{D01613E0-191F-44DA-A731-229011950A71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Google Shape;9841;p83">
              <a:extLst>
                <a:ext uri="{FF2B5EF4-FFF2-40B4-BE49-F238E27FC236}">
                  <a16:creationId xmlns:a16="http://schemas.microsoft.com/office/drawing/2014/main" id="{2B32236F-758C-4D86-9408-61498F9531DC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Google Shape;9841;p83">
              <a:extLst>
                <a:ext uri="{FF2B5EF4-FFF2-40B4-BE49-F238E27FC236}">
                  <a16:creationId xmlns:a16="http://schemas.microsoft.com/office/drawing/2014/main" id="{5BAD0353-C482-4D91-B57C-8F497ADB0CBE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Google Shape;9841;p83">
              <a:extLst>
                <a:ext uri="{FF2B5EF4-FFF2-40B4-BE49-F238E27FC236}">
                  <a16:creationId xmlns:a16="http://schemas.microsoft.com/office/drawing/2014/main" id="{F3D8E77A-331C-4A59-A81D-1A9BB26FC726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Google Shape;9841;p83">
              <a:extLst>
                <a:ext uri="{FF2B5EF4-FFF2-40B4-BE49-F238E27FC236}">
                  <a16:creationId xmlns:a16="http://schemas.microsoft.com/office/drawing/2014/main" id="{0BD72E3B-3C3E-47B6-9125-C36C6AB48D17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:push dir="u"/>
      </p:transition>
    </mc:Choice>
    <mc:Fallback xmlns:w="http://schemas.openxmlformats.org/wordprocessingml/2006/main" xmlns:m="http://schemas.openxmlformats.org/officeDocument/2006/math" xmlns="">
      <p:transition spd="med" advClick="1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549038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73296" y="432749"/>
            <a:ext cx="6586936" cy="798048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Производительность разработанных алгоритмов поиска сумм соседей</a:t>
            </a:r>
            <a:endParaRPr sz="2800" b="1" dirty="0">
              <a:latin typeface="Times New Roman" panose="02020603050405020304" pitchFamily="18" charset="0"/>
              <a:ea typeface="AMDRTG"/>
              <a:cs typeface="Times New Roman" panose="02020603050405020304" pitchFamily="18" charset="0"/>
            </a:endParaRPr>
          </a:p>
        </p:txBody>
      </p:sp>
      <p:sp>
        <p:nvSpPr>
          <p:cNvPr id="749599721" name="TextBox 749599720"/>
          <p:cNvSpPr txBox="1"/>
          <p:nvPr/>
        </p:nvSpPr>
        <p:spPr bwMode="auto">
          <a:xfrm>
            <a:off x="188536" y="1779662"/>
            <a:ext cx="6027017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Text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177FFD5A-A828-47CC-9C83-D401CA2C5135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54" name="Google Shape;9830;p83">
              <a:extLst>
                <a:ext uri="{FF2B5EF4-FFF2-40B4-BE49-F238E27FC236}">
                  <a16:creationId xmlns:a16="http://schemas.microsoft.com/office/drawing/2014/main" id="{DB7A7098-0CA4-4C62-8A20-160ABADB4571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Google Shape;9841;p83">
              <a:extLst>
                <a:ext uri="{FF2B5EF4-FFF2-40B4-BE49-F238E27FC236}">
                  <a16:creationId xmlns:a16="http://schemas.microsoft.com/office/drawing/2014/main" id="{C66D2687-F860-49D2-8380-F5C86AFF7C6B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Google Shape;9841;p83">
              <a:extLst>
                <a:ext uri="{FF2B5EF4-FFF2-40B4-BE49-F238E27FC236}">
                  <a16:creationId xmlns:a16="http://schemas.microsoft.com/office/drawing/2014/main" id="{91293E59-E4CE-4C39-9C73-4C42BDB37B08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Google Shape;9841;p83">
              <a:extLst>
                <a:ext uri="{FF2B5EF4-FFF2-40B4-BE49-F238E27FC236}">
                  <a16:creationId xmlns:a16="http://schemas.microsoft.com/office/drawing/2014/main" id="{A055EFF2-DC13-4B59-A776-A064B103B4BD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Google Shape;9841;p83">
              <a:extLst>
                <a:ext uri="{FF2B5EF4-FFF2-40B4-BE49-F238E27FC236}">
                  <a16:creationId xmlns:a16="http://schemas.microsoft.com/office/drawing/2014/main" id="{991AA6F0-6A1F-4F1C-AC2A-D80FAA51AFE3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Google Shape;9841;p83">
              <a:extLst>
                <a:ext uri="{FF2B5EF4-FFF2-40B4-BE49-F238E27FC236}">
                  <a16:creationId xmlns:a16="http://schemas.microsoft.com/office/drawing/2014/main" id="{345E5AE9-DD90-4880-95AF-F392DF51FA3E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Google Shape;9841;p83">
              <a:extLst>
                <a:ext uri="{FF2B5EF4-FFF2-40B4-BE49-F238E27FC236}">
                  <a16:creationId xmlns:a16="http://schemas.microsoft.com/office/drawing/2014/main" id="{E0E062D7-4CF1-47CC-BCA7-010FF0FEB96C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Google Shape;9841;p83">
              <a:extLst>
                <a:ext uri="{FF2B5EF4-FFF2-40B4-BE49-F238E27FC236}">
                  <a16:creationId xmlns:a16="http://schemas.microsoft.com/office/drawing/2014/main" id="{CBFC1F89-620E-41B0-B9FC-B1F8AD4C2C91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Google Shape;9841;p83">
              <a:extLst>
                <a:ext uri="{FF2B5EF4-FFF2-40B4-BE49-F238E27FC236}">
                  <a16:creationId xmlns:a16="http://schemas.microsoft.com/office/drawing/2014/main" id="{6E043724-4E21-4229-B58F-A1B5ADA42E12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Google Shape;9841;p83">
              <a:extLst>
                <a:ext uri="{FF2B5EF4-FFF2-40B4-BE49-F238E27FC236}">
                  <a16:creationId xmlns:a16="http://schemas.microsoft.com/office/drawing/2014/main" id="{9B1D0FE3-8A0E-47B2-AF24-774DDCC391D5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2782248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549038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73296" y="432749"/>
            <a:ext cx="6658944" cy="798048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Производительность разработанных алгоритмов применения правил</a:t>
            </a:r>
            <a:r>
              <a:rPr lang="en-US" sz="28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 B</a:t>
            </a:r>
            <a:r>
              <a:rPr lang="ru-RU" sz="28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 и </a:t>
            </a:r>
            <a:r>
              <a:rPr lang="en-US" sz="28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S</a:t>
            </a:r>
            <a:endParaRPr sz="2800" b="1" dirty="0">
              <a:latin typeface="Times New Roman" panose="02020603050405020304" pitchFamily="18" charset="0"/>
              <a:ea typeface="AMDRTG"/>
              <a:cs typeface="Times New Roman" panose="02020603050405020304" pitchFamily="18" charset="0"/>
            </a:endParaRPr>
          </a:p>
        </p:txBody>
      </p:sp>
      <p:sp>
        <p:nvSpPr>
          <p:cNvPr id="749599721" name="TextBox 749599720"/>
          <p:cNvSpPr txBox="1"/>
          <p:nvPr/>
        </p:nvSpPr>
        <p:spPr bwMode="auto">
          <a:xfrm>
            <a:off x="188536" y="1779662"/>
            <a:ext cx="6027017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Text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E609C39E-6445-44CC-880F-589F359FAD39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24" name="Google Shape;9830;p83">
              <a:extLst>
                <a:ext uri="{FF2B5EF4-FFF2-40B4-BE49-F238E27FC236}">
                  <a16:creationId xmlns:a16="http://schemas.microsoft.com/office/drawing/2014/main" id="{FEC25EF4-2EC1-4D80-93D7-2EB0017C8D56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Google Shape;9841;p83">
              <a:extLst>
                <a:ext uri="{FF2B5EF4-FFF2-40B4-BE49-F238E27FC236}">
                  <a16:creationId xmlns:a16="http://schemas.microsoft.com/office/drawing/2014/main" id="{CAEB3E90-142E-49A7-966B-C0EA330BFE92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Google Shape;9841;p83">
              <a:extLst>
                <a:ext uri="{FF2B5EF4-FFF2-40B4-BE49-F238E27FC236}">
                  <a16:creationId xmlns:a16="http://schemas.microsoft.com/office/drawing/2014/main" id="{456439DD-C1DE-4BAE-A025-96B2475C6776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9841;p83">
              <a:extLst>
                <a:ext uri="{FF2B5EF4-FFF2-40B4-BE49-F238E27FC236}">
                  <a16:creationId xmlns:a16="http://schemas.microsoft.com/office/drawing/2014/main" id="{DF9D5C74-57B2-4B91-AB55-FAA9D2E0C95E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Google Shape;9841;p83">
              <a:extLst>
                <a:ext uri="{FF2B5EF4-FFF2-40B4-BE49-F238E27FC236}">
                  <a16:creationId xmlns:a16="http://schemas.microsoft.com/office/drawing/2014/main" id="{856CF0A8-D8C9-4FC0-85F8-1183A767EE43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Google Shape;9841;p83">
              <a:extLst>
                <a:ext uri="{FF2B5EF4-FFF2-40B4-BE49-F238E27FC236}">
                  <a16:creationId xmlns:a16="http://schemas.microsoft.com/office/drawing/2014/main" id="{C49A4DAB-385A-4BDA-8547-94E3087208E8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Google Shape;9841;p83">
              <a:extLst>
                <a:ext uri="{FF2B5EF4-FFF2-40B4-BE49-F238E27FC236}">
                  <a16:creationId xmlns:a16="http://schemas.microsoft.com/office/drawing/2014/main" id="{A018B3DF-0F7F-4FBF-915A-1D22FCDCE2E7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Google Shape;9841;p83">
              <a:extLst>
                <a:ext uri="{FF2B5EF4-FFF2-40B4-BE49-F238E27FC236}">
                  <a16:creationId xmlns:a16="http://schemas.microsoft.com/office/drawing/2014/main" id="{37550588-7487-4490-B352-65D5D168871F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Google Shape;9841;p83">
              <a:extLst>
                <a:ext uri="{FF2B5EF4-FFF2-40B4-BE49-F238E27FC236}">
                  <a16:creationId xmlns:a16="http://schemas.microsoft.com/office/drawing/2014/main" id="{E90EA42B-0506-427E-B1EA-E31867AB425A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Google Shape;9841;p83">
              <a:extLst>
                <a:ext uri="{FF2B5EF4-FFF2-40B4-BE49-F238E27FC236}">
                  <a16:creationId xmlns:a16="http://schemas.microsoft.com/office/drawing/2014/main" id="{4E2C3CA5-4C09-4B3D-8CAD-B64D1ACDEC5A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513561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549038" name="Google Shape;794;p40"/>
          <p:cNvSpPr txBox="1">
            <a:spLocks noGrp="1"/>
          </p:cNvSpPr>
          <p:nvPr>
            <p:ph type="title"/>
          </p:nvPr>
        </p:nvSpPr>
        <p:spPr bwMode="auto">
          <a:xfrm>
            <a:off x="73296" y="432748"/>
            <a:ext cx="6065121" cy="986873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600" b="1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Производительность общих алгоритмов</a:t>
            </a:r>
            <a:endParaRPr sz="3600" b="1" dirty="0">
              <a:latin typeface="Times New Roman" panose="02020603050405020304" pitchFamily="18" charset="0"/>
              <a:ea typeface="AMDRTG"/>
              <a:cs typeface="Times New Roman" panose="02020603050405020304" pitchFamily="18" charset="0"/>
            </a:endParaRPr>
          </a:p>
        </p:txBody>
      </p:sp>
      <p:sp>
        <p:nvSpPr>
          <p:cNvPr id="749599721" name="TextBox 749599720"/>
          <p:cNvSpPr txBox="1"/>
          <p:nvPr/>
        </p:nvSpPr>
        <p:spPr bwMode="auto">
          <a:xfrm>
            <a:off x="188536" y="1779662"/>
            <a:ext cx="6027017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dirty="0">
                <a:latin typeface="Times New Roman" panose="02020603050405020304" pitchFamily="18" charset="0"/>
                <a:ea typeface="AMDRTG"/>
                <a:cs typeface="Times New Roman" panose="02020603050405020304" pitchFamily="18" charset="0"/>
              </a:rPr>
              <a:t>Text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F704C3FF-E35F-4BE8-B1A8-198FDA742ED2}"/>
              </a:ext>
            </a:extLst>
          </p:cNvPr>
          <p:cNvGrpSpPr/>
          <p:nvPr/>
        </p:nvGrpSpPr>
        <p:grpSpPr>
          <a:xfrm>
            <a:off x="179512" y="4802298"/>
            <a:ext cx="769390" cy="159183"/>
            <a:chOff x="179512" y="4802298"/>
            <a:chExt cx="769390" cy="159183"/>
          </a:xfrm>
        </p:grpSpPr>
        <p:sp>
          <p:nvSpPr>
            <p:cNvPr id="24" name="Google Shape;9830;p83">
              <a:extLst>
                <a:ext uri="{FF2B5EF4-FFF2-40B4-BE49-F238E27FC236}">
                  <a16:creationId xmlns:a16="http://schemas.microsoft.com/office/drawing/2014/main" id="{DC67F308-47DA-4FAF-86C5-39C4220EE5A7}"/>
                </a:ext>
              </a:extLst>
            </p:cNvPr>
            <p:cNvSpPr/>
            <p:nvPr/>
          </p:nvSpPr>
          <p:spPr bwMode="auto">
            <a:xfrm>
              <a:off x="179512" y="4802357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Google Shape;9841;p83">
              <a:extLst>
                <a:ext uri="{FF2B5EF4-FFF2-40B4-BE49-F238E27FC236}">
                  <a16:creationId xmlns:a16="http://schemas.microsoft.com/office/drawing/2014/main" id="{3570189D-C660-40BF-A17C-ECF36C9F594D}"/>
                </a:ext>
              </a:extLst>
            </p:cNvPr>
            <p:cNvSpPr/>
            <p:nvPr/>
          </p:nvSpPr>
          <p:spPr bwMode="auto">
            <a:xfrm>
              <a:off x="25768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Google Shape;9841;p83">
              <a:extLst>
                <a:ext uri="{FF2B5EF4-FFF2-40B4-BE49-F238E27FC236}">
                  <a16:creationId xmlns:a16="http://schemas.microsoft.com/office/drawing/2014/main" id="{F70EA5FD-0BC6-4BFA-BE44-CB2FF97C9D3C}"/>
                </a:ext>
              </a:extLst>
            </p:cNvPr>
            <p:cNvSpPr/>
            <p:nvPr/>
          </p:nvSpPr>
          <p:spPr bwMode="auto">
            <a:xfrm>
              <a:off x="33590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9841;p83">
              <a:extLst>
                <a:ext uri="{FF2B5EF4-FFF2-40B4-BE49-F238E27FC236}">
                  <a16:creationId xmlns:a16="http://schemas.microsoft.com/office/drawing/2014/main" id="{77D15518-14D0-432F-8D58-CE1F923B20D4}"/>
                </a:ext>
              </a:extLst>
            </p:cNvPr>
            <p:cNvSpPr/>
            <p:nvPr/>
          </p:nvSpPr>
          <p:spPr bwMode="auto">
            <a:xfrm>
              <a:off x="416010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Google Shape;9841;p83">
              <a:extLst>
                <a:ext uri="{FF2B5EF4-FFF2-40B4-BE49-F238E27FC236}">
                  <a16:creationId xmlns:a16="http://schemas.microsoft.com/office/drawing/2014/main" id="{2EA4F44D-DE96-429A-BBDD-093F4D2B33EA}"/>
                </a:ext>
              </a:extLst>
            </p:cNvPr>
            <p:cNvSpPr/>
            <p:nvPr/>
          </p:nvSpPr>
          <p:spPr bwMode="auto">
            <a:xfrm>
              <a:off x="495555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Google Shape;9841;p83">
              <a:extLst>
                <a:ext uri="{FF2B5EF4-FFF2-40B4-BE49-F238E27FC236}">
                  <a16:creationId xmlns:a16="http://schemas.microsoft.com/office/drawing/2014/main" id="{089BAE9A-6594-49C7-AEF8-4169C7529AC7}"/>
                </a:ext>
              </a:extLst>
            </p:cNvPr>
            <p:cNvSpPr/>
            <p:nvPr/>
          </p:nvSpPr>
          <p:spPr bwMode="auto">
            <a:xfrm>
              <a:off x="573779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Google Shape;9841;p83">
              <a:extLst>
                <a:ext uri="{FF2B5EF4-FFF2-40B4-BE49-F238E27FC236}">
                  <a16:creationId xmlns:a16="http://schemas.microsoft.com/office/drawing/2014/main" id="{FD34CE3B-0049-488F-A8C7-8DA466C85362}"/>
                </a:ext>
              </a:extLst>
            </p:cNvPr>
            <p:cNvSpPr/>
            <p:nvPr/>
          </p:nvSpPr>
          <p:spPr bwMode="auto">
            <a:xfrm>
              <a:off x="65200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Google Shape;9841;p83">
              <a:extLst>
                <a:ext uri="{FF2B5EF4-FFF2-40B4-BE49-F238E27FC236}">
                  <a16:creationId xmlns:a16="http://schemas.microsoft.com/office/drawing/2014/main" id="{1FA23D01-D9C2-4DC5-82B5-2021ED7ABCDA}"/>
                </a:ext>
              </a:extLst>
            </p:cNvPr>
            <p:cNvSpPr/>
            <p:nvPr/>
          </p:nvSpPr>
          <p:spPr bwMode="auto">
            <a:xfrm>
              <a:off x="730227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Google Shape;9841;p83">
              <a:extLst>
                <a:ext uri="{FF2B5EF4-FFF2-40B4-BE49-F238E27FC236}">
                  <a16:creationId xmlns:a16="http://schemas.microsoft.com/office/drawing/2014/main" id="{88450FA8-DEE9-4DCD-83F8-BD3711825FFD}"/>
                </a:ext>
              </a:extLst>
            </p:cNvPr>
            <p:cNvSpPr/>
            <p:nvPr/>
          </p:nvSpPr>
          <p:spPr bwMode="auto">
            <a:xfrm>
              <a:off x="808451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Google Shape;9841;p83">
              <a:extLst>
                <a:ext uri="{FF2B5EF4-FFF2-40B4-BE49-F238E27FC236}">
                  <a16:creationId xmlns:a16="http://schemas.microsoft.com/office/drawing/2014/main" id="{0E215F88-EF50-486F-87F8-16A471A25CBF}"/>
                </a:ext>
              </a:extLst>
            </p:cNvPr>
            <p:cNvSpPr/>
            <p:nvPr/>
          </p:nvSpPr>
          <p:spPr bwMode="auto">
            <a:xfrm>
              <a:off x="890323" y="4802298"/>
              <a:ext cx="58579" cy="15912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6712265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база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302</Words>
  <Application>Microsoft Office PowerPoint</Application>
  <DocSecurity>0</DocSecurity>
  <PresentationFormat>Экран (16:9)</PresentationFormat>
  <Paragraphs>35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Fira Code</vt:lpstr>
      <vt:lpstr>Chakra Petch Medium</vt:lpstr>
      <vt:lpstr>Abadi</vt:lpstr>
      <vt:lpstr>Arial</vt:lpstr>
      <vt:lpstr>Times New Roman</vt:lpstr>
      <vt:lpstr>Symbol</vt:lpstr>
      <vt:lpstr>Computer Science &amp; Mathematics Major for College: Software &amp; Media Applications by Slidesgo</vt:lpstr>
      <vt:lpstr>Презентация PowerPoint</vt:lpstr>
      <vt:lpstr>Актуальность</vt:lpstr>
      <vt:lpstr>Цель и задачи</vt:lpstr>
      <vt:lpstr>Выбор средств разработки</vt:lpstr>
      <vt:lpstr>Архитектура библиотеки</vt:lpstr>
      <vt:lpstr>Декомпозиция задачи</vt:lpstr>
      <vt:lpstr>SISD и SIMD</vt:lpstr>
      <vt:lpstr>Производительность разработанных алгоритмов поиска сумм соседей</vt:lpstr>
      <vt:lpstr>Производительность разработанных алгоритмов применения правил B и S</vt:lpstr>
      <vt:lpstr>Производительность общих алгоритмов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Baka</dc:creator>
  <cp:keywords/>
  <dc:description/>
  <cp:lastModifiedBy>Baka</cp:lastModifiedBy>
  <cp:revision>54</cp:revision>
  <dcterms:modified xsi:type="dcterms:W3CDTF">2026-05-29T20:48:58Z</dcterms:modified>
  <cp:category/>
  <dc:identifier/>
  <cp:contentStatus/>
  <dc:language/>
  <cp:version/>
</cp:coreProperties>
</file>