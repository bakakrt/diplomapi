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10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78" r:id="rId4"/>
    <p:sldId id="258" r:id="rId5"/>
    <p:sldId id="273" r:id="rId6"/>
    <p:sldId id="275" r:id="rId7"/>
    <p:sldId id="259" r:id="rId8"/>
    <p:sldId id="274" r:id="rId9"/>
    <p:sldId id="276" r:id="rId10"/>
    <p:sldId id="277" r:id="rId11"/>
    <p:sldId id="279" r:id="rId12"/>
  </p:sldIdLst>
  <p:sldSz cx="9144000" cy="5143500" type="screen16x9"/>
  <p:notesSz cx="6858000" cy="9144000"/>
  <p:embeddedFontLst>
    <p:embeddedFont>
      <p:font typeface="Abadi" panose="020B0604020104020204" pitchFamily="34" charset="0"/>
      <p:regular r:id="rId14"/>
    </p:embeddedFont>
    <p:embeddedFont>
      <p:font typeface="Fira Code" panose="020B0809050000020004" pitchFamily="49" charset="0"/>
      <p:regular r:id="rId15"/>
      <p:bold r:id="rId16"/>
    </p:embeddedFont>
  </p:embeddedFontLst>
  <p:defaultTextStyle>
    <a:defPPr marR="0" lvl="0" algn="l">
      <a:lnSpc>
        <a:spcPct val="100000"/>
      </a:lnSpc>
      <a:spcBef>
        <a:spcPts val="0"/>
      </a:spcBef>
      <a:spcAft>
        <a:spcPts val="0"/>
      </a:spcAft>
    </a:defPPr>
    <a:lvl1pPr marR="0" lv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  <p:extLst>
    <p:ext uri="{EFAFB233-063F-42B5-8137-9DF3F51BA10A}">
      <p15:sldGuideLst xmlns:p15="http://schemas.microsoft.com/office/powerpoint/2012/main">
        <p15:guide id="1" pos="2880">
          <p15:clr>
            <a:srgbClr val="A4A3A4"/>
          </p15:clr>
        </p15:guide>
        <p15:guide id="2" orient="horz" pos="162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aka" initials="B" lastIdx="3" clrIdx="0">
    <p:extLst>
      <p:ext uri="{19B8F6BF-5375-455C-9EA6-DF929625EA0E}">
        <p15:presenceInfo xmlns:p15="http://schemas.microsoft.com/office/powerpoint/2012/main" userId="Bak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60093"/>
    <a:srgbClr val="66FFFF"/>
    <a:srgbClr val="669900"/>
    <a:srgbClr val="0066CC"/>
    <a:srgbClr val="009999"/>
    <a:srgbClr val="6666FF"/>
    <a:srgbClr val="FF99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1020" autoAdjust="0"/>
  </p:normalViewPr>
  <p:slideViewPr>
    <p:cSldViewPr>
      <p:cViewPr varScale="1">
        <p:scale>
          <a:sx n="121" d="100"/>
          <a:sy n="121" d="100"/>
        </p:scale>
        <p:origin x="1314" y="90"/>
      </p:cViewPr>
      <p:guideLst>
        <p:guide pos="2880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D:\GITHUB\DiplomAPI\SomeBenchmarks\&#1057;&#1056;&#1047;&#1053;&#1040;&#1063;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D:\GITHUB\DiplomAPI\SomeBenchmarks\&#1057;&#1056;&#1047;&#1053;&#1040;&#1063;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D:\GITHUB\DiplomAPI\SomeBenchmarks\&#1057;&#1056;&#1047;&#1053;&#1040;&#1063;(&#1040;&#1074;&#1090;&#1086;&#1084;&#1072;&#1090;&#1080;&#1095;&#1077;&#1089;&#1082;&#1080;&#1042;&#1086;&#1089;&#1089;&#1090;&#1072;&#1085;&#1086;&#1074;&#1083;&#1077;&#1085;&#1086;)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00" b="0" i="0" dirty="0">
                <a:effectLst/>
              </a:rPr>
              <a:t>Во сколько раз разработанные алгоритмы быстрее наивного</a:t>
            </a:r>
            <a:endParaRPr lang="ru-RU" dirty="0">
              <a:effectLst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1"/>
          <c:order val="0"/>
          <c:tx>
            <c:strRef>
              <c:f>SUM!$D$17</c:f>
              <c:strCache>
                <c:ptCount val="1"/>
                <c:pt idx="0">
                  <c:v>Мин</c:v>
                </c:pt>
              </c:strCache>
            </c:strRef>
          </c:tx>
          <c:spPr>
            <a:solidFill>
              <a:srgbClr val="009999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(SUM!$A$68,SUM!$A$70:$A$73)</c:f>
              <c:strCache>
                <c:ptCount val="5"/>
                <c:pt idx="0">
                  <c:v>Скалярное</c:v>
                </c:pt>
                <c:pt idx="1">
                  <c:v>Скалярное опт.</c:v>
                </c:pt>
                <c:pt idx="2">
                  <c:v>SSE</c:v>
                </c:pt>
                <c:pt idx="3">
                  <c:v>SSE 2</c:v>
                </c:pt>
                <c:pt idx="4">
                  <c:v>AVX</c:v>
                </c:pt>
              </c:strCache>
              <c:extLst/>
            </c:strRef>
          </c:cat>
          <c:val>
            <c:numRef>
              <c:f>(SUM!$D$68,SUM!$D$70:$D$73)</c:f>
              <c:numCache>
                <c:formatCode>0.00</c:formatCode>
                <c:ptCount val="5"/>
                <c:pt idx="0">
                  <c:v>25.969579278467741</c:v>
                </c:pt>
                <c:pt idx="1">
                  <c:v>26.077018891426199</c:v>
                </c:pt>
                <c:pt idx="2">
                  <c:v>2.7575089024889334</c:v>
                </c:pt>
                <c:pt idx="3">
                  <c:v>34.216986088140864</c:v>
                </c:pt>
                <c:pt idx="4">
                  <c:v>85.826354319180084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0-CC12-428A-8F7E-F82A54E336EF}"/>
            </c:ext>
          </c:extLst>
        </c:ser>
        <c:ser>
          <c:idx val="3"/>
          <c:order val="1"/>
          <c:tx>
            <c:strRef>
              <c:f>SUM!$F$17</c:f>
              <c:strCache>
                <c:ptCount val="1"/>
                <c:pt idx="0">
                  <c:v>0,01%</c:v>
                </c:pt>
              </c:strCache>
            </c:strRef>
          </c:tx>
          <c:spPr>
            <a:solidFill>
              <a:srgbClr val="6666FF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(SUM!$A$68,SUM!$A$70:$A$73)</c:f>
              <c:strCache>
                <c:ptCount val="5"/>
                <c:pt idx="0">
                  <c:v>Скалярное</c:v>
                </c:pt>
                <c:pt idx="1">
                  <c:v>Скалярное опт.</c:v>
                </c:pt>
                <c:pt idx="2">
                  <c:v>SSE</c:v>
                </c:pt>
                <c:pt idx="3">
                  <c:v>SSE 2</c:v>
                </c:pt>
                <c:pt idx="4">
                  <c:v>AVX</c:v>
                </c:pt>
              </c:strCache>
              <c:extLst/>
            </c:strRef>
          </c:cat>
          <c:val>
            <c:numRef>
              <c:f>(SUM!$F$68,SUM!$F$70:$F$73)</c:f>
              <c:numCache>
                <c:formatCode>0.00</c:formatCode>
                <c:ptCount val="5"/>
                <c:pt idx="0">
                  <c:v>25.967757712192419</c:v>
                </c:pt>
                <c:pt idx="1">
                  <c:v>26.076875543829804</c:v>
                </c:pt>
                <c:pt idx="2">
                  <c:v>2.7448663066482033</c:v>
                </c:pt>
                <c:pt idx="3">
                  <c:v>34.216693970539893</c:v>
                </c:pt>
                <c:pt idx="4">
                  <c:v>85.822509326259052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1-CC12-428A-8F7E-F82A54E336EF}"/>
            </c:ext>
          </c:extLst>
        </c:ser>
        <c:ser>
          <c:idx val="6"/>
          <c:order val="4"/>
          <c:tx>
            <c:strRef>
              <c:f>SUM!$I$17</c:f>
              <c:strCache>
                <c:ptCount val="1"/>
                <c:pt idx="0">
                  <c:v>50%</c:v>
                </c:pt>
              </c:strCache>
            </c:strRef>
          </c:tx>
          <c:spPr>
            <a:solidFill>
              <a:srgbClr val="00B0F0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(SUM!$A$68,SUM!$A$70:$A$73)</c:f>
              <c:strCache>
                <c:ptCount val="5"/>
                <c:pt idx="0">
                  <c:v>Скалярное</c:v>
                </c:pt>
                <c:pt idx="1">
                  <c:v>Скалярное опт.</c:v>
                </c:pt>
                <c:pt idx="2">
                  <c:v>SSE</c:v>
                </c:pt>
                <c:pt idx="3">
                  <c:v>SSE 2</c:v>
                </c:pt>
                <c:pt idx="4">
                  <c:v>AVX</c:v>
                </c:pt>
              </c:strCache>
              <c:extLst/>
            </c:strRef>
          </c:cat>
          <c:val>
            <c:numRef>
              <c:f>(SUM!$I$68,SUM!$I$70:$I$73)</c:f>
              <c:numCache>
                <c:formatCode>0.00</c:formatCode>
                <c:ptCount val="5"/>
                <c:pt idx="0">
                  <c:v>26.178361200390018</c:v>
                </c:pt>
                <c:pt idx="1">
                  <c:v>26.376295336787564</c:v>
                </c:pt>
                <c:pt idx="2">
                  <c:v>2.4833746255608022</c:v>
                </c:pt>
                <c:pt idx="3">
                  <c:v>34.683785956249643</c:v>
                </c:pt>
                <c:pt idx="4">
                  <c:v>86.407252008486893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2-CC12-428A-8F7E-F82A54E336EF}"/>
            </c:ext>
          </c:extLst>
        </c:ser>
        <c:ser>
          <c:idx val="0"/>
          <c:order val="5"/>
          <c:tx>
            <c:strRef>
              <c:f>SUM!$B$18</c:f>
              <c:strCache>
                <c:ptCount val="1"/>
                <c:pt idx="0">
                  <c:v>СрВр</c:v>
                </c:pt>
              </c:strCache>
            </c:strRef>
          </c:tx>
          <c:spPr>
            <a:solidFill>
              <a:srgbClr val="FF9933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(SUM!$A$68,SUM!$A$70:$A$73)</c:f>
              <c:strCache>
                <c:ptCount val="5"/>
                <c:pt idx="0">
                  <c:v>Скалярное</c:v>
                </c:pt>
                <c:pt idx="1">
                  <c:v>Скалярное опт.</c:v>
                </c:pt>
                <c:pt idx="2">
                  <c:v>SSE</c:v>
                </c:pt>
                <c:pt idx="3">
                  <c:v>SSE 2</c:v>
                </c:pt>
                <c:pt idx="4">
                  <c:v>AVX</c:v>
                </c:pt>
              </c:strCache>
              <c:extLst/>
            </c:strRef>
          </c:cat>
          <c:val>
            <c:numRef>
              <c:f>(SUM!$B$68,SUM!$B$70:$B$73)</c:f>
              <c:numCache>
                <c:formatCode>0.00</c:formatCode>
                <c:ptCount val="5"/>
                <c:pt idx="0">
                  <c:v>25.258067244487243</c:v>
                </c:pt>
                <c:pt idx="1">
                  <c:v>25.79873597856346</c:v>
                </c:pt>
                <c:pt idx="2">
                  <c:v>2.4847919595690411</c:v>
                </c:pt>
                <c:pt idx="3">
                  <c:v>33.897676162051837</c:v>
                </c:pt>
                <c:pt idx="4">
                  <c:v>84.165209313153596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3-CC12-428A-8F7E-F82A54E336EF}"/>
            </c:ext>
          </c:extLst>
        </c:ser>
        <c:ser>
          <c:idx val="9"/>
          <c:order val="8"/>
          <c:tx>
            <c:strRef>
              <c:f>SUM!$L$17</c:f>
              <c:strCache>
                <c:ptCount val="1"/>
                <c:pt idx="0">
                  <c:v>99,99%</c:v>
                </c:pt>
              </c:strCache>
            </c:strRef>
          </c:tx>
          <c:spPr>
            <a:solidFill>
              <a:srgbClr val="D60093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(SUM!$A$68,SUM!$A$70:$A$73)</c:f>
              <c:strCache>
                <c:ptCount val="5"/>
                <c:pt idx="0">
                  <c:v>Скалярное</c:v>
                </c:pt>
                <c:pt idx="1">
                  <c:v>Скалярное опт.</c:v>
                </c:pt>
                <c:pt idx="2">
                  <c:v>SSE</c:v>
                </c:pt>
                <c:pt idx="3">
                  <c:v>SSE 2</c:v>
                </c:pt>
                <c:pt idx="4">
                  <c:v>AVX</c:v>
                </c:pt>
              </c:strCache>
              <c:extLst/>
            </c:strRef>
          </c:cat>
          <c:val>
            <c:numRef>
              <c:f>(SUM!$L$68,SUM!$L$70:$L$73)</c:f>
              <c:numCache>
                <c:formatCode>0.00</c:formatCode>
                <c:ptCount val="5"/>
                <c:pt idx="0">
                  <c:v>18.953710276981326</c:v>
                </c:pt>
                <c:pt idx="1">
                  <c:v>20.861250648153007</c:v>
                </c:pt>
                <c:pt idx="2">
                  <c:v>2.5198152151839812</c:v>
                </c:pt>
                <c:pt idx="3">
                  <c:v>25.205078363376778</c:v>
                </c:pt>
                <c:pt idx="4">
                  <c:v>58.422526883004032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4-CC12-428A-8F7E-F82A54E336EF}"/>
            </c:ext>
          </c:extLst>
        </c:ser>
        <c:ser>
          <c:idx val="2"/>
          <c:order val="9"/>
          <c:tx>
            <c:strRef>
              <c:f>SUM!$E$17</c:f>
              <c:strCache>
                <c:ptCount val="1"/>
                <c:pt idx="0">
                  <c:v>Макс</c:v>
                </c:pt>
              </c:strCache>
            </c:strRef>
          </c:tx>
          <c:spPr>
            <a:solidFill>
              <a:srgbClr val="669900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(SUM!$A$68,SUM!$A$70:$A$73)</c:f>
              <c:strCache>
                <c:ptCount val="5"/>
                <c:pt idx="0">
                  <c:v>Скалярное</c:v>
                </c:pt>
                <c:pt idx="1">
                  <c:v>Скалярное опт.</c:v>
                </c:pt>
                <c:pt idx="2">
                  <c:v>SSE</c:v>
                </c:pt>
                <c:pt idx="3">
                  <c:v>SSE 2</c:v>
                </c:pt>
                <c:pt idx="4">
                  <c:v>AVX</c:v>
                </c:pt>
              </c:strCache>
              <c:extLst/>
            </c:strRef>
          </c:cat>
          <c:val>
            <c:numRef>
              <c:f>(SUM!$E$68,SUM!$E$70:$E$73)</c:f>
              <c:numCache>
                <c:formatCode>0.00</c:formatCode>
                <c:ptCount val="5"/>
                <c:pt idx="0">
                  <c:v>18.918665053062742</c:v>
                </c:pt>
                <c:pt idx="1">
                  <c:v>20.731250255029178</c:v>
                </c:pt>
                <c:pt idx="2">
                  <c:v>2.5195489653975378</c:v>
                </c:pt>
                <c:pt idx="3">
                  <c:v>25.157438011413578</c:v>
                </c:pt>
                <c:pt idx="4">
                  <c:v>58.392753498261648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5-CC12-428A-8F7E-F82A54E336E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072405744"/>
        <c:axId val="1072406992"/>
        <c:extLst>
          <c:ext xmlns:c15="http://schemas.microsoft.com/office/drawing/2012/chart" uri="{02D57815-91ED-43cb-92C2-25804820EDAC}">
            <c15:filteredBarSeries>
              <c15:ser>
                <c:idx val="4"/>
                <c:order val="2"/>
                <c:tx>
                  <c:strRef>
                    <c:extLst>
                      <c:ext uri="{02D57815-91ED-43cb-92C2-25804820EDAC}">
                        <c15:formulaRef>
                          <c15:sqref>SUM!$G$17</c15:sqref>
                        </c15:formulaRef>
                      </c:ext>
                    </c:extLst>
                    <c:strCache>
                      <c:ptCount val="1"/>
                      <c:pt idx="0">
                        <c:v>0,1%</c:v>
                      </c:pt>
                    </c:strCache>
                  </c:strRef>
                </c:tx>
                <c:spPr>
                  <a:solidFill>
                    <a:schemeClr val="dk1">
                      <a:tint val="30000"/>
                    </a:schemeClr>
                  </a:solidFill>
                  <a:ln>
                    <a:noFill/>
                  </a:ln>
                  <a:effectLst/>
                </c:spPr>
                <c:invertIfNegative val="0"/>
                <c:dLbls>
                  <c:numFmt formatCode="#,##0.0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-5400000" spcFirstLastPara="1" vertOverflow="ellipsis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ru-RU"/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ormulaRef>
                          <c15:sqref>(SUM!$A$68,SUM!$A$70:$A$73)</c15:sqref>
                        </c15:formulaRef>
                      </c:ext>
                    </c:extLst>
                    <c:strCache>
                      <c:ptCount val="5"/>
                      <c:pt idx="0">
                        <c:v>Скалярное</c:v>
                      </c:pt>
                      <c:pt idx="1">
                        <c:v>Скалярное опт.</c:v>
                      </c:pt>
                      <c:pt idx="2">
                        <c:v>SSE</c:v>
                      </c:pt>
                      <c:pt idx="3">
                        <c:v>SSE 2</c:v>
                      </c:pt>
                      <c:pt idx="4">
                        <c:v>AVX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(SUM!$G$68,SUM!$G$70:$G$73)</c15:sqref>
                        </c15:formulaRef>
                      </c:ext>
                    </c:extLst>
                    <c:numCache>
                      <c:formatCode>0.00</c:formatCode>
                      <c:ptCount val="5"/>
                      <c:pt idx="0">
                        <c:v>25.951375279411682</c:v>
                      </c:pt>
                      <c:pt idx="1">
                        <c:v>26.075586103107863</c:v>
                      </c:pt>
                      <c:pt idx="2">
                        <c:v>2.6361428861734808</c:v>
                      </c:pt>
                      <c:pt idx="3">
                        <c:v>34.214066393277946</c:v>
                      </c:pt>
                      <c:pt idx="4">
                        <c:v>85.787936416733714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6-CC12-428A-8F7E-F82A54E336EF}"/>
                  </c:ext>
                </c:extLst>
              </c15:ser>
            </c15:filteredBarSeries>
            <c15:filteredBarSeries>
              <c15:ser>
                <c:idx val="5"/>
                <c:order val="3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SUM!$H$17</c15:sqref>
                        </c15:formulaRef>
                      </c:ext>
                    </c:extLst>
                    <c:strCache>
                      <c:ptCount val="1"/>
                      <c:pt idx="0">
                        <c:v>1%</c:v>
                      </c:pt>
                    </c:strCache>
                  </c:strRef>
                </c:tx>
                <c:spPr>
                  <a:solidFill>
                    <a:schemeClr val="dk1">
                      <a:tint val="60000"/>
                    </a:schemeClr>
                  </a:solidFill>
                  <a:ln>
                    <a:noFill/>
                  </a:ln>
                  <a:effectLst/>
                </c:spPr>
                <c:invertIfNegative val="0"/>
                <c:dLbls>
                  <c:numFmt formatCode="#,##0.0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-5400000" spcFirstLastPara="1" vertOverflow="ellipsis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ru-RU"/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 xmlns:c15="http://schemas.microsoft.com/office/drawing/2012/chart">
                    <c:ext xmlns:c15="http://schemas.microsoft.com/office/drawing/2012/chart"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(SUM!$A$68,SUM!$A$70:$A$73)</c15:sqref>
                        </c15:formulaRef>
                      </c:ext>
                    </c:extLst>
                    <c:strCache>
                      <c:ptCount val="5"/>
                      <c:pt idx="0">
                        <c:v>Скалярное</c:v>
                      </c:pt>
                      <c:pt idx="1">
                        <c:v>Скалярное опт.</c:v>
                      </c:pt>
                      <c:pt idx="2">
                        <c:v>SSE</c:v>
                      </c:pt>
                      <c:pt idx="3">
                        <c:v>SSE 2</c:v>
                      </c:pt>
                      <c:pt idx="4">
                        <c:v>AVX</c:v>
                      </c:pt>
                    </c:strCache>
                  </c:str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(SUM!$H$68,SUM!$H$70:$H$73)</c15:sqref>
                        </c15:formulaRef>
                      </c:ext>
                    </c:extLst>
                    <c:numCache>
                      <c:formatCode>0.00</c:formatCode>
                      <c:ptCount val="5"/>
                      <c:pt idx="0">
                        <c:v>25.957883947643186</c:v>
                      </c:pt>
                      <c:pt idx="1">
                        <c:v>26.061442523247734</c:v>
                      </c:pt>
                      <c:pt idx="2">
                        <c:v>2.5579527031129596</c:v>
                      </c:pt>
                      <c:pt idx="3">
                        <c:v>34.242135624431818</c:v>
                      </c:pt>
                      <c:pt idx="4">
                        <c:v>85.851980434147762</c:v>
                      </c:pt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7-CC12-428A-8F7E-F82A54E336EF}"/>
                  </c:ext>
                </c:extLst>
              </c15:ser>
            </c15:filteredBarSeries>
            <c15:filteredBarSeries>
              <c15:ser>
                <c:idx val="7"/>
                <c:order val="6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SUM!$J$17</c15:sqref>
                        </c15:formulaRef>
                      </c:ext>
                    </c:extLst>
                    <c:strCache>
                      <c:ptCount val="1"/>
                      <c:pt idx="0">
                        <c:v>99%</c:v>
                      </c:pt>
                    </c:strCache>
                  </c:strRef>
                </c:tx>
                <c:spPr>
                  <a:solidFill>
                    <a:schemeClr val="dk1">
                      <a:tint val="88500"/>
                    </a:schemeClr>
                  </a:solidFill>
                  <a:ln>
                    <a:noFill/>
                  </a:ln>
                  <a:effectLst/>
                </c:spPr>
                <c:invertIfNegative val="0"/>
                <c:dLbls>
                  <c:numFmt formatCode="#,##0.0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-5400000" spcFirstLastPara="1" vertOverflow="ellipsis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ru-RU"/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 xmlns:c15="http://schemas.microsoft.com/office/drawing/2012/chart">
                    <c:ext xmlns:c15="http://schemas.microsoft.com/office/drawing/2012/chart"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(SUM!$A$68,SUM!$A$70:$A$73)</c15:sqref>
                        </c15:formulaRef>
                      </c:ext>
                    </c:extLst>
                    <c:strCache>
                      <c:ptCount val="5"/>
                      <c:pt idx="0">
                        <c:v>Скалярное</c:v>
                      </c:pt>
                      <c:pt idx="1">
                        <c:v>Скалярное опт.</c:v>
                      </c:pt>
                      <c:pt idx="2">
                        <c:v>SSE</c:v>
                      </c:pt>
                      <c:pt idx="3">
                        <c:v>SSE 2</c:v>
                      </c:pt>
                      <c:pt idx="4">
                        <c:v>AVX</c:v>
                      </c:pt>
                    </c:strCache>
                  </c:str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(SUM!$J$68,SUM!$J$70:$J$73)</c15:sqref>
                        </c15:formulaRef>
                      </c:ext>
                    </c:extLst>
                    <c:numCache>
                      <c:formatCode>0.00</c:formatCode>
                      <c:ptCount val="5"/>
                      <c:pt idx="0">
                        <c:v>19.628086094069818</c:v>
                      </c:pt>
                      <c:pt idx="1">
                        <c:v>22.569934474585065</c:v>
                      </c:pt>
                      <c:pt idx="2">
                        <c:v>2.4761601288318675</c:v>
                      </c:pt>
                      <c:pt idx="3">
                        <c:v>29.071317527680296</c:v>
                      </c:pt>
                      <c:pt idx="4">
                        <c:v>69.488313202155283</c:v>
                      </c:pt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8-CC12-428A-8F7E-F82A54E336EF}"/>
                  </c:ext>
                </c:extLst>
              </c15:ser>
            </c15:filteredBarSeries>
            <c15:filteredBarSeries>
              <c15:ser>
                <c:idx val="8"/>
                <c:order val="7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SUM!$K$17</c15:sqref>
                        </c15:formulaRef>
                      </c:ext>
                    </c:extLst>
                    <c:strCache>
                      <c:ptCount val="1"/>
                      <c:pt idx="0">
                        <c:v>99,9%</c:v>
                      </c:pt>
                    </c:strCache>
                  </c:strRef>
                </c:tx>
                <c:spPr>
                  <a:solidFill>
                    <a:schemeClr val="dk1">
                      <a:tint val="55000"/>
                    </a:schemeClr>
                  </a:solidFill>
                  <a:ln>
                    <a:noFill/>
                  </a:ln>
                  <a:effectLst/>
                </c:spPr>
                <c:invertIfNegative val="0"/>
                <c:dLbls>
                  <c:numFmt formatCode="#,##0.0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-5400000" spcFirstLastPara="1" vertOverflow="ellipsis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ru-RU"/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 xmlns:c15="http://schemas.microsoft.com/office/drawing/2012/chart">
                    <c:ext xmlns:c15="http://schemas.microsoft.com/office/drawing/2012/chart"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(SUM!$A$68,SUM!$A$70:$A$73)</c15:sqref>
                        </c15:formulaRef>
                      </c:ext>
                    </c:extLst>
                    <c:strCache>
                      <c:ptCount val="5"/>
                      <c:pt idx="0">
                        <c:v>Скалярное</c:v>
                      </c:pt>
                      <c:pt idx="1">
                        <c:v>Скалярное опт.</c:v>
                      </c:pt>
                      <c:pt idx="2">
                        <c:v>SSE</c:v>
                      </c:pt>
                      <c:pt idx="3">
                        <c:v>SSE 2</c:v>
                      </c:pt>
                      <c:pt idx="4">
                        <c:v>AVX</c:v>
                      </c:pt>
                    </c:strCache>
                  </c:str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(SUM!$K$68,SUM!$K$70:$K$73)</c15:sqref>
                        </c15:formulaRef>
                      </c:ext>
                    </c:extLst>
                    <c:numCache>
                      <c:formatCode>0.00</c:formatCode>
                      <c:ptCount val="5"/>
                      <c:pt idx="0">
                        <c:v>19.279036441074034</c:v>
                      </c:pt>
                      <c:pt idx="1">
                        <c:v>22.125068654675996</c:v>
                      </c:pt>
                      <c:pt idx="2">
                        <c:v>2.5222431339617377</c:v>
                      </c:pt>
                      <c:pt idx="3">
                        <c:v>25.647497896726691</c:v>
                      </c:pt>
                      <c:pt idx="4">
                        <c:v>58.695143398903092</c:v>
                      </c:pt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9-CC12-428A-8F7E-F82A54E336EF}"/>
                  </c:ext>
                </c:extLst>
              </c15:ser>
            </c15:filteredBarSeries>
          </c:ext>
        </c:extLst>
      </c:barChart>
      <c:catAx>
        <c:axId val="1072405744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/>
                  <a:t>Название алгоритма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072406992"/>
        <c:crosses val="autoZero"/>
        <c:auto val="1"/>
        <c:lblAlgn val="ctr"/>
        <c:lblOffset val="100"/>
        <c:noMultiLvlLbl val="0"/>
      </c:catAx>
      <c:valAx>
        <c:axId val="10724069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 dirty="0"/>
                  <a:t>Множитель, во сколько раз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0.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0724057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00" b="0" i="0" baseline="0" dirty="0">
                <a:effectLst/>
              </a:rPr>
              <a:t>Во сколько раз разработанные алгоритмы быстрее наивного</a:t>
            </a:r>
            <a:endParaRPr lang="ru-RU" dirty="0">
              <a:effectLst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2"/>
          <c:order val="0"/>
          <c:tx>
            <c:strRef>
              <c:f>B_S_RULES!$D$1</c:f>
              <c:strCache>
                <c:ptCount val="1"/>
                <c:pt idx="0">
                  <c:v>Мин</c:v>
                </c:pt>
              </c:strCache>
            </c:strRef>
          </c:tx>
          <c:spPr>
            <a:solidFill>
              <a:srgbClr val="669900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B_S_RULES!$D$50:$D$53</c:f>
              <c:numCache>
                <c:formatCode>0.000</c:formatCode>
                <c:ptCount val="4"/>
                <c:pt idx="0">
                  <c:v>2.3918686292334774</c:v>
                </c:pt>
                <c:pt idx="1">
                  <c:v>3.0112255582341056</c:v>
                </c:pt>
                <c:pt idx="2">
                  <c:v>26.865522485335646</c:v>
                </c:pt>
                <c:pt idx="3">
                  <c:v>26.116578669482575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0-B7EB-46FB-8364-CD5332838AE1}"/>
            </c:ext>
          </c:extLst>
        </c:ser>
        <c:ser>
          <c:idx val="4"/>
          <c:order val="1"/>
          <c:tx>
            <c:strRef>
              <c:f>B_S_RULES!$F$1</c:f>
              <c:strCache>
                <c:ptCount val="1"/>
                <c:pt idx="0">
                  <c:v>0.01%</c:v>
                </c:pt>
              </c:strCache>
            </c:strRef>
          </c:tx>
          <c:spPr>
            <a:solidFill>
              <a:srgbClr val="D60093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B_S_RULES!$F$50:$F$53</c:f>
              <c:numCache>
                <c:formatCode>0.000</c:formatCode>
                <c:ptCount val="4"/>
                <c:pt idx="0">
                  <c:v>2.3916010904661547</c:v>
                </c:pt>
                <c:pt idx="1">
                  <c:v>3.011540147051663</c:v>
                </c:pt>
                <c:pt idx="2">
                  <c:v>26.849576731061429</c:v>
                </c:pt>
                <c:pt idx="3">
                  <c:v>26.085196119780683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1-B7EB-46FB-8364-CD5332838AE1}"/>
            </c:ext>
          </c:extLst>
        </c:ser>
        <c:ser>
          <c:idx val="6"/>
          <c:order val="4"/>
          <c:tx>
            <c:strRef>
              <c:f>B_S_RULES!$H$1</c:f>
              <c:strCache>
                <c:ptCount val="1"/>
                <c:pt idx="0">
                  <c:v>1%</c:v>
                </c:pt>
              </c:strCache>
            </c:strRef>
          </c:tx>
          <c:spPr>
            <a:solidFill>
              <a:srgbClr val="FF9933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B_S_RULES!$H$50:$H$53</c:f>
              <c:numCache>
                <c:formatCode>0.000</c:formatCode>
                <c:ptCount val="4"/>
                <c:pt idx="0">
                  <c:v>2.3899133916531934</c:v>
                </c:pt>
                <c:pt idx="1">
                  <c:v>3.0132719140454083</c:v>
                </c:pt>
                <c:pt idx="2">
                  <c:v>26.802157837837839</c:v>
                </c:pt>
                <c:pt idx="3">
                  <c:v>26.003771764212296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2-B7EB-46FB-8364-CD5332838AE1}"/>
            </c:ext>
          </c:extLst>
        </c:ser>
        <c:ser>
          <c:idx val="7"/>
          <c:order val="5"/>
          <c:tx>
            <c:strRef>
              <c:f>B_S_RULES!$I$1</c:f>
              <c:strCache>
                <c:ptCount val="1"/>
                <c:pt idx="0">
                  <c:v>50%</c:v>
                </c:pt>
              </c:strCache>
            </c:strRef>
          </c:tx>
          <c:spPr>
            <a:solidFill>
              <a:srgbClr val="6666FF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B_S_RULES!$I$50:$I$53</c:f>
              <c:numCache>
                <c:formatCode>0.000</c:formatCode>
                <c:ptCount val="4"/>
                <c:pt idx="0">
                  <c:v>2.3583104731126228</c:v>
                </c:pt>
                <c:pt idx="1">
                  <c:v>3.0004302925989679</c:v>
                </c:pt>
                <c:pt idx="2">
                  <c:v>26.110671936758891</c:v>
                </c:pt>
                <c:pt idx="3">
                  <c:v>25.137993190466659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3-B7EB-46FB-8364-CD5332838AE1}"/>
            </c:ext>
          </c:extLst>
        </c:ser>
        <c:ser>
          <c:idx val="0"/>
          <c:order val="6"/>
          <c:tx>
            <c:strRef>
              <c:f>B_S_RULES!$B$1</c:f>
              <c:strCache>
                <c:ptCount val="1"/>
                <c:pt idx="0">
                  <c:v>Среднее</c:v>
                </c:pt>
              </c:strCache>
            </c:strRef>
          </c:tx>
          <c:spPr>
            <a:solidFill>
              <a:srgbClr val="009999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B_S_RULES!$B$50:$B$53</c:f>
              <c:numCache>
                <c:formatCode>0.000</c:formatCode>
                <c:ptCount val="4"/>
                <c:pt idx="0">
                  <c:v>2.3150416418423569</c:v>
                </c:pt>
                <c:pt idx="1">
                  <c:v>2.9660088654878303</c:v>
                </c:pt>
                <c:pt idx="2">
                  <c:v>25.867065682802288</c:v>
                </c:pt>
                <c:pt idx="3">
                  <c:v>24.981693519408754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4-B7EB-46FB-8364-CD5332838AE1}"/>
            </c:ext>
          </c:extLst>
        </c:ser>
        <c:ser>
          <c:idx val="8"/>
          <c:order val="7"/>
          <c:tx>
            <c:strRef>
              <c:f>B_S_RULES!$J$1</c:f>
              <c:strCache>
                <c:ptCount val="1"/>
                <c:pt idx="0">
                  <c:v>99%</c:v>
                </c:pt>
              </c:strCache>
            </c:strRef>
          </c:tx>
          <c:spPr>
            <a:solidFill>
              <a:srgbClr val="0066CC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B_S_RULES!$J$50:$J$53</c:f>
              <c:numCache>
                <c:formatCode>0.000</c:formatCode>
                <c:ptCount val="4"/>
                <c:pt idx="0">
                  <c:v>1.8683726158334311</c:v>
                </c:pt>
                <c:pt idx="1">
                  <c:v>2.6108690698414061</c:v>
                </c:pt>
                <c:pt idx="2">
                  <c:v>20.561814512591035</c:v>
                </c:pt>
                <c:pt idx="3">
                  <c:v>20.519700918724045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5-B7EB-46FB-8364-CD5332838AE1}"/>
            </c:ext>
          </c:extLst>
        </c:ser>
        <c:ser>
          <c:idx val="10"/>
          <c:order val="9"/>
          <c:tx>
            <c:strRef>
              <c:f>B_S_RULES!$L$1</c:f>
              <c:strCache>
                <c:ptCount val="1"/>
                <c:pt idx="0">
                  <c:v>99.99%</c:v>
                </c:pt>
              </c:strCache>
            </c:strRef>
          </c:tx>
          <c:spPr>
            <a:solidFill>
              <a:srgbClr val="669900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B_S_RULES!$L$50:$L$53</c:f>
              <c:numCache>
                <c:formatCode>0.000</c:formatCode>
                <c:ptCount val="4"/>
                <c:pt idx="0">
                  <c:v>1.685532690332862</c:v>
                </c:pt>
                <c:pt idx="1">
                  <c:v>2.4795772127093638</c:v>
                </c:pt>
                <c:pt idx="2">
                  <c:v>13.376974326595972</c:v>
                </c:pt>
                <c:pt idx="3">
                  <c:v>13.625931466511508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6-B7EB-46FB-8364-CD5332838AE1}"/>
            </c:ext>
          </c:extLst>
        </c:ser>
        <c:ser>
          <c:idx val="3"/>
          <c:order val="10"/>
          <c:tx>
            <c:strRef>
              <c:f>B_S_RULES!$E$1</c:f>
              <c:strCache>
                <c:ptCount val="1"/>
                <c:pt idx="0">
                  <c:v>Макс</c:v>
                </c:pt>
              </c:strCache>
            </c:strRef>
          </c:tx>
          <c:spPr>
            <a:solidFill>
              <a:srgbClr val="66FFFF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B_S_RULES!$E$50:$E$53</c:f>
              <c:numCache>
                <c:formatCode>0.000</c:formatCode>
                <c:ptCount val="4"/>
                <c:pt idx="0">
                  <c:v>2.0475579631635967</c:v>
                </c:pt>
                <c:pt idx="1">
                  <c:v>3.0790897123418004</c:v>
                </c:pt>
                <c:pt idx="2">
                  <c:v>14.999174603174605</c:v>
                </c:pt>
                <c:pt idx="3">
                  <c:v>15.557260454395783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7-B7EB-46FB-8364-CD5332838AE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9"/>
        <c:overlap val="-11"/>
        <c:axId val="1127726992"/>
        <c:axId val="1127726160"/>
        <c:extLst>
          <c:ext xmlns:c15="http://schemas.microsoft.com/office/drawing/2012/chart" uri="{02D57815-91ED-43cb-92C2-25804820EDAC}">
            <c15:filteredBarSeries>
              <c15:ser>
                <c:idx val="5"/>
                <c:order val="2"/>
                <c:tx>
                  <c:strRef>
                    <c:extLst>
                      <c:ext uri="{02D57815-91ED-43cb-92C2-25804820EDAC}">
                        <c15:formulaRef>
                          <c15:sqref>B_S_RULES!$G$1</c15:sqref>
                        </c15:formulaRef>
                      </c:ext>
                    </c:extLst>
                    <c:strCache>
                      <c:ptCount val="1"/>
                      <c:pt idx="0">
                        <c:v>0.1%</c:v>
                      </c:pt>
                    </c:strCache>
                  </c:strRef>
                </c:tx>
                <c:spPr>
                  <a:solidFill>
                    <a:schemeClr val="accent6"/>
                  </a:solidFill>
                  <a:ln>
                    <a:noFill/>
                  </a:ln>
                  <a:effectLst/>
                </c:spPr>
                <c:invertIfNegative val="0"/>
                <c:dLbls>
                  <c:numFmt formatCode="#,##0.0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-5400000" spcFirstLastPara="1" vertOverflow="ellipsis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ru-RU"/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ormulaRef>
                          <c15:sqref>B_S_RULES!$A$50:$A$53</c15:sqref>
                        </c15:formulaRef>
                      </c:ext>
                    </c:extLst>
                    <c:strCache>
                      <c:ptCount val="4"/>
                      <c:pt idx="0">
                        <c:v>опт.</c:v>
                      </c:pt>
                      <c:pt idx="1">
                        <c:v>bitset</c:v>
                      </c:pt>
                      <c:pt idx="2">
                        <c:v>буфер.</c:v>
                      </c:pt>
                      <c:pt idx="3">
                        <c:v>bitset буф.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B_S_RULES!$G$50:$G$53</c15:sqref>
                        </c15:formulaRef>
                      </c:ext>
                    </c:extLst>
                    <c:numCache>
                      <c:formatCode>0.000</c:formatCode>
                      <c:ptCount val="4"/>
                      <c:pt idx="0">
                        <c:v>2.3914689745769264</c:v>
                      </c:pt>
                      <c:pt idx="1">
                        <c:v>3.0119708029197083</c:v>
                      </c:pt>
                      <c:pt idx="2">
                        <c:v>26.847104749512042</c:v>
                      </c:pt>
                      <c:pt idx="3">
                        <c:v>26.061473684210533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8-B7EB-46FB-8364-CD5332838AE1}"/>
                  </c:ext>
                </c:extLst>
              </c15:ser>
            </c15:filteredBarSeries>
            <c15:filteredBarSeries>
              <c15:ser>
                <c:idx val="1"/>
                <c:order val="3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B_S_RULES!$C$1</c15:sqref>
                        </c15:formulaRef>
                      </c:ext>
                    </c:extLst>
                    <c:strCache>
                      <c:ptCount val="1"/>
                      <c:pt idx="0">
                        <c:v>СтОткл</c:v>
                      </c:pt>
                    </c:strCache>
                  </c:strRef>
                </c:tx>
                <c:spPr>
                  <a:solidFill>
                    <a:schemeClr val="accent2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ru-RU"/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 xmlns:c15="http://schemas.microsoft.com/office/drawing/2012/chart">
                    <c:ext xmlns:c15="http://schemas.microsoft.com/office/drawing/2012/chart"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B_S_RULES!$A$50:$A$53</c15:sqref>
                        </c15:formulaRef>
                      </c:ext>
                    </c:extLst>
                    <c:strCache>
                      <c:ptCount val="4"/>
                      <c:pt idx="0">
                        <c:v>опт.</c:v>
                      </c:pt>
                      <c:pt idx="1">
                        <c:v>bitset</c:v>
                      </c:pt>
                      <c:pt idx="2">
                        <c:v>буфер.</c:v>
                      </c:pt>
                      <c:pt idx="3">
                        <c:v>bitset буф.</c:v>
                      </c:pt>
                    </c:strCache>
                  </c:str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B_S_RULES!$C$50:$C$53</c15:sqref>
                        </c15:formulaRef>
                      </c:ext>
                    </c:extLst>
                    <c:numCache>
                      <c:formatCode>0.000</c:formatCode>
                      <c:ptCount val="4"/>
                      <c:pt idx="0">
                        <c:v>1.0499880555226089</c:v>
                      </c:pt>
                      <c:pt idx="1">
                        <c:v>1.722272154326739</c:v>
                      </c:pt>
                      <c:pt idx="2">
                        <c:v>11.153174575007984</c:v>
                      </c:pt>
                      <c:pt idx="3">
                        <c:v>12.176488821728856</c:v>
                      </c:pt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9-B7EB-46FB-8364-CD5332838AE1}"/>
                  </c:ext>
                </c:extLst>
              </c15:ser>
            </c15:filteredBarSeries>
            <c15:filteredBarSeries>
              <c15:ser>
                <c:idx val="9"/>
                <c:order val="8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B_S_RULES!$K$1</c15:sqref>
                        </c15:formulaRef>
                      </c:ext>
                    </c:extLst>
                    <c:strCache>
                      <c:ptCount val="1"/>
                      <c:pt idx="0">
                        <c:v>99.9%</c:v>
                      </c:pt>
                    </c:strCache>
                  </c:strRef>
                </c:tx>
                <c:spPr>
                  <a:solidFill>
                    <a:schemeClr val="accent4">
                      <a:lumMod val="60000"/>
                    </a:schemeClr>
                  </a:solidFill>
                  <a:ln>
                    <a:noFill/>
                  </a:ln>
                  <a:effectLst/>
                </c:spPr>
                <c:invertIfNegative val="0"/>
                <c:dLbls>
                  <c:numFmt formatCode="#,##0.0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-5400000" spcFirstLastPara="1" vertOverflow="ellipsis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ru-RU"/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 xmlns:c15="http://schemas.microsoft.com/office/drawing/2012/chart">
                    <c:ext xmlns:c15="http://schemas.microsoft.com/office/drawing/2012/chart"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B_S_RULES!$A$50:$A$53</c15:sqref>
                        </c15:formulaRef>
                      </c:ext>
                    </c:extLst>
                    <c:strCache>
                      <c:ptCount val="4"/>
                      <c:pt idx="0">
                        <c:v>опт.</c:v>
                      </c:pt>
                      <c:pt idx="1">
                        <c:v>bitset</c:v>
                      </c:pt>
                      <c:pt idx="2">
                        <c:v>буфер.</c:v>
                      </c:pt>
                      <c:pt idx="3">
                        <c:v>bitset буф.</c:v>
                      </c:pt>
                    </c:strCache>
                  </c:str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B_S_RULES!$K$50:$K$53</c15:sqref>
                        </c15:formulaRef>
                      </c:ext>
                    </c:extLst>
                    <c:numCache>
                      <c:formatCode>0.000</c:formatCode>
                      <c:ptCount val="4"/>
                      <c:pt idx="0">
                        <c:v>1.5725739731087478</c:v>
                      </c:pt>
                      <c:pt idx="1">
                        <c:v>2.4328429702753431</c:v>
                      </c:pt>
                      <c:pt idx="2">
                        <c:v>14.713166467814226</c:v>
                      </c:pt>
                      <c:pt idx="3">
                        <c:v>17.936321153966091</c:v>
                      </c:pt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A-B7EB-46FB-8364-CD5332838AE1}"/>
                  </c:ext>
                </c:extLst>
              </c15:ser>
            </c15:filteredBarSeries>
          </c:ext>
        </c:extLst>
      </c:barChart>
      <c:catAx>
        <c:axId val="1127726992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/>
                  <a:t>Название алгоритма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27726160"/>
        <c:crosses val="autoZero"/>
        <c:auto val="1"/>
        <c:lblAlgn val="ctr"/>
        <c:lblOffset val="100"/>
        <c:noMultiLvlLbl val="0"/>
      </c:catAx>
      <c:valAx>
        <c:axId val="11277261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 sz="1000" b="0" i="0" baseline="0" dirty="0">
                    <a:effectLst/>
                  </a:rPr>
                  <a:t>Множитель, во сколько раз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2772699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Производительность</a:t>
            </a:r>
            <a:r>
              <a:rPr lang="ru-RU" baseline="0"/>
              <a:t> общих алгоритмов</a:t>
            </a:r>
            <a:endParaRPr lang="ru-RU"/>
          </a:p>
        </c:rich>
      </c:tx>
      <c:layout>
        <c:manualLayout>
          <c:xMode val="edge"/>
          <c:yMode val="edge"/>
          <c:x val="0.28700490535630979"/>
          <c:y val="2.2770104556602559E-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Среднее время</c:v>
          </c:tx>
          <c:spPr>
            <a:solidFill>
              <a:srgbClr val="00B050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B_S_RULES!$A$75:$A$78</c:f>
              <c:strCache>
                <c:ptCount val="4"/>
                <c:pt idx="0">
                  <c:v>Базовый</c:v>
                </c:pt>
                <c:pt idx="1">
                  <c:v>AVX+bitset</c:v>
                </c:pt>
                <c:pt idx="2">
                  <c:v>Только AVX</c:v>
                </c:pt>
                <c:pt idx="3">
                  <c:v>Только скалярный</c:v>
                </c:pt>
              </c:strCache>
            </c:strRef>
          </c:cat>
          <c:val>
            <c:numRef>
              <c:f>B_S_RULES!$B$75:$B$78</c:f>
              <c:numCache>
                <c:formatCode>General</c:formatCode>
                <c:ptCount val="4"/>
                <c:pt idx="0">
                  <c:v>831957.96100000001</c:v>
                </c:pt>
                <c:pt idx="1">
                  <c:v>153136.18</c:v>
                </c:pt>
                <c:pt idx="2">
                  <c:v>9580.3580000000002</c:v>
                </c:pt>
                <c:pt idx="3">
                  <c:v>166728.14000000001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02C-4845-BA21-DBC7586FC196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axId val="165942735"/>
        <c:axId val="165941487"/>
      </c:barChart>
      <c:lineChart>
        <c:grouping val="standard"/>
        <c:varyColors val="0"/>
        <c:ser>
          <c:idx val="1"/>
          <c:order val="1"/>
          <c:tx>
            <c:v>Процент от базового</c:v>
          </c:tx>
          <c:spPr>
            <a:ln w="28575" cap="rnd">
              <a:solidFill>
                <a:srgbClr val="FF0000"/>
              </a:solidFill>
              <a:round/>
            </a:ln>
            <a:effectLst/>
          </c:spPr>
          <c:marker>
            <c:symbol val="none"/>
          </c:marker>
          <c:dLbls>
            <c:dLbl>
              <c:idx val="0"/>
              <c:layout>
                <c:manualLayout>
                  <c:x val="2.2314222022116505E-2"/>
                  <c:y val="-3.703703703703707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B02C-4845-BA21-DBC7586FC196}"/>
                </c:ext>
              </c:extLst>
            </c:dLbl>
            <c:dLbl>
              <c:idx val="1"/>
              <c:layout>
                <c:manualLayout>
                  <c:x val="8.3678332582937092E-3"/>
                  <c:y val="-4.6296296296296294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B02C-4845-BA21-DBC7586FC196}"/>
                </c:ext>
              </c:extLst>
            </c:dLbl>
            <c:dLbl>
              <c:idx val="2"/>
              <c:layout>
                <c:manualLayout>
                  <c:x val="2.7892777527645696E-3"/>
                  <c:y val="-6.0185185185185272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B02C-4845-BA21-DBC7586FC196}"/>
                </c:ext>
              </c:extLst>
            </c:dLbl>
            <c:dLbl>
              <c:idx val="3"/>
              <c:layout>
                <c:manualLayout>
                  <c:x val="2.7892777527646719E-3"/>
                  <c:y val="-6.0185185185185182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B02C-4845-BA21-DBC7586FC196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B_S_RULES!$A$75:$A$78</c:f>
              <c:strCache>
                <c:ptCount val="4"/>
                <c:pt idx="0">
                  <c:v>Базовый</c:v>
                </c:pt>
                <c:pt idx="1">
                  <c:v>AVX+bitset</c:v>
                </c:pt>
                <c:pt idx="2">
                  <c:v>Только AVX</c:v>
                </c:pt>
                <c:pt idx="3">
                  <c:v>Только скалярный</c:v>
                </c:pt>
              </c:strCache>
            </c:strRef>
          </c:cat>
          <c:val>
            <c:numRef>
              <c:f>B_S_RULES!$D$75:$D$78</c:f>
              <c:numCache>
                <c:formatCode>0.00%</c:formatCode>
                <c:ptCount val="4"/>
                <c:pt idx="0">
                  <c:v>1</c:v>
                </c:pt>
                <c:pt idx="1">
                  <c:v>0.18406720913630392</c:v>
                </c:pt>
                <c:pt idx="2">
                  <c:v>1.1515435213198231E-2</c:v>
                </c:pt>
                <c:pt idx="3">
                  <c:v>0.20040452500700334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B02C-4845-BA21-DBC7586FC19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463574655"/>
        <c:axId val="463573823"/>
      </c:lineChart>
      <c:catAx>
        <c:axId val="165942735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/>
                  <a:t>Название алгоритма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5941487"/>
        <c:crosses val="autoZero"/>
        <c:auto val="1"/>
        <c:lblAlgn val="ctr"/>
        <c:lblOffset val="100"/>
        <c:noMultiLvlLbl val="0"/>
      </c:catAx>
      <c:valAx>
        <c:axId val="165941487"/>
        <c:scaling>
          <c:orientation val="minMax"/>
          <c:max val="831958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/>
                  <a:t>Время</a:t>
                </a:r>
                <a:r>
                  <a:rPr lang="ru-RU" baseline="0"/>
                  <a:t> выполнения, мкс</a:t>
                </a:r>
                <a:endParaRPr lang="ru-RU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5942735"/>
        <c:crosses val="autoZero"/>
        <c:crossBetween val="between"/>
      </c:valAx>
      <c:valAx>
        <c:axId val="463573823"/>
        <c:scaling>
          <c:orientation val="minMax"/>
          <c:max val="1"/>
          <c:min val="0"/>
        </c:scaling>
        <c:delete val="0"/>
        <c:axPos val="r"/>
        <c:majorGridlines>
          <c:spPr>
            <a:ln w="12700" cap="flat" cmpd="sng" algn="ctr">
              <a:solidFill>
                <a:srgbClr val="FF0000">
                  <a:alpha val="30000"/>
                </a:srgbClr>
              </a:solidFill>
              <a:prstDash val="dash"/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3574655"/>
        <c:crosses val="max"/>
        <c:crossBetween val="between"/>
        <c:majorUnit val="0.2"/>
      </c:valAx>
      <c:catAx>
        <c:axId val="4635746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463573823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20">
  <a:schemeClr val="dk1"/>
  <cs:variation>
    <a:tint val="88500"/>
  </cs:variation>
  <cs:variation>
    <a:tint val="55000"/>
  </cs:variation>
  <cs:variation>
    <a:tint val="75000"/>
  </cs:variation>
  <cs:variation>
    <a:tint val="98500"/>
  </cs:variation>
  <cs:variation>
    <a:tint val="30000"/>
  </cs:variation>
  <cs:variation>
    <a:tint val="60000"/>
  </cs:variation>
  <cs:variation>
    <a:tint val="8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pPr>
              <a:defRPr/>
            </a:pPr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>
      <a:lnSpc>
        <a:spcPct val="100000"/>
      </a:lnSpc>
      <a:spcBef>
        <a:spcPts val="0"/>
      </a:spcBef>
      <a:spcAft>
        <a:spcPts val="0"/>
      </a:spcAft>
    </a:defPPr>
    <a:lvl1pPr marR="0" lv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badi" panose="020B0604020104020204" pitchFamily="34" charset="0"/>
        <a:cs typeface="Arial"/>
      </a:defRPr>
    </a:lvl1pPr>
    <a:lvl2pPr marR="0" lvl="1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dirty="0">
              <a:latin typeface="Abadi" panose="020B0604020104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30B5463-65C2-FBEE-F8BF-E5BCC8E28A40}" type="slidenum">
              <a:rPr>
                <a:latin typeface="Abadi" panose="020B0604020104020204" pitchFamily="34" charset="0"/>
              </a:rPr>
              <a:t>1</a:t>
            </a:fld>
            <a:endParaRPr>
              <a:latin typeface="Abadi" panose="020B060402010402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9867003" name="Google Shape;791;g1161526d799_0_1444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278723" name="Google Shape;792;g1161526d799_0_1444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Клеточные автоматы – мощный инструмент для моделирования различных процессов в различных областях науки</a:t>
            </a:r>
            <a:r>
              <a:rPr lang="en-US" dirty="0">
                <a:latin typeface="Abadi" panose="020B0604020104020204" pitchFamily="34" charset="0"/>
              </a:rPr>
              <a:t>:</a:t>
            </a:r>
            <a:r>
              <a:rPr lang="ru-RU" dirty="0">
                <a:latin typeface="Abadi" panose="020B0604020104020204" pitchFamily="34" charset="0"/>
              </a:rPr>
              <a:t> от физики и химии, до социологии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Но нет простых и мощных программных продуктов, которые бы позволили легко встроить клеточный автомат в свою программу для использовании в научных вычислениях, или в игры (например, для процедурной генерации, фоновых тем, головоломок и т.п.).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На рисунке изображена </a:t>
            </a:r>
            <a:r>
              <a:rPr lang="ru-RU" dirty="0" err="1">
                <a:latin typeface="Abadi" panose="020B0604020104020204" pitchFamily="34" charset="0"/>
              </a:rPr>
              <a:t>гифка</a:t>
            </a:r>
            <a:r>
              <a:rPr lang="ru-RU" dirty="0">
                <a:latin typeface="Abadi" panose="020B0604020104020204" pitchFamily="34" charset="0"/>
              </a:rPr>
              <a:t> с хоть и довольно простым, но моделированием лесных пожаров</a:t>
            </a:r>
            <a:endParaRPr dirty="0">
              <a:latin typeface="Abadi" panose="020B0604020104020204" pitchFamily="34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9867003" name="Google Shape;791;g1161526d799_0_1444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278723" name="Google Shape;792;g1161526d799_0_1444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Целью ВКР является разработка высокопроизводительной библиотеки для моделирования клеточных автоматов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Для этого были поставлены следующие задачи:</a:t>
            </a:r>
          </a:p>
          <a:p>
            <a:pPr marL="228600" lvl="0" indent="-228600" algn="l">
              <a:spcBef>
                <a:spcPts val="0"/>
              </a:spcBef>
              <a:spcAft>
                <a:spcPts val="0"/>
              </a:spcAft>
              <a:buAutoNum type="arabicParenR"/>
              <a:defRPr/>
            </a:pPr>
            <a:r>
              <a:rPr lang="ru-RU" dirty="0">
                <a:latin typeface="Abadi" panose="020B0604020104020204" pitchFamily="34" charset="0"/>
              </a:rPr>
              <a:t>Узнать, какие особенности современных процессоров позволяют добиться максимальной производительности (правильное расположение данных, использование предсказателя ветвлений, </a:t>
            </a:r>
            <a:r>
              <a:rPr lang="ru-RU" dirty="0" err="1">
                <a:latin typeface="Abadi" panose="020B0604020104020204" pitchFamily="34" charset="0"/>
              </a:rPr>
              <a:t>предвыборщика</a:t>
            </a:r>
            <a:r>
              <a:rPr lang="ru-RU" dirty="0">
                <a:latin typeface="Abadi" panose="020B0604020104020204" pitchFamily="34" charset="0"/>
              </a:rPr>
              <a:t> данных, правильная упаковка данных, SIMD, SISD и так далее)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2) Спроектировать архитектуру для удобства использования другими языками через ABI с соглашением вызовов </a:t>
            </a:r>
            <a:r>
              <a:rPr lang="ru-RU" dirty="0" err="1">
                <a:latin typeface="Abadi" panose="020B0604020104020204" pitchFamily="34" charset="0"/>
              </a:rPr>
              <a:t>cdecl</a:t>
            </a:r>
            <a:endParaRPr lang="ru-RU" dirty="0">
              <a:latin typeface="Abadi" panose="020B0604020104020204" pitchFamily="34" charset="0"/>
            </a:endParaRP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3) на основе полученных данных с пункта 1 реализовать различные алгоритмы, сравнить их производительность и взять самое лучшее из них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4) на основе предыдущих пунктов реализовать конечную библиотеку</a:t>
            </a:r>
            <a:endParaRPr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14577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1401423" name="Google Shape;741;g1161526d799_0_1356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7547268" name="Google Shape;742;g1161526d799_0_1356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В качестве языка программирования был выбран </a:t>
            </a:r>
            <a:r>
              <a:rPr lang="en-US" dirty="0">
                <a:latin typeface="Abadi" panose="020B0604020104020204" pitchFamily="34" charset="0"/>
              </a:rPr>
              <a:t>C++23</a:t>
            </a:r>
            <a:r>
              <a:rPr lang="ru-RU" dirty="0">
                <a:latin typeface="Abadi" panose="020B0604020104020204" pitchFamily="34" charset="0"/>
              </a:rPr>
              <a:t>., который позволяет писать быстрый код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Выбранной </a:t>
            </a:r>
            <a:r>
              <a:rPr lang="en-US" dirty="0">
                <a:latin typeface="Abadi" panose="020B0604020104020204" pitchFamily="34" charset="0"/>
              </a:rPr>
              <a:t>IDE</a:t>
            </a:r>
            <a:r>
              <a:rPr lang="ru-RU" dirty="0">
                <a:latin typeface="Abadi" panose="020B0604020104020204" pitchFamily="34" charset="0"/>
              </a:rPr>
              <a:t> стала </a:t>
            </a:r>
            <a:r>
              <a:rPr lang="en-US" dirty="0">
                <a:latin typeface="Abadi" panose="020B0604020104020204" pitchFamily="34" charset="0"/>
              </a:rPr>
              <a:t>VS2026</a:t>
            </a:r>
            <a:r>
              <a:rPr lang="ru-RU" dirty="0">
                <a:latin typeface="Abadi" panose="020B0604020104020204" pitchFamily="34" charset="0"/>
              </a:rPr>
              <a:t> с только-только вышедшей полноценной поддержкой 23-его стандарта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Деплой был на </a:t>
            </a:r>
            <a:r>
              <a:rPr lang="en-US" dirty="0">
                <a:latin typeface="Abadi" panose="020B0604020104020204" pitchFamily="34" charset="0"/>
              </a:rPr>
              <a:t>Windows 11</a:t>
            </a:r>
            <a:r>
              <a:rPr lang="ru-RU" dirty="0">
                <a:latin typeface="Abadi" panose="020B0604020104020204" pitchFamily="34" charset="0"/>
              </a:rPr>
              <a:t>, но нет никаких ограничений на использование и в более старых версиях </a:t>
            </a:r>
            <a:r>
              <a:rPr lang="en-US" dirty="0">
                <a:latin typeface="Abadi" panose="020B0604020104020204" pitchFamily="34" charset="0"/>
              </a:rPr>
              <a:t>Windows</a:t>
            </a:r>
            <a:r>
              <a:rPr lang="ru-RU" dirty="0">
                <a:latin typeface="Abadi" panose="020B0604020104020204" pitchFamily="34" charset="0"/>
              </a:rPr>
              <a:t>, главное, чтобы они были 64-ёх битными</a:t>
            </a:r>
            <a:endParaRPr dirty="0">
              <a:latin typeface="Abadi" panose="020B0604020104020204" pitchFamily="34" charset="0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1401423" name="Google Shape;741;g1161526d799_0_1356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7547268" name="Google Shape;742;g1161526d799_0_1356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Главной особенностью библиотеки стал автоматический выбор бэкенда, то есть реализации ядра (алгоритмов). Если публичный интерфейс отвечает только за набор предоставляемых во вне функций,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то уровень диспетчеризации отвечает за выбор правильного </a:t>
            </a:r>
            <a:r>
              <a:rPr lang="ru-RU" dirty="0" err="1">
                <a:latin typeface="Abadi" panose="020B0604020104020204" pitchFamily="34" charset="0"/>
              </a:rPr>
              <a:t>бекэнда</a:t>
            </a:r>
            <a:r>
              <a:rPr lang="ru-RU" dirty="0">
                <a:latin typeface="Abadi" panose="020B0604020104020204" pitchFamily="34" charset="0"/>
              </a:rPr>
              <a:t>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Бэкенд отвечает за саму реализацию алгоритмов</a:t>
            </a:r>
            <a:r>
              <a:rPr lang="en-US" dirty="0">
                <a:latin typeface="Abadi" panose="020B0604020104020204" pitchFamily="34" charset="0"/>
              </a:rPr>
              <a:t>:</a:t>
            </a:r>
            <a:r>
              <a:rPr lang="ru-RU" dirty="0">
                <a:latin typeface="Abadi" panose="020B0604020104020204" pitchFamily="34" charset="0"/>
              </a:rPr>
              <a:t> есть поддержка </a:t>
            </a:r>
            <a:r>
              <a:rPr lang="en-US" dirty="0">
                <a:latin typeface="Abadi" panose="020B0604020104020204" pitchFamily="34" charset="0"/>
              </a:rPr>
              <a:t>AVX</a:t>
            </a:r>
            <a:r>
              <a:rPr lang="ru-RU" dirty="0">
                <a:latin typeface="Abadi" panose="020B0604020104020204" pitchFamily="34" charset="0"/>
              </a:rPr>
              <a:t> – значит используем его. Нет </a:t>
            </a:r>
            <a:r>
              <a:rPr lang="en-US" dirty="0">
                <a:latin typeface="Abadi" panose="020B0604020104020204" pitchFamily="34" charset="0"/>
              </a:rPr>
              <a:t>AVX</a:t>
            </a:r>
            <a:r>
              <a:rPr lang="ru-RU" dirty="0">
                <a:latin typeface="Abadi" panose="020B0604020104020204" pitchFamily="34" charset="0"/>
              </a:rPr>
              <a:t>, но есть </a:t>
            </a:r>
            <a:r>
              <a:rPr lang="en-US" dirty="0">
                <a:latin typeface="Abadi" panose="020B0604020104020204" pitchFamily="34" charset="0"/>
              </a:rPr>
              <a:t>SSE? – </a:t>
            </a:r>
            <a:r>
              <a:rPr lang="ru-RU" dirty="0">
                <a:latin typeface="Abadi" panose="020B0604020104020204" pitchFamily="34" charset="0"/>
              </a:rPr>
              <a:t>значит </a:t>
            </a:r>
            <a:r>
              <a:rPr lang="en-US" dirty="0">
                <a:latin typeface="Abadi" panose="020B0604020104020204" pitchFamily="34" charset="0"/>
              </a:rPr>
              <a:t>SSE</a:t>
            </a:r>
            <a:r>
              <a:rPr lang="ru-RU" dirty="0">
                <a:latin typeface="Abadi" panose="020B0604020104020204" pitchFamily="34" charset="0"/>
              </a:rPr>
              <a:t>. Если нет и этого, то используем скалярную реализацию,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которая запустится на любом процессоре</a:t>
            </a:r>
          </a:p>
        </p:txBody>
      </p:sp>
    </p:spTree>
    <p:extLst>
      <p:ext uri="{BB962C8B-B14F-4D97-AF65-F5344CB8AC3E}">
        <p14:creationId xmlns:p14="http://schemas.microsoft.com/office/powerpoint/2010/main" val="15755861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1401423" name="Google Shape;741;g1161526d799_0_1356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7547268" name="Google Shape;742;g1161526d799_0_1356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Итерация клеточного автомата легко поддаётся декомпозиции. Первым делом ищем сумму соседей по нужной окрестности (Мура</a:t>
            </a:r>
            <a:r>
              <a:rPr lang="en-US" dirty="0">
                <a:latin typeface="Abadi" panose="020B0604020104020204" pitchFamily="34" charset="0"/>
              </a:rPr>
              <a:t> [</a:t>
            </a:r>
            <a:r>
              <a:rPr lang="ru-RU" dirty="0">
                <a:latin typeface="Abadi" panose="020B0604020104020204" pitchFamily="34" charset="0"/>
              </a:rPr>
              <a:t>взгляните на рисунок 1</a:t>
            </a:r>
            <a:r>
              <a:rPr lang="en-US" dirty="0">
                <a:latin typeface="Abadi" panose="020B0604020104020204" pitchFamily="34" charset="0"/>
              </a:rPr>
              <a:t>]</a:t>
            </a:r>
            <a:r>
              <a:rPr lang="ru-RU" dirty="0">
                <a:latin typeface="Abadi" panose="020B0604020104020204" pitchFamily="34" charset="0"/>
              </a:rPr>
              <a:t> или фон Неймана</a:t>
            </a:r>
            <a:r>
              <a:rPr lang="en-US" dirty="0">
                <a:latin typeface="Abadi" panose="020B0604020104020204" pitchFamily="34" charset="0"/>
              </a:rPr>
              <a:t> [</a:t>
            </a:r>
            <a:r>
              <a:rPr lang="ru-RU" dirty="0">
                <a:latin typeface="Abadi" panose="020B0604020104020204" pitchFamily="34" charset="0"/>
              </a:rPr>
              <a:t>представлено на рисунке 2</a:t>
            </a:r>
            <a:r>
              <a:rPr lang="en-US" dirty="0">
                <a:latin typeface="Abadi" panose="020B0604020104020204" pitchFamily="34" charset="0"/>
              </a:rPr>
              <a:t>]</a:t>
            </a:r>
            <a:r>
              <a:rPr lang="ru-RU" dirty="0">
                <a:latin typeface="Abadi" panose="020B0604020104020204" pitchFamily="34" charset="0"/>
              </a:rPr>
              <a:t>), а затем в зависимости от этой суммы и состояния этой клетки применяются правила </a:t>
            </a:r>
            <a:r>
              <a:rPr lang="en-US" dirty="0">
                <a:latin typeface="Abadi" panose="020B0604020104020204" pitchFamily="34" charset="0"/>
              </a:rPr>
              <a:t>B</a:t>
            </a:r>
            <a:r>
              <a:rPr lang="ru-RU" dirty="0">
                <a:latin typeface="Abadi" panose="020B0604020104020204" pitchFamily="34" charset="0"/>
              </a:rPr>
              <a:t> и </a:t>
            </a:r>
            <a:r>
              <a:rPr lang="en-US" dirty="0">
                <a:latin typeface="Abadi" panose="020B0604020104020204" pitchFamily="34" charset="0"/>
              </a:rPr>
              <a:t>S</a:t>
            </a:r>
            <a:r>
              <a:rPr lang="ru-RU" dirty="0">
                <a:latin typeface="Abadi" panose="020B0604020104020204" pitchFamily="34" charset="0"/>
              </a:rPr>
              <a:t>, для определения состояния клетки на следующий ход.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Если разбить на две отдельные операции, можно разрабатывать и оптимизировать отдельные куски программы (то есть эти самые операции), что должно упростить разработку и время на тестирование</a:t>
            </a:r>
            <a:endParaRPr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31590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3597852" name="Google Shape;791;g1161526d799_0_1444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695146" name="Google Shape;792;g1161526d799_0_1444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Если заходит дело про оптимизацию времени выполнения, не стоит пропускать разницу между </a:t>
            </a:r>
            <a:r>
              <a:rPr lang="en-US" dirty="0">
                <a:latin typeface="Abadi" panose="020B0604020104020204" pitchFamily="34" charset="0"/>
              </a:rPr>
              <a:t>SISD</a:t>
            </a:r>
            <a:r>
              <a:rPr lang="ru-RU" dirty="0">
                <a:latin typeface="Abadi" panose="020B0604020104020204" pitchFamily="34" charset="0"/>
              </a:rPr>
              <a:t> и </a:t>
            </a:r>
            <a:r>
              <a:rPr lang="en-US" dirty="0">
                <a:latin typeface="Abadi" panose="020B0604020104020204" pitchFamily="34" charset="0"/>
              </a:rPr>
              <a:t>SIMD</a:t>
            </a:r>
            <a:r>
              <a:rPr lang="ru-RU" dirty="0">
                <a:latin typeface="Abadi" panose="020B0604020104020204" pitchFamily="34" charset="0"/>
              </a:rPr>
              <a:t>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dirty="0">
                <a:latin typeface="Abadi" panose="020B0604020104020204" pitchFamily="34" charset="0"/>
              </a:rPr>
              <a:t>SISD</a:t>
            </a:r>
            <a:r>
              <a:rPr lang="ru-RU" dirty="0">
                <a:latin typeface="Abadi" panose="020B0604020104020204" pitchFamily="34" charset="0"/>
              </a:rPr>
              <a:t> – это привычные нам операции, которые мы пишем в коде</a:t>
            </a:r>
            <a:r>
              <a:rPr lang="en-US" dirty="0">
                <a:latin typeface="Abadi" panose="020B0604020104020204" pitchFamily="34" charset="0"/>
              </a:rPr>
              <a:t>:</a:t>
            </a:r>
            <a:r>
              <a:rPr lang="ru-RU" dirty="0">
                <a:latin typeface="Abadi" panose="020B0604020104020204" pitchFamily="34" charset="0"/>
              </a:rPr>
              <a:t> прибавить к одному числу другое, поменять значение в массиве по конкретному индексу на другое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Но </a:t>
            </a:r>
            <a:r>
              <a:rPr lang="en-US" dirty="0">
                <a:latin typeface="Abadi" panose="020B0604020104020204" pitchFamily="34" charset="0"/>
              </a:rPr>
              <a:t>SISD</a:t>
            </a:r>
            <a:r>
              <a:rPr lang="ru-RU" dirty="0">
                <a:latin typeface="Abadi" panose="020B0604020104020204" pitchFamily="34" charset="0"/>
              </a:rPr>
              <a:t> не позволяет использовать главное преимущество современных процессоров – векторизацию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dirty="0">
                <a:latin typeface="Abadi" panose="020B0604020104020204" pitchFamily="34" charset="0"/>
              </a:rPr>
              <a:t>SIMD</a:t>
            </a:r>
            <a:r>
              <a:rPr lang="ru-RU" dirty="0">
                <a:latin typeface="Abadi" panose="020B0604020104020204" pitchFamily="34" charset="0"/>
              </a:rPr>
              <a:t> же работает иначе, он оперирует блоками данных и применяет к ним инструкцию. Привычное «прибавить к одному числу другое» превращается в «к каждому элементу блока данных прибавить другой блок данных» и т.д.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Это позволяет кратно повысить производительность, ценой повышения сложности кода</a:t>
            </a:r>
            <a:endParaRPr dirty="0">
              <a:latin typeface="Abadi" panose="020B0604020104020204" pitchFamily="34" charset="0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3597852" name="Google Shape;791;g1161526d799_0_1444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695146" name="Google Shape;792;g1161526d799_0_1444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Вспоминая про декомпозицию</a:t>
            </a:r>
            <a:r>
              <a:rPr lang="en-US" dirty="0">
                <a:latin typeface="Abadi" panose="020B0604020104020204" pitchFamily="34" charset="0"/>
              </a:rPr>
              <a:t>:</a:t>
            </a:r>
            <a:r>
              <a:rPr lang="ru-RU" dirty="0">
                <a:latin typeface="Abadi" panose="020B0604020104020204" pitchFamily="34" charset="0"/>
              </a:rPr>
              <a:t> было разработано 6 различных алгоритмов для поиска сумм в окрестности Мура, а так же был разработан собственный бенчмарк. Замерялось время выполнения 1000 итераций по массивам 4096*4096 элементов. Он замерял такие параметры, как</a:t>
            </a:r>
            <a:r>
              <a:rPr lang="en-US" dirty="0">
                <a:latin typeface="Abadi" panose="020B0604020104020204" pitchFamily="34" charset="0"/>
              </a:rPr>
              <a:t>:</a:t>
            </a:r>
            <a:r>
              <a:rPr lang="ru-RU" dirty="0">
                <a:latin typeface="Abadi" panose="020B0604020104020204" pitchFamily="34" charset="0"/>
              </a:rPr>
              <a:t> Минимальное, Среднее, Максимальное время выполнения, а так же перцентили времени. На гистограмме отображено преимущество во времени выполнения разработанных алгоритмов перед самым простым и наивным</a:t>
            </a:r>
            <a:endParaRPr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18589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3597852" name="Google Shape;791;g1161526d799_0_1444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695146" name="Google Shape;792;g1161526d799_0_1444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Для применения правил </a:t>
            </a:r>
            <a:r>
              <a:rPr lang="en-US" dirty="0">
                <a:latin typeface="Abadi" panose="020B0604020104020204" pitchFamily="34" charset="0"/>
              </a:rPr>
              <a:t>B</a:t>
            </a:r>
            <a:r>
              <a:rPr lang="ru-RU" dirty="0">
                <a:latin typeface="Abadi" panose="020B0604020104020204" pitchFamily="34" charset="0"/>
              </a:rPr>
              <a:t> и </a:t>
            </a:r>
            <a:r>
              <a:rPr lang="en-US" dirty="0">
                <a:latin typeface="Abadi" panose="020B0604020104020204" pitchFamily="34" charset="0"/>
              </a:rPr>
              <a:t>S</a:t>
            </a:r>
            <a:r>
              <a:rPr lang="ru-RU" dirty="0">
                <a:latin typeface="Abadi" panose="020B0604020104020204" pitchFamily="34" charset="0"/>
              </a:rPr>
              <a:t> были разработаны уже 7 алгоритмов. Сравнительная гистограмма так же представлена на экране. Отмечу, что </a:t>
            </a:r>
            <a:r>
              <a:rPr lang="en-US" dirty="0">
                <a:latin typeface="Abadi" panose="020B0604020104020204" pitchFamily="34" charset="0"/>
              </a:rPr>
              <a:t>SSE</a:t>
            </a:r>
            <a:r>
              <a:rPr lang="ru-RU" dirty="0">
                <a:latin typeface="Abadi" panose="020B0604020104020204" pitchFamily="34" charset="0"/>
              </a:rPr>
              <a:t> и </a:t>
            </a:r>
            <a:r>
              <a:rPr lang="en-US" dirty="0">
                <a:latin typeface="Abadi" panose="020B0604020104020204" pitchFamily="34" charset="0"/>
              </a:rPr>
              <a:t>AVX</a:t>
            </a:r>
            <a:r>
              <a:rPr lang="ru-RU" dirty="0">
                <a:latin typeface="Abadi" panose="020B0604020104020204" pitchFamily="34" charset="0"/>
              </a:rPr>
              <a:t> из-за своей низкой производительности </a:t>
            </a:r>
            <a:r>
              <a:rPr lang="ru-RU" sz="1200" b="1" dirty="0">
                <a:latin typeface="Abadi" panose="020B0604020104020204" pitchFamily="34" charset="0"/>
              </a:rPr>
              <a:t>именно</a:t>
            </a:r>
            <a:r>
              <a:rPr lang="ru-RU" dirty="0">
                <a:latin typeface="Abadi" panose="020B0604020104020204" pitchFamily="34" charset="0"/>
              </a:rPr>
              <a:t> в бенчмарке</a:t>
            </a:r>
            <a:r>
              <a:rPr lang="en-US" dirty="0">
                <a:latin typeface="Abadi" panose="020B0604020104020204" pitchFamily="34" charset="0"/>
              </a:rPr>
              <a:t> </a:t>
            </a:r>
            <a:r>
              <a:rPr lang="ru-RU" dirty="0">
                <a:latin typeface="Abadi" panose="020B0604020104020204" pitchFamily="34" charset="0"/>
              </a:rPr>
              <a:t>не вошли в гистограмму</a:t>
            </a:r>
            <a:endParaRPr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63986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3597852" name="Google Shape;791;g1161526d799_0_1444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695146" name="Google Shape;792;g1161526d799_0_1444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Собрав назад декомпозированные задачи в алгоритмы, я получил 4 общих реализации. Если принять базовую реализацию за 100</a:t>
            </a:r>
            <a:r>
              <a:rPr lang="en-US" dirty="0">
                <a:latin typeface="Abadi" panose="020B0604020104020204" pitchFamily="34" charset="0"/>
              </a:rPr>
              <a:t>%</a:t>
            </a:r>
            <a:r>
              <a:rPr lang="ru-RU" dirty="0">
                <a:latin typeface="Abadi" panose="020B0604020104020204" pitchFamily="34" charset="0"/>
              </a:rPr>
              <a:t>, то использование </a:t>
            </a:r>
            <a:r>
              <a:rPr lang="en-US" dirty="0">
                <a:latin typeface="Abadi" panose="020B0604020104020204" pitchFamily="34" charset="0"/>
              </a:rPr>
              <a:t>AVX</a:t>
            </a:r>
            <a:r>
              <a:rPr lang="ru-RU" dirty="0">
                <a:latin typeface="Abadi" panose="020B0604020104020204" pitchFamily="34" charset="0"/>
              </a:rPr>
              <a:t> для поиска сумм, а </a:t>
            </a:r>
            <a:r>
              <a:rPr lang="en-US" dirty="0" err="1">
                <a:latin typeface="Abadi" panose="020B0604020104020204" pitchFamily="34" charset="0"/>
              </a:rPr>
              <a:t>bitset</a:t>
            </a:r>
            <a:r>
              <a:rPr lang="ru-RU" dirty="0">
                <a:latin typeface="Abadi" panose="020B0604020104020204" pitchFamily="34" charset="0"/>
              </a:rPr>
              <a:t> для применения правил, то получится что они займут всего 18,4</a:t>
            </a:r>
            <a:r>
              <a:rPr lang="en-US" dirty="0">
                <a:latin typeface="Abadi" panose="020B0604020104020204" pitchFamily="34" charset="0"/>
              </a:rPr>
              <a:t>%</a:t>
            </a:r>
            <a:r>
              <a:rPr lang="ru-RU" dirty="0">
                <a:latin typeface="Abadi" panose="020B0604020104020204" pitchFamily="34" charset="0"/>
              </a:rPr>
              <a:t> времени выполнения. Использование </a:t>
            </a:r>
            <a:r>
              <a:rPr lang="en-US" dirty="0">
                <a:latin typeface="Abadi" panose="020B0604020104020204" pitchFamily="34" charset="0"/>
              </a:rPr>
              <a:t>AVX</a:t>
            </a:r>
            <a:r>
              <a:rPr lang="ru-RU" dirty="0">
                <a:latin typeface="Abadi" panose="020B0604020104020204" pitchFamily="34" charset="0"/>
              </a:rPr>
              <a:t> и для суммирования и для применения правил ещё сильнее повышает производительность – он занимает всего 1,2</a:t>
            </a:r>
            <a:r>
              <a:rPr lang="en-US" dirty="0">
                <a:latin typeface="Abadi" panose="020B0604020104020204" pitchFamily="34" charset="0"/>
              </a:rPr>
              <a:t>%</a:t>
            </a:r>
            <a:r>
              <a:rPr lang="ru-RU" dirty="0">
                <a:latin typeface="Abadi" panose="020B0604020104020204" pitchFamily="34" charset="0"/>
              </a:rPr>
              <a:t> времени.  Использование только самых оптимизированных скалярных алгоритмов занимает 20</a:t>
            </a:r>
            <a:r>
              <a:rPr lang="en-US" dirty="0">
                <a:latin typeface="Abadi" panose="020B0604020104020204" pitchFamily="34" charset="0"/>
              </a:rPr>
              <a:t>%</a:t>
            </a:r>
            <a:r>
              <a:rPr lang="ru-RU" dirty="0">
                <a:latin typeface="Abadi" panose="020B0604020104020204" pitchFamily="34" charset="0"/>
              </a:rPr>
              <a:t>, что тоже неплохо, так как повышает производительность в 5 раз</a:t>
            </a:r>
            <a:endParaRPr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95849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Section header" type="secHead" userDrawn="1">
  <p:cSld name="SECTION_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9" name="Google Shape;29;p3"/>
          <p:cNvGrpSpPr/>
          <p:nvPr/>
        </p:nvGrpSpPr>
        <p:grpSpPr bwMode="auto">
          <a:xfrm>
            <a:off x="69150" y="137187"/>
            <a:ext cx="9031450" cy="282372"/>
            <a:chOff x="69150" y="137187"/>
            <a:chExt cx="9031450" cy="282372"/>
          </a:xfrm>
        </p:grpSpPr>
        <p:cxnSp>
          <p:nvCxnSpPr>
            <p:cNvPr id="30" name="Google Shape;30;p3"/>
            <p:cNvCxnSpPr>
              <a:cxnSpLocks/>
            </p:cNvCxnSpPr>
            <p:nvPr/>
          </p:nvCxnSpPr>
          <p:spPr bwMode="auto">
            <a:xfrm>
              <a:off x="78699" y="278373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>
              <a:cxnSpLocks/>
            </p:cNvCxnSpPr>
            <p:nvPr/>
          </p:nvCxnSpPr>
          <p:spPr bwMode="auto">
            <a:xfrm>
              <a:off x="69150" y="207780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>
              <a:cxnSpLocks/>
            </p:cNvCxnSpPr>
            <p:nvPr/>
          </p:nvCxnSpPr>
          <p:spPr bwMode="auto">
            <a:xfrm>
              <a:off x="73925" y="137187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>
              <a:cxnSpLocks/>
            </p:cNvCxnSpPr>
            <p:nvPr/>
          </p:nvCxnSpPr>
          <p:spPr bwMode="auto">
            <a:xfrm>
              <a:off x="78699" y="419559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>
              <a:cxnSpLocks/>
            </p:cNvCxnSpPr>
            <p:nvPr/>
          </p:nvCxnSpPr>
          <p:spPr bwMode="auto">
            <a:xfrm>
              <a:off x="78699" y="348966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5" name="Google Shape;35;p3"/>
          <p:cNvSpPr/>
          <p:nvPr/>
        </p:nvSpPr>
        <p:spPr bwMode="auto">
          <a:xfrm>
            <a:off x="70625" y="64225"/>
            <a:ext cx="9028500" cy="5028000"/>
          </a:xfrm>
          <a:prstGeom prst="roundRect">
            <a:avLst>
              <a:gd name="adj" fmla="val 2044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  <p:grpSp>
        <p:nvGrpSpPr>
          <p:cNvPr id="36" name="Google Shape;36;p3"/>
          <p:cNvGrpSpPr/>
          <p:nvPr/>
        </p:nvGrpSpPr>
        <p:grpSpPr bwMode="auto">
          <a:xfrm>
            <a:off x="234375" y="117804"/>
            <a:ext cx="256800" cy="256800"/>
            <a:chOff x="234375" y="110636"/>
            <a:chExt cx="256800" cy="256800"/>
          </a:xfrm>
        </p:grpSpPr>
        <p:sp>
          <p:nvSpPr>
            <p:cNvPr id="37" name="Google Shape;37;p3"/>
            <p:cNvSpPr/>
            <p:nvPr/>
          </p:nvSpPr>
          <p:spPr bwMode="auto">
            <a:xfrm>
              <a:off x="234375" y="110636"/>
              <a:ext cx="256800" cy="2568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38" name="Google Shape;38;p3"/>
            <p:cNvSpPr/>
            <p:nvPr/>
          </p:nvSpPr>
          <p:spPr bwMode="auto">
            <a:xfrm>
              <a:off x="234375" y="110636"/>
              <a:ext cx="256800" cy="256800"/>
            </a:xfrm>
            <a:prstGeom prst="mathMultiply">
              <a:avLst>
                <a:gd name="adj1" fmla="val 23520"/>
              </a:avLst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</p:grpSp>
      <p:cxnSp>
        <p:nvCxnSpPr>
          <p:cNvPr id="39" name="Google Shape;39;p3"/>
          <p:cNvCxnSpPr>
            <a:cxnSpLocks/>
          </p:cNvCxnSpPr>
          <p:nvPr/>
        </p:nvCxnSpPr>
        <p:spPr bwMode="auto">
          <a:xfrm>
            <a:off x="73925" y="5008650"/>
            <a:ext cx="90219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40" name="Google Shape;40;p3"/>
          <p:cNvGrpSpPr/>
          <p:nvPr/>
        </p:nvGrpSpPr>
        <p:grpSpPr bwMode="auto">
          <a:xfrm>
            <a:off x="6760299" y="117804"/>
            <a:ext cx="2161200" cy="256800"/>
            <a:chOff x="6760299" y="96350"/>
            <a:chExt cx="2161200" cy="256800"/>
          </a:xfrm>
        </p:grpSpPr>
        <p:sp>
          <p:nvSpPr>
            <p:cNvPr id="41" name="Google Shape;41;p3"/>
            <p:cNvSpPr/>
            <p:nvPr/>
          </p:nvSpPr>
          <p:spPr bwMode="auto">
            <a:xfrm>
              <a:off x="6760299" y="96350"/>
              <a:ext cx="2161200" cy="2568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grpSp>
          <p:nvGrpSpPr>
            <p:cNvPr id="42" name="Google Shape;42;p3"/>
            <p:cNvGrpSpPr/>
            <p:nvPr/>
          </p:nvGrpSpPr>
          <p:grpSpPr bwMode="auto">
            <a:xfrm>
              <a:off x="8683881" y="115948"/>
              <a:ext cx="159361" cy="217605"/>
              <a:chOff x="2025348" y="3145361"/>
              <a:chExt cx="406327" cy="554831"/>
            </a:xfrm>
          </p:grpSpPr>
          <p:sp>
            <p:nvSpPr>
              <p:cNvPr id="43" name="Google Shape;43;p3"/>
              <p:cNvSpPr/>
              <p:nvPr/>
            </p:nvSpPr>
            <p:spPr bwMode="auto">
              <a:xfrm>
                <a:off x="2173889" y="3589660"/>
                <a:ext cx="184122" cy="110532"/>
              </a:xfrm>
              <a:custGeom>
                <a:avLst/>
                <a:gdLst/>
                <a:ahLst/>
                <a:cxnLst/>
                <a:rect l="l" t="t" r="r" b="b"/>
                <a:pathLst>
                  <a:path w="5004" h="3004" extrusionOk="0">
                    <a:moveTo>
                      <a:pt x="1001" y="1"/>
                    </a:moveTo>
                    <a:lnTo>
                      <a:pt x="1001" y="1002"/>
                    </a:lnTo>
                    <a:lnTo>
                      <a:pt x="0" y="1002"/>
                    </a:lnTo>
                    <a:lnTo>
                      <a:pt x="0" y="2002"/>
                    </a:lnTo>
                    <a:lnTo>
                      <a:pt x="1001" y="2002"/>
                    </a:lnTo>
                    <a:lnTo>
                      <a:pt x="1001" y="3003"/>
                    </a:lnTo>
                    <a:lnTo>
                      <a:pt x="4003" y="3003"/>
                    </a:lnTo>
                    <a:lnTo>
                      <a:pt x="4003" y="2002"/>
                    </a:lnTo>
                    <a:lnTo>
                      <a:pt x="5004" y="2002"/>
                    </a:lnTo>
                    <a:lnTo>
                      <a:pt x="5004" y="1002"/>
                    </a:lnTo>
                    <a:lnTo>
                      <a:pt x="4003" y="1002"/>
                    </a:lnTo>
                    <a:lnTo>
                      <a:pt x="400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 dirty="0">
                  <a:latin typeface="Abadi" panose="020B0604020104020204" pitchFamily="34" charset="0"/>
                </a:endParaRPr>
              </a:p>
            </p:txBody>
          </p:sp>
          <p:sp>
            <p:nvSpPr>
              <p:cNvPr id="44" name="Google Shape;44;p3"/>
              <p:cNvSpPr/>
              <p:nvPr/>
            </p:nvSpPr>
            <p:spPr bwMode="auto">
              <a:xfrm>
                <a:off x="2025348" y="3145361"/>
                <a:ext cx="406327" cy="406290"/>
              </a:xfrm>
              <a:custGeom>
                <a:avLst/>
                <a:gdLst/>
                <a:ahLst/>
                <a:cxnLst/>
                <a:rect l="l" t="t" r="r" b="b"/>
                <a:pathLst>
                  <a:path w="11043" h="11042" extrusionOk="0">
                    <a:moveTo>
                      <a:pt x="3003" y="1"/>
                    </a:moveTo>
                    <a:lnTo>
                      <a:pt x="3003" y="1001"/>
                    </a:lnTo>
                    <a:lnTo>
                      <a:pt x="1002" y="1001"/>
                    </a:lnTo>
                    <a:lnTo>
                      <a:pt x="1002" y="2002"/>
                    </a:lnTo>
                    <a:lnTo>
                      <a:pt x="1" y="2002"/>
                    </a:lnTo>
                    <a:lnTo>
                      <a:pt x="1" y="3003"/>
                    </a:lnTo>
                    <a:lnTo>
                      <a:pt x="1" y="4037"/>
                    </a:lnTo>
                    <a:lnTo>
                      <a:pt x="1" y="5038"/>
                    </a:lnTo>
                    <a:lnTo>
                      <a:pt x="1" y="6038"/>
                    </a:lnTo>
                    <a:lnTo>
                      <a:pt x="3003" y="6038"/>
                    </a:lnTo>
                    <a:lnTo>
                      <a:pt x="3003" y="5038"/>
                    </a:lnTo>
                    <a:lnTo>
                      <a:pt x="3003" y="4037"/>
                    </a:lnTo>
                    <a:lnTo>
                      <a:pt x="3003" y="3003"/>
                    </a:lnTo>
                    <a:lnTo>
                      <a:pt x="3003" y="2002"/>
                    </a:lnTo>
                    <a:lnTo>
                      <a:pt x="4037" y="2002"/>
                    </a:lnTo>
                    <a:lnTo>
                      <a:pt x="4037" y="1001"/>
                    </a:lnTo>
                    <a:lnTo>
                      <a:pt x="7039" y="1001"/>
                    </a:lnTo>
                    <a:lnTo>
                      <a:pt x="7039" y="2002"/>
                    </a:lnTo>
                    <a:lnTo>
                      <a:pt x="8040" y="2002"/>
                    </a:lnTo>
                    <a:lnTo>
                      <a:pt x="8040" y="3003"/>
                    </a:lnTo>
                    <a:lnTo>
                      <a:pt x="8040" y="4037"/>
                    </a:lnTo>
                    <a:lnTo>
                      <a:pt x="8040" y="5038"/>
                    </a:lnTo>
                    <a:lnTo>
                      <a:pt x="8040" y="6038"/>
                    </a:lnTo>
                    <a:lnTo>
                      <a:pt x="7039" y="6038"/>
                    </a:lnTo>
                    <a:lnTo>
                      <a:pt x="7039" y="7039"/>
                    </a:lnTo>
                    <a:lnTo>
                      <a:pt x="6038" y="7039"/>
                    </a:lnTo>
                    <a:lnTo>
                      <a:pt x="6038" y="8040"/>
                    </a:lnTo>
                    <a:lnTo>
                      <a:pt x="5038" y="8040"/>
                    </a:lnTo>
                    <a:lnTo>
                      <a:pt x="5038" y="9040"/>
                    </a:lnTo>
                    <a:lnTo>
                      <a:pt x="5038" y="10041"/>
                    </a:lnTo>
                    <a:lnTo>
                      <a:pt x="5038" y="11042"/>
                    </a:lnTo>
                    <a:lnTo>
                      <a:pt x="8040" y="11042"/>
                    </a:lnTo>
                    <a:lnTo>
                      <a:pt x="8040" y="10041"/>
                    </a:lnTo>
                    <a:lnTo>
                      <a:pt x="8040" y="9040"/>
                    </a:lnTo>
                    <a:lnTo>
                      <a:pt x="8040" y="8040"/>
                    </a:lnTo>
                    <a:lnTo>
                      <a:pt x="9041" y="8040"/>
                    </a:lnTo>
                    <a:lnTo>
                      <a:pt x="9041" y="7039"/>
                    </a:lnTo>
                    <a:lnTo>
                      <a:pt x="10041" y="7039"/>
                    </a:lnTo>
                    <a:lnTo>
                      <a:pt x="10041" y="6038"/>
                    </a:lnTo>
                    <a:lnTo>
                      <a:pt x="11042" y="6038"/>
                    </a:lnTo>
                    <a:lnTo>
                      <a:pt x="11042" y="5038"/>
                    </a:lnTo>
                    <a:lnTo>
                      <a:pt x="11042" y="4037"/>
                    </a:lnTo>
                    <a:lnTo>
                      <a:pt x="11042" y="3003"/>
                    </a:lnTo>
                    <a:lnTo>
                      <a:pt x="11042" y="2002"/>
                    </a:lnTo>
                    <a:lnTo>
                      <a:pt x="10041" y="2002"/>
                    </a:lnTo>
                    <a:lnTo>
                      <a:pt x="10041" y="1001"/>
                    </a:lnTo>
                    <a:lnTo>
                      <a:pt x="8040" y="1001"/>
                    </a:lnTo>
                    <a:lnTo>
                      <a:pt x="804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 dirty="0">
                  <a:latin typeface="Abadi" panose="020B0604020104020204" pitchFamily="34" charset="0"/>
                </a:endParaRPr>
              </a:p>
            </p:txBody>
          </p:sp>
        </p:grpSp>
      </p:grpSp>
      <p:sp>
        <p:nvSpPr>
          <p:cNvPr id="45" name="Google Shape;45;p3"/>
          <p:cNvSpPr txBox="1">
            <a:spLocks noGrp="1"/>
          </p:cNvSpPr>
          <p:nvPr>
            <p:ph type="title"/>
          </p:nvPr>
        </p:nvSpPr>
        <p:spPr bwMode="auto">
          <a:xfrm>
            <a:off x="1908675" y="2364788"/>
            <a:ext cx="53265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pPr>
              <a:defRPr/>
            </a:pPr>
            <a:endParaRPr dirty="0"/>
          </a:p>
        </p:txBody>
      </p:sp>
      <p:sp>
        <p:nvSpPr>
          <p:cNvPr id="46" name="Google Shape;46;p3"/>
          <p:cNvSpPr txBox="1">
            <a:spLocks noGrp="1"/>
          </p:cNvSpPr>
          <p:nvPr>
            <p:ph type="title" idx="2" hasCustomPrompt="1"/>
          </p:nvPr>
        </p:nvSpPr>
        <p:spPr bwMode="auto">
          <a:xfrm>
            <a:off x="2996625" y="1522988"/>
            <a:ext cx="31509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pPr>
              <a:defRPr/>
            </a:pPr>
            <a:r>
              <a:rPr dirty="0"/>
              <a:t>xx%</a:t>
            </a:r>
          </a:p>
        </p:txBody>
      </p:sp>
      <p:sp>
        <p:nvSpPr>
          <p:cNvPr id="47" name="Google Shape;47;p3"/>
          <p:cNvSpPr txBox="1">
            <a:spLocks noGrp="1"/>
          </p:cNvSpPr>
          <p:nvPr>
            <p:ph type="subTitle" idx="1"/>
          </p:nvPr>
        </p:nvSpPr>
        <p:spPr bwMode="auto">
          <a:xfrm>
            <a:off x="1908825" y="3310913"/>
            <a:ext cx="5326500" cy="3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Section title and description" userDrawn="1">
  <p:cSld name="SECTION_TITLE_AND_DESCRI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5" name="Google Shape;145;p9"/>
          <p:cNvGrpSpPr/>
          <p:nvPr/>
        </p:nvGrpSpPr>
        <p:grpSpPr bwMode="auto">
          <a:xfrm>
            <a:off x="69150" y="137187"/>
            <a:ext cx="9031450" cy="282372"/>
            <a:chOff x="69150" y="137187"/>
            <a:chExt cx="9031450" cy="282372"/>
          </a:xfrm>
        </p:grpSpPr>
        <p:cxnSp>
          <p:nvCxnSpPr>
            <p:cNvPr id="146" name="Google Shape;146;p9"/>
            <p:cNvCxnSpPr>
              <a:cxnSpLocks/>
            </p:cNvCxnSpPr>
            <p:nvPr/>
          </p:nvCxnSpPr>
          <p:spPr bwMode="auto">
            <a:xfrm>
              <a:off x="78699" y="278373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7" name="Google Shape;147;p9"/>
            <p:cNvCxnSpPr>
              <a:cxnSpLocks/>
            </p:cNvCxnSpPr>
            <p:nvPr/>
          </p:nvCxnSpPr>
          <p:spPr bwMode="auto">
            <a:xfrm>
              <a:off x="69150" y="207780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" name="Google Shape;148;p9"/>
            <p:cNvCxnSpPr>
              <a:cxnSpLocks/>
            </p:cNvCxnSpPr>
            <p:nvPr/>
          </p:nvCxnSpPr>
          <p:spPr bwMode="auto">
            <a:xfrm>
              <a:off x="73925" y="137187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9" name="Google Shape;149;p9"/>
            <p:cNvCxnSpPr>
              <a:cxnSpLocks/>
            </p:cNvCxnSpPr>
            <p:nvPr/>
          </p:nvCxnSpPr>
          <p:spPr bwMode="auto">
            <a:xfrm>
              <a:off x="78699" y="419559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0" name="Google Shape;150;p9"/>
            <p:cNvCxnSpPr>
              <a:cxnSpLocks/>
            </p:cNvCxnSpPr>
            <p:nvPr/>
          </p:nvCxnSpPr>
          <p:spPr bwMode="auto">
            <a:xfrm>
              <a:off x="78699" y="348966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51" name="Google Shape;151;p9"/>
          <p:cNvSpPr/>
          <p:nvPr/>
        </p:nvSpPr>
        <p:spPr bwMode="auto">
          <a:xfrm>
            <a:off x="70625" y="64225"/>
            <a:ext cx="9028500" cy="5028000"/>
          </a:xfrm>
          <a:prstGeom prst="roundRect">
            <a:avLst>
              <a:gd name="adj" fmla="val 2044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  <p:grpSp>
        <p:nvGrpSpPr>
          <p:cNvPr id="152" name="Google Shape;152;p9"/>
          <p:cNvGrpSpPr/>
          <p:nvPr/>
        </p:nvGrpSpPr>
        <p:grpSpPr bwMode="auto">
          <a:xfrm>
            <a:off x="234375" y="117804"/>
            <a:ext cx="256800" cy="256800"/>
            <a:chOff x="234375" y="110636"/>
            <a:chExt cx="256800" cy="256800"/>
          </a:xfrm>
        </p:grpSpPr>
        <p:sp>
          <p:nvSpPr>
            <p:cNvPr id="153" name="Google Shape;153;p9"/>
            <p:cNvSpPr/>
            <p:nvPr/>
          </p:nvSpPr>
          <p:spPr bwMode="auto">
            <a:xfrm>
              <a:off x="234375" y="110636"/>
              <a:ext cx="256800" cy="2568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154" name="Google Shape;154;p9"/>
            <p:cNvSpPr/>
            <p:nvPr/>
          </p:nvSpPr>
          <p:spPr bwMode="auto">
            <a:xfrm>
              <a:off x="234375" y="110636"/>
              <a:ext cx="256800" cy="256800"/>
            </a:xfrm>
            <a:prstGeom prst="mathMultiply">
              <a:avLst>
                <a:gd name="adj1" fmla="val 23520"/>
              </a:avLst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</p:grpSp>
      <p:cxnSp>
        <p:nvCxnSpPr>
          <p:cNvPr id="155" name="Google Shape;155;p9"/>
          <p:cNvCxnSpPr>
            <a:cxnSpLocks/>
          </p:cNvCxnSpPr>
          <p:nvPr/>
        </p:nvCxnSpPr>
        <p:spPr bwMode="auto">
          <a:xfrm>
            <a:off x="73925" y="5008650"/>
            <a:ext cx="90219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56" name="Google Shape;156;p9"/>
          <p:cNvGrpSpPr/>
          <p:nvPr/>
        </p:nvGrpSpPr>
        <p:grpSpPr bwMode="auto">
          <a:xfrm>
            <a:off x="6760299" y="117804"/>
            <a:ext cx="2161200" cy="256800"/>
            <a:chOff x="6760299" y="96350"/>
            <a:chExt cx="2161200" cy="256800"/>
          </a:xfrm>
        </p:grpSpPr>
        <p:sp>
          <p:nvSpPr>
            <p:cNvPr id="157" name="Google Shape;157;p9"/>
            <p:cNvSpPr/>
            <p:nvPr/>
          </p:nvSpPr>
          <p:spPr bwMode="auto">
            <a:xfrm>
              <a:off x="6760299" y="96350"/>
              <a:ext cx="2161200" cy="2568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grpSp>
          <p:nvGrpSpPr>
            <p:cNvPr id="158" name="Google Shape;158;p9"/>
            <p:cNvGrpSpPr/>
            <p:nvPr/>
          </p:nvGrpSpPr>
          <p:grpSpPr bwMode="auto">
            <a:xfrm>
              <a:off x="8683881" y="115948"/>
              <a:ext cx="159361" cy="217605"/>
              <a:chOff x="2025348" y="3145361"/>
              <a:chExt cx="406327" cy="554831"/>
            </a:xfrm>
          </p:grpSpPr>
          <p:sp>
            <p:nvSpPr>
              <p:cNvPr id="159" name="Google Shape;159;p9"/>
              <p:cNvSpPr/>
              <p:nvPr/>
            </p:nvSpPr>
            <p:spPr bwMode="auto">
              <a:xfrm>
                <a:off x="2173889" y="3589660"/>
                <a:ext cx="184122" cy="110532"/>
              </a:xfrm>
              <a:custGeom>
                <a:avLst/>
                <a:gdLst/>
                <a:ahLst/>
                <a:cxnLst/>
                <a:rect l="l" t="t" r="r" b="b"/>
                <a:pathLst>
                  <a:path w="5004" h="3004" extrusionOk="0">
                    <a:moveTo>
                      <a:pt x="1001" y="1"/>
                    </a:moveTo>
                    <a:lnTo>
                      <a:pt x="1001" y="1002"/>
                    </a:lnTo>
                    <a:lnTo>
                      <a:pt x="0" y="1002"/>
                    </a:lnTo>
                    <a:lnTo>
                      <a:pt x="0" y="2002"/>
                    </a:lnTo>
                    <a:lnTo>
                      <a:pt x="1001" y="2002"/>
                    </a:lnTo>
                    <a:lnTo>
                      <a:pt x="1001" y="3003"/>
                    </a:lnTo>
                    <a:lnTo>
                      <a:pt x="4003" y="3003"/>
                    </a:lnTo>
                    <a:lnTo>
                      <a:pt x="4003" y="2002"/>
                    </a:lnTo>
                    <a:lnTo>
                      <a:pt x="5004" y="2002"/>
                    </a:lnTo>
                    <a:lnTo>
                      <a:pt x="5004" y="1002"/>
                    </a:lnTo>
                    <a:lnTo>
                      <a:pt x="4003" y="1002"/>
                    </a:lnTo>
                    <a:lnTo>
                      <a:pt x="400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 dirty="0">
                  <a:latin typeface="Abadi" panose="020B0604020104020204" pitchFamily="34" charset="0"/>
                </a:endParaRPr>
              </a:p>
            </p:txBody>
          </p:sp>
          <p:sp>
            <p:nvSpPr>
              <p:cNvPr id="160" name="Google Shape;160;p9"/>
              <p:cNvSpPr/>
              <p:nvPr/>
            </p:nvSpPr>
            <p:spPr bwMode="auto">
              <a:xfrm>
                <a:off x="2025348" y="3145361"/>
                <a:ext cx="406327" cy="406290"/>
              </a:xfrm>
              <a:custGeom>
                <a:avLst/>
                <a:gdLst/>
                <a:ahLst/>
                <a:cxnLst/>
                <a:rect l="l" t="t" r="r" b="b"/>
                <a:pathLst>
                  <a:path w="11043" h="11042" extrusionOk="0">
                    <a:moveTo>
                      <a:pt x="3003" y="1"/>
                    </a:moveTo>
                    <a:lnTo>
                      <a:pt x="3003" y="1001"/>
                    </a:lnTo>
                    <a:lnTo>
                      <a:pt x="1002" y="1001"/>
                    </a:lnTo>
                    <a:lnTo>
                      <a:pt x="1002" y="2002"/>
                    </a:lnTo>
                    <a:lnTo>
                      <a:pt x="1" y="2002"/>
                    </a:lnTo>
                    <a:lnTo>
                      <a:pt x="1" y="3003"/>
                    </a:lnTo>
                    <a:lnTo>
                      <a:pt x="1" y="4037"/>
                    </a:lnTo>
                    <a:lnTo>
                      <a:pt x="1" y="5038"/>
                    </a:lnTo>
                    <a:lnTo>
                      <a:pt x="1" y="6038"/>
                    </a:lnTo>
                    <a:lnTo>
                      <a:pt x="3003" y="6038"/>
                    </a:lnTo>
                    <a:lnTo>
                      <a:pt x="3003" y="5038"/>
                    </a:lnTo>
                    <a:lnTo>
                      <a:pt x="3003" y="4037"/>
                    </a:lnTo>
                    <a:lnTo>
                      <a:pt x="3003" y="3003"/>
                    </a:lnTo>
                    <a:lnTo>
                      <a:pt x="3003" y="2002"/>
                    </a:lnTo>
                    <a:lnTo>
                      <a:pt x="4037" y="2002"/>
                    </a:lnTo>
                    <a:lnTo>
                      <a:pt x="4037" y="1001"/>
                    </a:lnTo>
                    <a:lnTo>
                      <a:pt x="7039" y="1001"/>
                    </a:lnTo>
                    <a:lnTo>
                      <a:pt x="7039" y="2002"/>
                    </a:lnTo>
                    <a:lnTo>
                      <a:pt x="8040" y="2002"/>
                    </a:lnTo>
                    <a:lnTo>
                      <a:pt x="8040" y="3003"/>
                    </a:lnTo>
                    <a:lnTo>
                      <a:pt x="8040" y="4037"/>
                    </a:lnTo>
                    <a:lnTo>
                      <a:pt x="8040" y="5038"/>
                    </a:lnTo>
                    <a:lnTo>
                      <a:pt x="8040" y="6038"/>
                    </a:lnTo>
                    <a:lnTo>
                      <a:pt x="7039" y="6038"/>
                    </a:lnTo>
                    <a:lnTo>
                      <a:pt x="7039" y="7039"/>
                    </a:lnTo>
                    <a:lnTo>
                      <a:pt x="6038" y="7039"/>
                    </a:lnTo>
                    <a:lnTo>
                      <a:pt x="6038" y="8040"/>
                    </a:lnTo>
                    <a:lnTo>
                      <a:pt x="5038" y="8040"/>
                    </a:lnTo>
                    <a:lnTo>
                      <a:pt x="5038" y="9040"/>
                    </a:lnTo>
                    <a:lnTo>
                      <a:pt x="5038" y="10041"/>
                    </a:lnTo>
                    <a:lnTo>
                      <a:pt x="5038" y="11042"/>
                    </a:lnTo>
                    <a:lnTo>
                      <a:pt x="8040" y="11042"/>
                    </a:lnTo>
                    <a:lnTo>
                      <a:pt x="8040" y="10041"/>
                    </a:lnTo>
                    <a:lnTo>
                      <a:pt x="8040" y="9040"/>
                    </a:lnTo>
                    <a:lnTo>
                      <a:pt x="8040" y="8040"/>
                    </a:lnTo>
                    <a:lnTo>
                      <a:pt x="9041" y="8040"/>
                    </a:lnTo>
                    <a:lnTo>
                      <a:pt x="9041" y="7039"/>
                    </a:lnTo>
                    <a:lnTo>
                      <a:pt x="10041" y="7039"/>
                    </a:lnTo>
                    <a:lnTo>
                      <a:pt x="10041" y="6038"/>
                    </a:lnTo>
                    <a:lnTo>
                      <a:pt x="11042" y="6038"/>
                    </a:lnTo>
                    <a:lnTo>
                      <a:pt x="11042" y="5038"/>
                    </a:lnTo>
                    <a:lnTo>
                      <a:pt x="11042" y="4037"/>
                    </a:lnTo>
                    <a:lnTo>
                      <a:pt x="11042" y="3003"/>
                    </a:lnTo>
                    <a:lnTo>
                      <a:pt x="11042" y="2002"/>
                    </a:lnTo>
                    <a:lnTo>
                      <a:pt x="10041" y="2002"/>
                    </a:lnTo>
                    <a:lnTo>
                      <a:pt x="10041" y="1001"/>
                    </a:lnTo>
                    <a:lnTo>
                      <a:pt x="8040" y="1001"/>
                    </a:lnTo>
                    <a:lnTo>
                      <a:pt x="804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 dirty="0">
                  <a:latin typeface="Abadi" panose="020B0604020104020204" pitchFamily="34" charset="0"/>
                </a:endParaRPr>
              </a:p>
            </p:txBody>
          </p:sp>
        </p:grpSp>
      </p:grpSp>
      <p:sp>
        <p:nvSpPr>
          <p:cNvPr id="161" name="Google Shape;161;p9"/>
          <p:cNvSpPr txBox="1">
            <a:spLocks noGrp="1"/>
          </p:cNvSpPr>
          <p:nvPr>
            <p:ph type="title"/>
          </p:nvPr>
        </p:nvSpPr>
        <p:spPr bwMode="auto">
          <a:xfrm>
            <a:off x="715099" y="1547575"/>
            <a:ext cx="4661100" cy="64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3600"/>
              <a:buNone/>
              <a:defRPr sz="45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pPr>
              <a:defRPr/>
            </a:pPr>
            <a:endParaRPr dirty="0"/>
          </a:p>
        </p:txBody>
      </p:sp>
      <p:sp>
        <p:nvSpPr>
          <p:cNvPr id="162" name="Google Shape;162;p9"/>
          <p:cNvSpPr txBox="1">
            <a:spLocks noGrp="1"/>
          </p:cNvSpPr>
          <p:nvPr>
            <p:ph type="subTitle" idx="1"/>
          </p:nvPr>
        </p:nvSpPr>
        <p:spPr bwMode="auto">
          <a:xfrm>
            <a:off x="715099" y="2305922"/>
            <a:ext cx="4661100" cy="129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ackground" userDrawn="1">
  <p:cSld name="BLANK_1_1_1_1_1_1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05" name="Google Shape;605;p31"/>
          <p:cNvGrpSpPr/>
          <p:nvPr/>
        </p:nvGrpSpPr>
        <p:grpSpPr bwMode="auto">
          <a:xfrm>
            <a:off x="69150" y="137187"/>
            <a:ext cx="9031450" cy="282372"/>
            <a:chOff x="69150" y="137187"/>
            <a:chExt cx="9031450" cy="282372"/>
          </a:xfrm>
        </p:grpSpPr>
        <p:cxnSp>
          <p:nvCxnSpPr>
            <p:cNvPr id="606" name="Google Shape;606;p31"/>
            <p:cNvCxnSpPr>
              <a:cxnSpLocks/>
            </p:cNvCxnSpPr>
            <p:nvPr/>
          </p:nvCxnSpPr>
          <p:spPr bwMode="auto">
            <a:xfrm>
              <a:off x="78699" y="278373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07" name="Google Shape;607;p31"/>
            <p:cNvCxnSpPr>
              <a:cxnSpLocks/>
            </p:cNvCxnSpPr>
            <p:nvPr/>
          </p:nvCxnSpPr>
          <p:spPr bwMode="auto">
            <a:xfrm>
              <a:off x="69150" y="207780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08" name="Google Shape;608;p31"/>
            <p:cNvCxnSpPr>
              <a:cxnSpLocks/>
            </p:cNvCxnSpPr>
            <p:nvPr/>
          </p:nvCxnSpPr>
          <p:spPr bwMode="auto">
            <a:xfrm>
              <a:off x="73925" y="137187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09" name="Google Shape;609;p31"/>
            <p:cNvCxnSpPr>
              <a:cxnSpLocks/>
            </p:cNvCxnSpPr>
            <p:nvPr/>
          </p:nvCxnSpPr>
          <p:spPr bwMode="auto">
            <a:xfrm>
              <a:off x="78699" y="419559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10" name="Google Shape;610;p31"/>
            <p:cNvCxnSpPr>
              <a:cxnSpLocks/>
            </p:cNvCxnSpPr>
            <p:nvPr/>
          </p:nvCxnSpPr>
          <p:spPr bwMode="auto">
            <a:xfrm>
              <a:off x="78699" y="348966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611" name="Google Shape;611;p31"/>
          <p:cNvSpPr/>
          <p:nvPr/>
        </p:nvSpPr>
        <p:spPr bwMode="auto">
          <a:xfrm>
            <a:off x="70625" y="64225"/>
            <a:ext cx="9028500" cy="5028000"/>
          </a:xfrm>
          <a:prstGeom prst="roundRect">
            <a:avLst>
              <a:gd name="adj" fmla="val 2044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  <p:grpSp>
        <p:nvGrpSpPr>
          <p:cNvPr id="612" name="Google Shape;612;p31"/>
          <p:cNvGrpSpPr/>
          <p:nvPr/>
        </p:nvGrpSpPr>
        <p:grpSpPr bwMode="auto">
          <a:xfrm>
            <a:off x="234375" y="117804"/>
            <a:ext cx="256800" cy="256800"/>
            <a:chOff x="234375" y="110636"/>
            <a:chExt cx="256800" cy="256800"/>
          </a:xfrm>
        </p:grpSpPr>
        <p:sp>
          <p:nvSpPr>
            <p:cNvPr id="613" name="Google Shape;613;p31"/>
            <p:cNvSpPr/>
            <p:nvPr/>
          </p:nvSpPr>
          <p:spPr bwMode="auto">
            <a:xfrm>
              <a:off x="234375" y="110636"/>
              <a:ext cx="256800" cy="2568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14" name="Google Shape;614;p31"/>
            <p:cNvSpPr/>
            <p:nvPr/>
          </p:nvSpPr>
          <p:spPr bwMode="auto">
            <a:xfrm>
              <a:off x="253750" y="130008"/>
              <a:ext cx="218100" cy="218100"/>
            </a:xfrm>
            <a:prstGeom prst="smileyFace">
              <a:avLst>
                <a:gd name="adj" fmla="val 4653"/>
              </a:avLst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</p:grpSp>
      <p:cxnSp>
        <p:nvCxnSpPr>
          <p:cNvPr id="615" name="Google Shape;615;p31"/>
          <p:cNvCxnSpPr>
            <a:cxnSpLocks/>
          </p:cNvCxnSpPr>
          <p:nvPr/>
        </p:nvCxnSpPr>
        <p:spPr bwMode="auto">
          <a:xfrm>
            <a:off x="73925" y="5008650"/>
            <a:ext cx="90219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6" name="Google Shape;616;p31"/>
          <p:cNvSpPr/>
          <p:nvPr/>
        </p:nvSpPr>
        <p:spPr bwMode="auto">
          <a:xfrm>
            <a:off x="6760299" y="117804"/>
            <a:ext cx="2161200" cy="2568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  <p:grpSp>
        <p:nvGrpSpPr>
          <p:cNvPr id="617" name="Google Shape;617;p31"/>
          <p:cNvGrpSpPr/>
          <p:nvPr/>
        </p:nvGrpSpPr>
        <p:grpSpPr bwMode="auto">
          <a:xfrm>
            <a:off x="8712862" y="137154"/>
            <a:ext cx="132938" cy="218080"/>
            <a:chOff x="4113132" y="2072643"/>
            <a:chExt cx="406290" cy="666503"/>
          </a:xfrm>
        </p:grpSpPr>
        <p:sp>
          <p:nvSpPr>
            <p:cNvPr id="618" name="Google Shape;618;p31"/>
            <p:cNvSpPr/>
            <p:nvPr/>
          </p:nvSpPr>
          <p:spPr bwMode="auto">
            <a:xfrm>
              <a:off x="4113132" y="2072643"/>
              <a:ext cx="406290" cy="662825"/>
            </a:xfrm>
            <a:custGeom>
              <a:avLst/>
              <a:gdLst/>
              <a:ahLst/>
              <a:cxnLst/>
              <a:rect l="l" t="t" r="r" b="b"/>
              <a:pathLst>
                <a:path w="11042" h="18014" extrusionOk="0">
                  <a:moveTo>
                    <a:pt x="0" y="0"/>
                  </a:moveTo>
                  <a:lnTo>
                    <a:pt x="0" y="1001"/>
                  </a:lnTo>
                  <a:lnTo>
                    <a:pt x="0" y="2002"/>
                  </a:lnTo>
                  <a:lnTo>
                    <a:pt x="1001" y="2002"/>
                  </a:lnTo>
                  <a:lnTo>
                    <a:pt x="1001" y="6005"/>
                  </a:lnTo>
                  <a:lnTo>
                    <a:pt x="2002" y="6005"/>
                  </a:lnTo>
                  <a:lnTo>
                    <a:pt x="2002" y="7005"/>
                  </a:lnTo>
                  <a:lnTo>
                    <a:pt x="3002" y="7005"/>
                  </a:lnTo>
                  <a:lnTo>
                    <a:pt x="3002" y="8006"/>
                  </a:lnTo>
                  <a:lnTo>
                    <a:pt x="4003" y="8006"/>
                  </a:lnTo>
                  <a:lnTo>
                    <a:pt x="4003" y="9007"/>
                  </a:lnTo>
                  <a:lnTo>
                    <a:pt x="4003" y="10008"/>
                  </a:lnTo>
                  <a:lnTo>
                    <a:pt x="3002" y="10008"/>
                  </a:lnTo>
                  <a:lnTo>
                    <a:pt x="3002" y="11008"/>
                  </a:lnTo>
                  <a:lnTo>
                    <a:pt x="2002" y="11008"/>
                  </a:lnTo>
                  <a:lnTo>
                    <a:pt x="2002" y="12009"/>
                  </a:lnTo>
                  <a:lnTo>
                    <a:pt x="1001" y="12009"/>
                  </a:lnTo>
                  <a:lnTo>
                    <a:pt x="1001" y="16012"/>
                  </a:lnTo>
                  <a:lnTo>
                    <a:pt x="0" y="16012"/>
                  </a:lnTo>
                  <a:lnTo>
                    <a:pt x="0" y="17013"/>
                  </a:lnTo>
                  <a:lnTo>
                    <a:pt x="0" y="18013"/>
                  </a:lnTo>
                  <a:lnTo>
                    <a:pt x="11042" y="18013"/>
                  </a:lnTo>
                  <a:lnTo>
                    <a:pt x="11042" y="17013"/>
                  </a:lnTo>
                  <a:lnTo>
                    <a:pt x="11042" y="16012"/>
                  </a:lnTo>
                  <a:lnTo>
                    <a:pt x="10041" y="16012"/>
                  </a:lnTo>
                  <a:lnTo>
                    <a:pt x="10041" y="12009"/>
                  </a:lnTo>
                  <a:lnTo>
                    <a:pt x="9040" y="12009"/>
                  </a:lnTo>
                  <a:lnTo>
                    <a:pt x="9040" y="11008"/>
                  </a:lnTo>
                  <a:lnTo>
                    <a:pt x="8039" y="11008"/>
                  </a:lnTo>
                  <a:lnTo>
                    <a:pt x="8039" y="10008"/>
                  </a:lnTo>
                  <a:lnTo>
                    <a:pt x="7039" y="10008"/>
                  </a:lnTo>
                  <a:lnTo>
                    <a:pt x="7039" y="9007"/>
                  </a:lnTo>
                  <a:lnTo>
                    <a:pt x="7039" y="8006"/>
                  </a:lnTo>
                  <a:lnTo>
                    <a:pt x="8039" y="8006"/>
                  </a:lnTo>
                  <a:lnTo>
                    <a:pt x="8039" y="7005"/>
                  </a:lnTo>
                  <a:lnTo>
                    <a:pt x="9040" y="7005"/>
                  </a:lnTo>
                  <a:lnTo>
                    <a:pt x="9040" y="6005"/>
                  </a:lnTo>
                  <a:lnTo>
                    <a:pt x="10041" y="6005"/>
                  </a:lnTo>
                  <a:lnTo>
                    <a:pt x="10041" y="2002"/>
                  </a:lnTo>
                  <a:lnTo>
                    <a:pt x="11042" y="2002"/>
                  </a:lnTo>
                  <a:lnTo>
                    <a:pt x="11042" y="1001"/>
                  </a:lnTo>
                  <a:lnTo>
                    <a:pt x="1104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19" name="Google Shape;619;p31"/>
            <p:cNvSpPr/>
            <p:nvPr/>
          </p:nvSpPr>
          <p:spPr bwMode="auto">
            <a:xfrm>
              <a:off x="4260422" y="2367223"/>
              <a:ext cx="36832" cy="36832"/>
            </a:xfrm>
            <a:custGeom>
              <a:avLst/>
              <a:gdLst/>
              <a:ahLst/>
              <a:cxnLst/>
              <a:rect l="l" t="t" r="r" b="b"/>
              <a:pathLst>
                <a:path w="1001" h="1001" extrusionOk="0">
                  <a:moveTo>
                    <a:pt x="0" y="0"/>
                  </a:moveTo>
                  <a:lnTo>
                    <a:pt x="0" y="1001"/>
                  </a:lnTo>
                  <a:lnTo>
                    <a:pt x="1001" y="1001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0" name="Google Shape;620;p31"/>
            <p:cNvSpPr/>
            <p:nvPr/>
          </p:nvSpPr>
          <p:spPr bwMode="auto">
            <a:xfrm>
              <a:off x="4260422" y="2405269"/>
              <a:ext cx="36832" cy="36832"/>
            </a:xfrm>
            <a:custGeom>
              <a:avLst/>
              <a:gdLst/>
              <a:ahLst/>
              <a:cxnLst/>
              <a:rect l="l" t="t" r="r" b="b"/>
              <a:pathLst>
                <a:path w="1001" h="1001" extrusionOk="0">
                  <a:moveTo>
                    <a:pt x="0" y="0"/>
                  </a:moveTo>
                  <a:lnTo>
                    <a:pt x="0" y="1001"/>
                  </a:lnTo>
                  <a:lnTo>
                    <a:pt x="1001" y="1001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1" name="Google Shape;621;p31"/>
            <p:cNvSpPr/>
            <p:nvPr/>
          </p:nvSpPr>
          <p:spPr bwMode="auto">
            <a:xfrm>
              <a:off x="4223590" y="2442064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0" y="1"/>
                  </a:moveTo>
                  <a:lnTo>
                    <a:pt x="0" y="1002"/>
                  </a:lnTo>
                  <a:lnTo>
                    <a:pt x="1001" y="1002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2" name="Google Shape;622;p31"/>
            <p:cNvSpPr/>
            <p:nvPr/>
          </p:nvSpPr>
          <p:spPr bwMode="auto">
            <a:xfrm>
              <a:off x="4186758" y="2478895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1" y="1"/>
                  </a:moveTo>
                  <a:lnTo>
                    <a:pt x="1" y="1001"/>
                  </a:lnTo>
                  <a:lnTo>
                    <a:pt x="1001" y="1001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3" name="Google Shape;623;p31"/>
            <p:cNvSpPr/>
            <p:nvPr/>
          </p:nvSpPr>
          <p:spPr bwMode="auto">
            <a:xfrm>
              <a:off x="4223590" y="2330391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0" y="0"/>
                  </a:moveTo>
                  <a:lnTo>
                    <a:pt x="0" y="1001"/>
                  </a:lnTo>
                  <a:lnTo>
                    <a:pt x="1001" y="1001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4" name="Google Shape;624;p31"/>
            <p:cNvSpPr/>
            <p:nvPr/>
          </p:nvSpPr>
          <p:spPr bwMode="auto">
            <a:xfrm>
              <a:off x="4186758" y="2293559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1" y="1"/>
                  </a:moveTo>
                  <a:lnTo>
                    <a:pt x="1" y="1001"/>
                  </a:lnTo>
                  <a:lnTo>
                    <a:pt x="1001" y="1001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5" name="Google Shape;625;p31"/>
            <p:cNvSpPr/>
            <p:nvPr/>
          </p:nvSpPr>
          <p:spPr bwMode="auto">
            <a:xfrm>
              <a:off x="4149964" y="2146269"/>
              <a:ext cx="36832" cy="147327"/>
            </a:xfrm>
            <a:custGeom>
              <a:avLst/>
              <a:gdLst/>
              <a:ahLst/>
              <a:cxnLst/>
              <a:rect l="l" t="t" r="r" b="b"/>
              <a:pathLst>
                <a:path w="1001" h="4004" extrusionOk="0">
                  <a:moveTo>
                    <a:pt x="0" y="1"/>
                  </a:moveTo>
                  <a:lnTo>
                    <a:pt x="0" y="4004"/>
                  </a:lnTo>
                  <a:lnTo>
                    <a:pt x="1001" y="4004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6" name="Google Shape;626;p31"/>
            <p:cNvSpPr/>
            <p:nvPr/>
          </p:nvSpPr>
          <p:spPr bwMode="auto">
            <a:xfrm>
              <a:off x="4113132" y="2072643"/>
              <a:ext cx="406290" cy="73664"/>
            </a:xfrm>
            <a:custGeom>
              <a:avLst/>
              <a:gdLst/>
              <a:ahLst/>
              <a:cxnLst/>
              <a:rect l="l" t="t" r="r" b="b"/>
              <a:pathLst>
                <a:path w="11042" h="2002" extrusionOk="0">
                  <a:moveTo>
                    <a:pt x="0" y="0"/>
                  </a:moveTo>
                  <a:lnTo>
                    <a:pt x="0" y="1001"/>
                  </a:lnTo>
                  <a:lnTo>
                    <a:pt x="0" y="2002"/>
                  </a:lnTo>
                  <a:lnTo>
                    <a:pt x="11042" y="2002"/>
                  </a:lnTo>
                  <a:lnTo>
                    <a:pt x="11042" y="1001"/>
                  </a:lnTo>
                  <a:lnTo>
                    <a:pt x="1104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7" name="Google Shape;627;p31"/>
            <p:cNvSpPr/>
            <p:nvPr/>
          </p:nvSpPr>
          <p:spPr bwMode="auto">
            <a:xfrm>
              <a:off x="4334049" y="2367223"/>
              <a:ext cx="36869" cy="36832"/>
            </a:xfrm>
            <a:custGeom>
              <a:avLst/>
              <a:gdLst/>
              <a:ahLst/>
              <a:cxnLst/>
              <a:rect l="l" t="t" r="r" b="b"/>
              <a:pathLst>
                <a:path w="1002" h="1001" extrusionOk="0">
                  <a:moveTo>
                    <a:pt x="1" y="0"/>
                  </a:moveTo>
                  <a:lnTo>
                    <a:pt x="1" y="1001"/>
                  </a:lnTo>
                  <a:lnTo>
                    <a:pt x="1001" y="1001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8" name="Google Shape;628;p31"/>
            <p:cNvSpPr/>
            <p:nvPr/>
          </p:nvSpPr>
          <p:spPr bwMode="auto">
            <a:xfrm>
              <a:off x="4334049" y="2405269"/>
              <a:ext cx="36869" cy="36832"/>
            </a:xfrm>
            <a:custGeom>
              <a:avLst/>
              <a:gdLst/>
              <a:ahLst/>
              <a:cxnLst/>
              <a:rect l="l" t="t" r="r" b="b"/>
              <a:pathLst>
                <a:path w="1002" h="1001" extrusionOk="0">
                  <a:moveTo>
                    <a:pt x="1" y="0"/>
                  </a:moveTo>
                  <a:lnTo>
                    <a:pt x="1" y="1001"/>
                  </a:lnTo>
                  <a:lnTo>
                    <a:pt x="1001" y="1001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9" name="Google Shape;629;p31"/>
            <p:cNvSpPr/>
            <p:nvPr/>
          </p:nvSpPr>
          <p:spPr bwMode="auto">
            <a:xfrm>
              <a:off x="4370881" y="2442064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0" y="1"/>
                  </a:moveTo>
                  <a:lnTo>
                    <a:pt x="0" y="1002"/>
                  </a:lnTo>
                  <a:lnTo>
                    <a:pt x="1001" y="1002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0" name="Google Shape;630;p31"/>
            <p:cNvSpPr/>
            <p:nvPr/>
          </p:nvSpPr>
          <p:spPr bwMode="auto">
            <a:xfrm>
              <a:off x="4408927" y="2478895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0" y="1"/>
                  </a:moveTo>
                  <a:lnTo>
                    <a:pt x="0" y="1001"/>
                  </a:lnTo>
                  <a:lnTo>
                    <a:pt x="1001" y="1001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1" name="Google Shape;631;p31"/>
            <p:cNvSpPr/>
            <p:nvPr/>
          </p:nvSpPr>
          <p:spPr bwMode="auto">
            <a:xfrm>
              <a:off x="4370881" y="2330391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0" y="0"/>
                  </a:moveTo>
                  <a:lnTo>
                    <a:pt x="0" y="1001"/>
                  </a:lnTo>
                  <a:lnTo>
                    <a:pt x="1001" y="1001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2" name="Google Shape;632;p31"/>
            <p:cNvSpPr/>
            <p:nvPr/>
          </p:nvSpPr>
          <p:spPr bwMode="auto">
            <a:xfrm>
              <a:off x="4297217" y="2293559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1" y="1"/>
                  </a:moveTo>
                  <a:lnTo>
                    <a:pt x="1" y="1001"/>
                  </a:lnTo>
                  <a:lnTo>
                    <a:pt x="1002" y="1001"/>
                  </a:lnTo>
                  <a:lnTo>
                    <a:pt x="1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3" name="Google Shape;633;p31"/>
            <p:cNvSpPr/>
            <p:nvPr/>
          </p:nvSpPr>
          <p:spPr bwMode="auto">
            <a:xfrm>
              <a:off x="4260422" y="2256728"/>
              <a:ext cx="36832" cy="36869"/>
            </a:xfrm>
            <a:custGeom>
              <a:avLst/>
              <a:gdLst/>
              <a:ahLst/>
              <a:cxnLst/>
              <a:rect l="l" t="t" r="r" b="b"/>
              <a:pathLst>
                <a:path w="1001" h="1002" extrusionOk="0">
                  <a:moveTo>
                    <a:pt x="0" y="1"/>
                  </a:moveTo>
                  <a:lnTo>
                    <a:pt x="0" y="1002"/>
                  </a:lnTo>
                  <a:lnTo>
                    <a:pt x="1001" y="1002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4" name="Google Shape;634;p31"/>
            <p:cNvSpPr/>
            <p:nvPr/>
          </p:nvSpPr>
          <p:spPr bwMode="auto">
            <a:xfrm>
              <a:off x="4334049" y="2256728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1" y="1"/>
                  </a:moveTo>
                  <a:lnTo>
                    <a:pt x="1" y="1002"/>
                  </a:lnTo>
                  <a:lnTo>
                    <a:pt x="1001" y="1002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5" name="Google Shape;635;p31"/>
            <p:cNvSpPr/>
            <p:nvPr/>
          </p:nvSpPr>
          <p:spPr bwMode="auto">
            <a:xfrm>
              <a:off x="4408927" y="2293559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0" y="1"/>
                  </a:moveTo>
                  <a:lnTo>
                    <a:pt x="0" y="1001"/>
                  </a:lnTo>
                  <a:lnTo>
                    <a:pt x="1001" y="1001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6" name="Google Shape;636;p31"/>
            <p:cNvSpPr/>
            <p:nvPr/>
          </p:nvSpPr>
          <p:spPr bwMode="auto">
            <a:xfrm>
              <a:off x="4445758" y="2146269"/>
              <a:ext cx="36832" cy="147327"/>
            </a:xfrm>
            <a:custGeom>
              <a:avLst/>
              <a:gdLst/>
              <a:ahLst/>
              <a:cxnLst/>
              <a:rect l="l" t="t" r="r" b="b"/>
              <a:pathLst>
                <a:path w="1001" h="4004" extrusionOk="0">
                  <a:moveTo>
                    <a:pt x="0" y="1"/>
                  </a:moveTo>
                  <a:lnTo>
                    <a:pt x="0" y="4004"/>
                  </a:lnTo>
                  <a:lnTo>
                    <a:pt x="1001" y="4004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7" name="Google Shape;637;p31"/>
            <p:cNvSpPr/>
            <p:nvPr/>
          </p:nvSpPr>
          <p:spPr bwMode="auto">
            <a:xfrm>
              <a:off x="4149964" y="2515727"/>
              <a:ext cx="36832" cy="147327"/>
            </a:xfrm>
            <a:custGeom>
              <a:avLst/>
              <a:gdLst/>
              <a:ahLst/>
              <a:cxnLst/>
              <a:rect l="l" t="t" r="r" b="b"/>
              <a:pathLst>
                <a:path w="1001" h="4004" extrusionOk="0">
                  <a:moveTo>
                    <a:pt x="0" y="0"/>
                  </a:moveTo>
                  <a:lnTo>
                    <a:pt x="0" y="4003"/>
                  </a:lnTo>
                  <a:lnTo>
                    <a:pt x="1001" y="4003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8" name="Google Shape;638;p31"/>
            <p:cNvSpPr/>
            <p:nvPr/>
          </p:nvSpPr>
          <p:spPr bwMode="auto">
            <a:xfrm>
              <a:off x="4113132" y="2663017"/>
              <a:ext cx="406290" cy="76129"/>
            </a:xfrm>
            <a:custGeom>
              <a:avLst/>
              <a:gdLst/>
              <a:ahLst/>
              <a:cxnLst/>
              <a:rect l="l" t="t" r="r" b="b"/>
              <a:pathLst>
                <a:path w="11042" h="2069" extrusionOk="0">
                  <a:moveTo>
                    <a:pt x="0" y="0"/>
                  </a:moveTo>
                  <a:lnTo>
                    <a:pt x="0" y="1068"/>
                  </a:lnTo>
                  <a:lnTo>
                    <a:pt x="0" y="2068"/>
                  </a:lnTo>
                  <a:lnTo>
                    <a:pt x="11042" y="2068"/>
                  </a:lnTo>
                  <a:lnTo>
                    <a:pt x="11042" y="1068"/>
                  </a:lnTo>
                  <a:lnTo>
                    <a:pt x="1104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9" name="Google Shape;639;p31"/>
            <p:cNvSpPr/>
            <p:nvPr/>
          </p:nvSpPr>
          <p:spPr bwMode="auto">
            <a:xfrm>
              <a:off x="4223590" y="2515727"/>
              <a:ext cx="185373" cy="110495"/>
            </a:xfrm>
            <a:custGeom>
              <a:avLst/>
              <a:gdLst/>
              <a:ahLst/>
              <a:cxnLst/>
              <a:rect l="l" t="t" r="r" b="b"/>
              <a:pathLst>
                <a:path w="5038" h="3003" extrusionOk="0">
                  <a:moveTo>
                    <a:pt x="2002" y="0"/>
                  </a:moveTo>
                  <a:lnTo>
                    <a:pt x="2002" y="1001"/>
                  </a:lnTo>
                  <a:lnTo>
                    <a:pt x="1001" y="1001"/>
                  </a:lnTo>
                  <a:lnTo>
                    <a:pt x="1001" y="2002"/>
                  </a:lnTo>
                  <a:lnTo>
                    <a:pt x="0" y="2002"/>
                  </a:lnTo>
                  <a:lnTo>
                    <a:pt x="0" y="3002"/>
                  </a:lnTo>
                  <a:lnTo>
                    <a:pt x="5037" y="3002"/>
                  </a:lnTo>
                  <a:lnTo>
                    <a:pt x="5037" y="2002"/>
                  </a:lnTo>
                  <a:lnTo>
                    <a:pt x="4003" y="2002"/>
                  </a:lnTo>
                  <a:lnTo>
                    <a:pt x="4003" y="1001"/>
                  </a:lnTo>
                  <a:lnTo>
                    <a:pt x="3003" y="1001"/>
                  </a:lnTo>
                  <a:lnTo>
                    <a:pt x="300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40" name="Google Shape;640;p31"/>
            <p:cNvSpPr/>
            <p:nvPr/>
          </p:nvSpPr>
          <p:spPr bwMode="auto">
            <a:xfrm>
              <a:off x="4445758" y="2515727"/>
              <a:ext cx="36832" cy="147327"/>
            </a:xfrm>
            <a:custGeom>
              <a:avLst/>
              <a:gdLst/>
              <a:ahLst/>
              <a:cxnLst/>
              <a:rect l="l" t="t" r="r" b="b"/>
              <a:pathLst>
                <a:path w="1001" h="4004" extrusionOk="0">
                  <a:moveTo>
                    <a:pt x="0" y="0"/>
                  </a:moveTo>
                  <a:lnTo>
                    <a:pt x="0" y="4003"/>
                  </a:lnTo>
                  <a:lnTo>
                    <a:pt x="1001" y="4003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ackground 1" userDrawn="1">
  <p:cSld name="CUSTOM_10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42" name="Google Shape;642;p32"/>
          <p:cNvGrpSpPr/>
          <p:nvPr/>
        </p:nvGrpSpPr>
        <p:grpSpPr bwMode="auto">
          <a:xfrm>
            <a:off x="69150" y="137187"/>
            <a:ext cx="9031450" cy="282372"/>
            <a:chOff x="69150" y="137187"/>
            <a:chExt cx="9031450" cy="282372"/>
          </a:xfrm>
        </p:grpSpPr>
        <p:cxnSp>
          <p:nvCxnSpPr>
            <p:cNvPr id="643" name="Google Shape;643;p32"/>
            <p:cNvCxnSpPr>
              <a:cxnSpLocks/>
            </p:cNvCxnSpPr>
            <p:nvPr/>
          </p:nvCxnSpPr>
          <p:spPr bwMode="auto">
            <a:xfrm>
              <a:off x="78699" y="278373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44" name="Google Shape;644;p32"/>
            <p:cNvCxnSpPr>
              <a:cxnSpLocks/>
            </p:cNvCxnSpPr>
            <p:nvPr/>
          </p:nvCxnSpPr>
          <p:spPr bwMode="auto">
            <a:xfrm>
              <a:off x="69150" y="207780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45" name="Google Shape;645;p32"/>
            <p:cNvCxnSpPr>
              <a:cxnSpLocks/>
            </p:cNvCxnSpPr>
            <p:nvPr/>
          </p:nvCxnSpPr>
          <p:spPr bwMode="auto">
            <a:xfrm>
              <a:off x="73925" y="137187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46" name="Google Shape;646;p32"/>
            <p:cNvCxnSpPr>
              <a:cxnSpLocks/>
            </p:cNvCxnSpPr>
            <p:nvPr/>
          </p:nvCxnSpPr>
          <p:spPr bwMode="auto">
            <a:xfrm>
              <a:off x="78699" y="419559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47" name="Google Shape;647;p32"/>
            <p:cNvCxnSpPr>
              <a:cxnSpLocks/>
            </p:cNvCxnSpPr>
            <p:nvPr/>
          </p:nvCxnSpPr>
          <p:spPr bwMode="auto">
            <a:xfrm>
              <a:off x="78699" y="348966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648" name="Google Shape;648;p32"/>
          <p:cNvSpPr/>
          <p:nvPr/>
        </p:nvSpPr>
        <p:spPr bwMode="auto">
          <a:xfrm>
            <a:off x="70625" y="64225"/>
            <a:ext cx="9028500" cy="5028000"/>
          </a:xfrm>
          <a:prstGeom prst="roundRect">
            <a:avLst>
              <a:gd name="adj" fmla="val 2044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  <p:grpSp>
        <p:nvGrpSpPr>
          <p:cNvPr id="649" name="Google Shape;649;p32"/>
          <p:cNvGrpSpPr/>
          <p:nvPr/>
        </p:nvGrpSpPr>
        <p:grpSpPr bwMode="auto">
          <a:xfrm>
            <a:off x="234375" y="117804"/>
            <a:ext cx="256800" cy="256800"/>
            <a:chOff x="234375" y="110636"/>
            <a:chExt cx="256800" cy="256800"/>
          </a:xfrm>
        </p:grpSpPr>
        <p:sp>
          <p:nvSpPr>
            <p:cNvPr id="650" name="Google Shape;650;p32"/>
            <p:cNvSpPr/>
            <p:nvPr/>
          </p:nvSpPr>
          <p:spPr bwMode="auto">
            <a:xfrm>
              <a:off x="234375" y="110636"/>
              <a:ext cx="256800" cy="2568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51" name="Google Shape;651;p32"/>
            <p:cNvSpPr/>
            <p:nvPr/>
          </p:nvSpPr>
          <p:spPr bwMode="auto">
            <a:xfrm>
              <a:off x="253750" y="130008"/>
              <a:ext cx="218100" cy="218100"/>
            </a:xfrm>
            <a:prstGeom prst="leftRightArrowCallout">
              <a:avLst>
                <a:gd name="adj1" fmla="val 34916"/>
                <a:gd name="adj2" fmla="val 25000"/>
                <a:gd name="adj3" fmla="val 35030"/>
                <a:gd name="adj4" fmla="val 48123"/>
              </a:avLst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</p:grpSp>
      <p:cxnSp>
        <p:nvCxnSpPr>
          <p:cNvPr id="652" name="Google Shape;652;p32"/>
          <p:cNvCxnSpPr>
            <a:cxnSpLocks/>
          </p:cNvCxnSpPr>
          <p:nvPr/>
        </p:nvCxnSpPr>
        <p:spPr bwMode="auto">
          <a:xfrm>
            <a:off x="73925" y="5008650"/>
            <a:ext cx="90219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53" name="Google Shape;653;p32"/>
          <p:cNvSpPr/>
          <p:nvPr/>
        </p:nvSpPr>
        <p:spPr bwMode="auto">
          <a:xfrm>
            <a:off x="6760299" y="117804"/>
            <a:ext cx="2161200" cy="2568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  <p:sp>
        <p:nvSpPr>
          <p:cNvPr id="654" name="Google Shape;654;p32"/>
          <p:cNvSpPr/>
          <p:nvPr/>
        </p:nvSpPr>
        <p:spPr bwMode="auto">
          <a:xfrm>
            <a:off x="8690995" y="137150"/>
            <a:ext cx="152400" cy="218100"/>
          </a:xfrm>
          <a:prstGeom prst="curvedLeftArrow">
            <a:avLst>
              <a:gd name="adj1" fmla="val 25000"/>
              <a:gd name="adj2" fmla="val 50000"/>
              <a:gd name="adj3" fmla="val 25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 bwMode="auto">
          <a:xfrm>
            <a:off x="715099" y="445025"/>
            <a:ext cx="77139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9pPr>
          </a:lstStyle>
          <a:p>
            <a:pPr>
              <a:defRPr/>
            </a:pPr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 bwMode="auto">
          <a:xfrm>
            <a:off x="715099" y="1152475"/>
            <a:ext cx="7713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●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1pPr>
            <a:lvl2pPr marL="914400" lvl="1" indent="-317500">
              <a:lnSpc>
                <a:spcPct val="114999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○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2pPr>
            <a:lvl3pPr marL="1371600" lvl="2" indent="-317500">
              <a:lnSpc>
                <a:spcPct val="114999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■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3pPr>
            <a:lvl4pPr marL="1828800" lvl="3" indent="-317500">
              <a:lnSpc>
                <a:spcPct val="114999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●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4pPr>
            <a:lvl5pPr marL="2286000" lvl="4" indent="-317500">
              <a:lnSpc>
                <a:spcPct val="114999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○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5pPr>
            <a:lvl6pPr marL="2743200" lvl="5" indent="-317500">
              <a:lnSpc>
                <a:spcPct val="114999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■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6pPr>
            <a:lvl7pPr marL="3200400" lvl="6" indent="-317500">
              <a:lnSpc>
                <a:spcPct val="114999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●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7pPr>
            <a:lvl8pPr marL="3657600" lvl="7" indent="-317500">
              <a:lnSpc>
                <a:spcPct val="114999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○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8pPr>
            <a:lvl9pPr marL="4114800" lvl="8" indent="-317500">
              <a:lnSpc>
                <a:spcPct val="114999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Fira Code"/>
              <a:buChar char="■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hdr="0" ftr="0" dt="0"/>
  <p:txStyles>
    <p:title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Times New Roman" panose="02020603050405020304" pitchFamily="18" charset="0"/>
          <a:ea typeface="Abadi" panose="020B0604020104020204" pitchFamily="34" charset="0"/>
          <a:cs typeface="Times New Roman" panose="02020603050405020304" pitchFamily="18" charset="0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1283604" name="TextBox 1621283603"/>
          <p:cNvSpPr txBox="1"/>
          <p:nvPr/>
        </p:nvSpPr>
        <p:spPr bwMode="auto">
          <a:xfrm>
            <a:off x="572" y="1729308"/>
            <a:ext cx="9142856" cy="168488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ru-RU" sz="3600" b="1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Разработка динамической библиотеки на C++ для моделирования клеточных автоматов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8691449" name="TextBox 608691448"/>
          <p:cNvSpPr txBox="1"/>
          <p:nvPr/>
        </p:nvSpPr>
        <p:spPr bwMode="auto">
          <a:xfrm>
            <a:off x="1262127" y="447219"/>
            <a:ext cx="6627495" cy="62324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МИНИСТЕРСТВО НАУКИ И ВЫСШЕГО ОБРАЗОВАНИЯ РОССИЙСКОЙ ФЕДЕРАЦИИ </a:t>
            </a:r>
            <a:b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</a:b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ФГБОУ ВО «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Чувашский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государственный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университет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имени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И.Н. 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Ульянова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» </a:t>
            </a:r>
            <a:b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</a:b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Факультет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информатики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и 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вычислительной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техники</a:t>
            </a:r>
            <a:endParaRPr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4736419" name="TextBox 514736418"/>
          <p:cNvSpPr txBox="1"/>
          <p:nvPr/>
        </p:nvSpPr>
        <p:spPr bwMode="auto">
          <a:xfrm>
            <a:off x="6684475" y="3662095"/>
            <a:ext cx="2410294" cy="133113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sz="1400" b="1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Выполнил</a:t>
            </a:r>
            <a:r>
              <a:rPr sz="1400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: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/>
            </a:pPr>
            <a:r>
              <a:rPr sz="1400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студент </a:t>
            </a:r>
            <a:r>
              <a:rPr sz="1400" dirty="0" err="1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группы</a:t>
            </a:r>
            <a:r>
              <a:rPr sz="1400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ИВТ-41-22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/>
            </a:pPr>
            <a:r>
              <a:rPr lang="ru-RU" sz="1400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Ярдыков Эдуард Евгеньевич</a:t>
            </a:r>
          </a:p>
          <a:p>
            <a:pPr>
              <a:defRPr/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Руководители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>
              <a:defRPr/>
            </a:pP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ст.пр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Юрьева Е.В.</a:t>
            </a:r>
          </a:p>
          <a:p>
            <a:pPr>
              <a:defRPr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к.т.н., доц.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Ржавин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В.В.</a:t>
            </a:r>
          </a:p>
        </p:txBody>
      </p:sp>
      <p:grpSp>
        <p:nvGrpSpPr>
          <p:cNvPr id="3" name="Группа 2">
            <a:extLst>
              <a:ext uri="{FF2B5EF4-FFF2-40B4-BE49-F238E27FC236}">
                <a16:creationId xmlns:a16="http://schemas.microsoft.com/office/drawing/2014/main" id="{5C3E9277-77FA-45C3-8296-151DBDD44E4C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6" name="Google Shape;9830;p83"/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Google Shape;9841;p83"/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Google Shape;9841;p83">
              <a:extLst>
                <a:ext uri="{FF2B5EF4-FFF2-40B4-BE49-F238E27FC236}">
                  <a16:creationId xmlns:a16="http://schemas.microsoft.com/office/drawing/2014/main" id="{CDC943A0-A04D-4F6E-9651-A9F449117B63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Google Shape;9841;p83">
              <a:extLst>
                <a:ext uri="{FF2B5EF4-FFF2-40B4-BE49-F238E27FC236}">
                  <a16:creationId xmlns:a16="http://schemas.microsoft.com/office/drawing/2014/main" id="{647D8708-86F4-47B1-8176-02FD61B44964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Google Shape;9841;p83">
              <a:extLst>
                <a:ext uri="{FF2B5EF4-FFF2-40B4-BE49-F238E27FC236}">
                  <a16:creationId xmlns:a16="http://schemas.microsoft.com/office/drawing/2014/main" id="{22749BAF-7F88-4EDE-BD42-E2F9DA7FFEEA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8" name="Google Shape;9841;p83">
              <a:extLst>
                <a:ext uri="{FF2B5EF4-FFF2-40B4-BE49-F238E27FC236}">
                  <a16:creationId xmlns:a16="http://schemas.microsoft.com/office/drawing/2014/main" id="{E4572158-5DE3-4CE8-B8E7-79DA8A83D3D9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9" name="Google Shape;9841;p83">
              <a:extLst>
                <a:ext uri="{FF2B5EF4-FFF2-40B4-BE49-F238E27FC236}">
                  <a16:creationId xmlns:a16="http://schemas.microsoft.com/office/drawing/2014/main" id="{0F98696E-9D3F-46E0-BEAA-AC12E5D7F157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0" name="Google Shape;9841;p83">
              <a:extLst>
                <a:ext uri="{FF2B5EF4-FFF2-40B4-BE49-F238E27FC236}">
                  <a16:creationId xmlns:a16="http://schemas.microsoft.com/office/drawing/2014/main" id="{157B5CD0-9DE7-49D1-B1B5-0F8B7420A4B4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1" name="Google Shape;9841;p83">
              <a:extLst>
                <a:ext uri="{FF2B5EF4-FFF2-40B4-BE49-F238E27FC236}">
                  <a16:creationId xmlns:a16="http://schemas.microsoft.com/office/drawing/2014/main" id="{4D0D47C8-EAC6-4720-A6B0-58062B071F6F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4" name="Google Shape;9841;p83">
              <a:extLst>
                <a:ext uri="{FF2B5EF4-FFF2-40B4-BE49-F238E27FC236}">
                  <a16:creationId xmlns:a16="http://schemas.microsoft.com/office/drawing/2014/main" id="{C5E7C139-DE49-4D81-BF84-E4FDCD4AD24E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284416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107504" y="428979"/>
            <a:ext cx="3285262" cy="841799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3600" b="1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Актуальность</a:t>
            </a:r>
            <a:endParaRPr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7766380" name="TextBox 387766379"/>
          <p:cNvSpPr txBox="1"/>
          <p:nvPr/>
        </p:nvSpPr>
        <p:spPr bwMode="auto">
          <a:xfrm>
            <a:off x="114946" y="1156715"/>
            <a:ext cx="8928992" cy="283007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Клеточные автоматы – мощный инструмент для моделирования различных процессов в физике, химии, социологии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научных вычислениях и играх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 </a:t>
            </a:r>
            <a:endParaRPr lang="en-US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18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Но 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есть проблема отсутствия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высокопроизводительных решений в удобной обёртке, например, динамической библиотеки, ориентированной исключительно на максимальную производительность вычислений клеточных автоматов.</a:t>
            </a:r>
          </a:p>
        </p:txBody>
      </p:sp>
      <p:grpSp>
        <p:nvGrpSpPr>
          <p:cNvPr id="79" name="Группа 78">
            <a:extLst>
              <a:ext uri="{FF2B5EF4-FFF2-40B4-BE49-F238E27FC236}">
                <a16:creationId xmlns:a16="http://schemas.microsoft.com/office/drawing/2014/main" id="{6EEFF390-3C80-460A-BB13-AF7EE7740359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80" name="Google Shape;9830;p83">
              <a:extLst>
                <a:ext uri="{FF2B5EF4-FFF2-40B4-BE49-F238E27FC236}">
                  <a16:creationId xmlns:a16="http://schemas.microsoft.com/office/drawing/2014/main" id="{C83417F4-F7F0-4AAC-83AA-3E2ABDEEEBB7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1" name="Google Shape;9841;p83">
              <a:extLst>
                <a:ext uri="{FF2B5EF4-FFF2-40B4-BE49-F238E27FC236}">
                  <a16:creationId xmlns:a16="http://schemas.microsoft.com/office/drawing/2014/main" id="{E02F7B6E-4063-4B5F-8CBE-C72B0B6810E9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2" name="Google Shape;9841;p83">
              <a:extLst>
                <a:ext uri="{FF2B5EF4-FFF2-40B4-BE49-F238E27FC236}">
                  <a16:creationId xmlns:a16="http://schemas.microsoft.com/office/drawing/2014/main" id="{F4651E71-30B5-4C7B-92E2-C285915CA71A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3" name="Google Shape;9841;p83">
              <a:extLst>
                <a:ext uri="{FF2B5EF4-FFF2-40B4-BE49-F238E27FC236}">
                  <a16:creationId xmlns:a16="http://schemas.microsoft.com/office/drawing/2014/main" id="{7F59A4C8-9CAC-4D3A-8A68-108E783A6795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4" name="Google Shape;9841;p83">
              <a:extLst>
                <a:ext uri="{FF2B5EF4-FFF2-40B4-BE49-F238E27FC236}">
                  <a16:creationId xmlns:a16="http://schemas.microsoft.com/office/drawing/2014/main" id="{F4EC25BF-6DFA-4297-9C8C-B7C7669CC6C3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5" name="Google Shape;9841;p83">
              <a:extLst>
                <a:ext uri="{FF2B5EF4-FFF2-40B4-BE49-F238E27FC236}">
                  <a16:creationId xmlns:a16="http://schemas.microsoft.com/office/drawing/2014/main" id="{72810C15-CCE6-4246-962D-615D01E2497E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6" name="Google Shape;9841;p83">
              <a:extLst>
                <a:ext uri="{FF2B5EF4-FFF2-40B4-BE49-F238E27FC236}">
                  <a16:creationId xmlns:a16="http://schemas.microsoft.com/office/drawing/2014/main" id="{DCA4FA60-BA0D-4B35-809A-47ACABBD6748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7" name="Google Shape;9841;p83">
              <a:extLst>
                <a:ext uri="{FF2B5EF4-FFF2-40B4-BE49-F238E27FC236}">
                  <a16:creationId xmlns:a16="http://schemas.microsoft.com/office/drawing/2014/main" id="{A5C3090E-4AA7-40EB-A9AD-27FA427470D3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8" name="Google Shape;9841;p83">
              <a:extLst>
                <a:ext uri="{FF2B5EF4-FFF2-40B4-BE49-F238E27FC236}">
                  <a16:creationId xmlns:a16="http://schemas.microsoft.com/office/drawing/2014/main" id="{3B3A3AF6-7224-4DAC-A264-124136D01253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9" name="Google Shape;9841;p83">
              <a:extLst>
                <a:ext uri="{FF2B5EF4-FFF2-40B4-BE49-F238E27FC236}">
                  <a16:creationId xmlns:a16="http://schemas.microsoft.com/office/drawing/2014/main" id="{EB7BA7A2-973A-4515-923E-A93B0B428C01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:push dir="u"/>
      </p:transition>
    </mc:Choice>
    <mc:Fallback xmlns="" xmlns:m="http://schemas.openxmlformats.org/officeDocument/2006/math" xmlns:w="http://schemas.openxmlformats.org/wordprocessingml/2006/main">
      <p:transition spd="med" advClick="1">
        <p:push dir="u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284416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107504" y="428979"/>
            <a:ext cx="1296144" cy="841799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3600" b="1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Цель</a:t>
            </a:r>
            <a:endParaRPr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7766380" name="TextBox 387766379"/>
          <p:cNvSpPr txBox="1"/>
          <p:nvPr/>
        </p:nvSpPr>
        <p:spPr bwMode="auto">
          <a:xfrm>
            <a:off x="179512" y="2473037"/>
            <a:ext cx="8640960" cy="180671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indent="-342900" algn="just">
              <a:lnSpc>
                <a:spcPct val="150000"/>
              </a:lnSpc>
              <a:buFont typeface="+mj-lt"/>
              <a:buAutoNum type="arabicParenR"/>
            </a:pPr>
            <a:r>
              <a:rPr lang="ru-RU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Выяснить, к</a:t>
            </a: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акие особенности современных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CPU</a:t>
            </a: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нужно использовать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;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arenR"/>
            </a:pP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Спроектировать архитектуру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;</a:t>
            </a:r>
            <a:endParaRPr lang="en-US" sz="20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+mj-lt"/>
              <a:buAutoNum type="arabicParenR"/>
            </a:pP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Реализовать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алгоритмы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;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arenR"/>
            </a:pP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Реализовать библиотеку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;</a:t>
            </a:r>
            <a:endParaRPr lang="ru-RU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B7E60A42-4D81-4F42-8F89-1A9F3BE7580A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24" name="Google Shape;9830;p83">
              <a:extLst>
                <a:ext uri="{FF2B5EF4-FFF2-40B4-BE49-F238E27FC236}">
                  <a16:creationId xmlns:a16="http://schemas.microsoft.com/office/drawing/2014/main" id="{DF9D34E1-9C63-485E-A3F1-7D85F12CE9B1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" name="Google Shape;9841;p83">
              <a:extLst>
                <a:ext uri="{FF2B5EF4-FFF2-40B4-BE49-F238E27FC236}">
                  <a16:creationId xmlns:a16="http://schemas.microsoft.com/office/drawing/2014/main" id="{14A73F59-A2AE-40D2-A5A2-42393A990F10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Google Shape;9841;p83">
              <a:extLst>
                <a:ext uri="{FF2B5EF4-FFF2-40B4-BE49-F238E27FC236}">
                  <a16:creationId xmlns:a16="http://schemas.microsoft.com/office/drawing/2014/main" id="{39E402CE-4F82-43AB-99B6-A6DC165609E1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Google Shape;9841;p83">
              <a:extLst>
                <a:ext uri="{FF2B5EF4-FFF2-40B4-BE49-F238E27FC236}">
                  <a16:creationId xmlns:a16="http://schemas.microsoft.com/office/drawing/2014/main" id="{D4E96B38-49A9-4AA6-AAF8-22F9891888C3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Google Shape;9841;p83">
              <a:extLst>
                <a:ext uri="{FF2B5EF4-FFF2-40B4-BE49-F238E27FC236}">
                  <a16:creationId xmlns:a16="http://schemas.microsoft.com/office/drawing/2014/main" id="{A7181382-08D6-4669-A817-BB73C79AEB1D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Google Shape;9841;p83">
              <a:extLst>
                <a:ext uri="{FF2B5EF4-FFF2-40B4-BE49-F238E27FC236}">
                  <a16:creationId xmlns:a16="http://schemas.microsoft.com/office/drawing/2014/main" id="{DFB00DC4-7ABB-4A3E-BB99-33B5DF17619E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Google Shape;9841;p83">
              <a:extLst>
                <a:ext uri="{FF2B5EF4-FFF2-40B4-BE49-F238E27FC236}">
                  <a16:creationId xmlns:a16="http://schemas.microsoft.com/office/drawing/2014/main" id="{2F2383B8-2FF5-4D78-B5AC-777F7464009F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1" name="Google Shape;9841;p83">
              <a:extLst>
                <a:ext uri="{FF2B5EF4-FFF2-40B4-BE49-F238E27FC236}">
                  <a16:creationId xmlns:a16="http://schemas.microsoft.com/office/drawing/2014/main" id="{CAEE4FAB-0D32-4701-81E1-8808708BAC5B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2" name="Google Shape;9841;p83">
              <a:extLst>
                <a:ext uri="{FF2B5EF4-FFF2-40B4-BE49-F238E27FC236}">
                  <a16:creationId xmlns:a16="http://schemas.microsoft.com/office/drawing/2014/main" id="{884AAAF6-6DD6-446C-95E7-117161853442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Google Shape;9841;p83">
              <a:extLst>
                <a:ext uri="{FF2B5EF4-FFF2-40B4-BE49-F238E27FC236}">
                  <a16:creationId xmlns:a16="http://schemas.microsoft.com/office/drawing/2014/main" id="{95268EAA-3FFF-4117-B5EA-B91A855234FA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83738070-53B0-43B6-AF06-1D5F9E14E8B2}"/>
              </a:ext>
            </a:extLst>
          </p:cNvPr>
          <p:cNvSpPr txBox="1"/>
          <p:nvPr/>
        </p:nvSpPr>
        <p:spPr bwMode="auto">
          <a:xfrm>
            <a:off x="208801" y="1119459"/>
            <a:ext cx="6235407" cy="92198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Разработать высокопроизводительную библиотеку для моделирования клеточных автоматов</a:t>
            </a:r>
            <a:endParaRPr lang="ru-RU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6" name="Google Shape;794;p40">
            <a:extLst>
              <a:ext uri="{FF2B5EF4-FFF2-40B4-BE49-F238E27FC236}">
                <a16:creationId xmlns:a16="http://schemas.microsoft.com/office/drawing/2014/main" id="{88A68FDA-35BF-416D-B9F8-CA895324D953}"/>
              </a:ext>
            </a:extLst>
          </p:cNvPr>
          <p:cNvSpPr txBox="1">
            <a:spLocks/>
          </p:cNvSpPr>
          <p:nvPr/>
        </p:nvSpPr>
        <p:spPr bwMode="auto">
          <a:xfrm>
            <a:off x="107504" y="1836341"/>
            <a:ext cx="1719808" cy="8417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91423" rIns="91423" bIns="91423" anchor="ctr" anchorCtr="0">
            <a:noAutofit/>
          </a:bodyPr>
          <a:lstStyle>
            <a:def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hakra Petch Medium"/>
              <a:buNone/>
              <a:defRPr sz="3500" b="0" i="0" u="none" strike="noStrike" cap="none">
                <a:solidFill>
                  <a:schemeClr val="dk1"/>
                </a:solidFill>
                <a:latin typeface="Times New Roman" panose="02020603050405020304" pitchFamily="18" charset="0"/>
                <a:ea typeface="Chakra Petch Medium"/>
                <a:cs typeface="Times New Roman" panose="02020603050405020304" pitchFamily="18" charset="0"/>
              </a:defRPr>
            </a:lvl1pPr>
            <a:lvl2pPr marR="0"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hakra Petch Medium"/>
              <a:buNone/>
              <a:defRPr sz="3600" b="0" i="0" u="none" strike="noStrike" cap="none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2pPr>
            <a:lvl3pPr marR="0"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hakra Petch Medium"/>
              <a:buNone/>
              <a:defRPr sz="3600" b="0" i="0" u="none" strike="noStrike" cap="none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3pPr>
            <a:lvl4pPr marR="0"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hakra Petch Medium"/>
              <a:buNone/>
              <a:defRPr sz="3600" b="0" i="0" u="none" strike="noStrike" cap="none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4pPr>
            <a:lvl5pPr marR="0"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hakra Petch Medium"/>
              <a:buNone/>
              <a:defRPr sz="3600" b="0" i="0" u="none" strike="noStrike" cap="none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5pPr>
            <a:lvl6pPr marR="0"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hakra Petch Medium"/>
              <a:buNone/>
              <a:defRPr sz="3600" b="0" i="0" u="none" strike="noStrike" cap="none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6pPr>
            <a:lvl7pPr marR="0"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hakra Petch Medium"/>
              <a:buNone/>
              <a:defRPr sz="3600" b="0" i="0" u="none" strike="noStrike" cap="none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7pPr>
            <a:lvl8pPr marR="0"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hakra Petch Medium"/>
              <a:buNone/>
              <a:defRPr sz="3600" b="0" i="0" u="none" strike="noStrike" cap="none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8pPr>
            <a:lvl9pPr marR="0"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hakra Petch Medium"/>
              <a:buNone/>
              <a:defRPr sz="3600" b="0" i="0" u="none" strike="noStrike" cap="none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9pPr>
          </a:lstStyle>
          <a:p>
            <a:pPr algn="l">
              <a:defRPr/>
            </a:pPr>
            <a:r>
              <a:rPr lang="ru-RU" sz="3600" b="1" dirty="0">
                <a:ea typeface="Federov2"/>
              </a:rPr>
              <a:t>Задачи</a:t>
            </a:r>
            <a:endParaRPr lang="ru-RU" sz="3600" b="1" dirty="0"/>
          </a:p>
        </p:txBody>
      </p:sp>
    </p:spTree>
    <p:extLst>
      <p:ext uri="{BB962C8B-B14F-4D97-AF65-F5344CB8AC3E}">
        <p14:creationId xmlns:p14="http://schemas.microsoft.com/office/powerpoint/2010/main" val="1523464173"/>
      </p:ext>
    </p:extLst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6956684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82059" y="430010"/>
            <a:ext cx="5774069" cy="841799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36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Выбор средств разработки</a:t>
            </a:r>
            <a:endParaRPr sz="3600" b="1" dirty="0">
              <a:latin typeface="Times New Roman" panose="02020603050405020304" pitchFamily="18" charset="0"/>
              <a:ea typeface="AMDRTG"/>
              <a:cs typeface="Times New Roman" panose="02020603050405020304" pitchFamily="18" charset="0"/>
            </a:endParaRPr>
          </a:p>
        </p:txBody>
      </p:sp>
      <p:sp>
        <p:nvSpPr>
          <p:cNvPr id="1588833458" name="TextBox 1588833457"/>
          <p:cNvSpPr txBox="1"/>
          <p:nvPr/>
        </p:nvSpPr>
        <p:spPr bwMode="auto">
          <a:xfrm>
            <a:off x="104204" y="1635646"/>
            <a:ext cx="5774069" cy="224907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ru-RU" sz="2000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Язык программирования</a:t>
            </a:r>
            <a:r>
              <a:rPr lang="en-US" sz="2000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: C++ 23;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Интегрированная среда разработки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Visual Studio 2026;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Компилятор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MSVC 14.51.36231,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набор инструментов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v145;</a:t>
            </a: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80" name="Группа 79">
            <a:extLst>
              <a:ext uri="{FF2B5EF4-FFF2-40B4-BE49-F238E27FC236}">
                <a16:creationId xmlns:a16="http://schemas.microsoft.com/office/drawing/2014/main" id="{9353D405-9010-43B8-AEE7-64CDA2B0E6B9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81" name="Google Shape;9830;p83">
              <a:extLst>
                <a:ext uri="{FF2B5EF4-FFF2-40B4-BE49-F238E27FC236}">
                  <a16:creationId xmlns:a16="http://schemas.microsoft.com/office/drawing/2014/main" id="{5CB09E3A-0FFA-4285-94CE-43961C37F09B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2" name="Google Shape;9841;p83">
              <a:extLst>
                <a:ext uri="{FF2B5EF4-FFF2-40B4-BE49-F238E27FC236}">
                  <a16:creationId xmlns:a16="http://schemas.microsoft.com/office/drawing/2014/main" id="{C79D9156-6E4C-45A6-B83F-001C2D141056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3" name="Google Shape;9841;p83">
              <a:extLst>
                <a:ext uri="{FF2B5EF4-FFF2-40B4-BE49-F238E27FC236}">
                  <a16:creationId xmlns:a16="http://schemas.microsoft.com/office/drawing/2014/main" id="{26608158-AF00-472B-B5EC-90E5511E54ED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4" name="Google Shape;9841;p83">
              <a:extLst>
                <a:ext uri="{FF2B5EF4-FFF2-40B4-BE49-F238E27FC236}">
                  <a16:creationId xmlns:a16="http://schemas.microsoft.com/office/drawing/2014/main" id="{465650A7-0F27-4563-9F55-30358870850C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5" name="Google Shape;9841;p83">
              <a:extLst>
                <a:ext uri="{FF2B5EF4-FFF2-40B4-BE49-F238E27FC236}">
                  <a16:creationId xmlns:a16="http://schemas.microsoft.com/office/drawing/2014/main" id="{938E18AC-7723-408E-8710-CEBF545898D5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6" name="Google Shape;9841;p83">
              <a:extLst>
                <a:ext uri="{FF2B5EF4-FFF2-40B4-BE49-F238E27FC236}">
                  <a16:creationId xmlns:a16="http://schemas.microsoft.com/office/drawing/2014/main" id="{9CA3F124-6259-4727-BEB1-6C3E063D8CFD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7" name="Google Shape;9841;p83">
              <a:extLst>
                <a:ext uri="{FF2B5EF4-FFF2-40B4-BE49-F238E27FC236}">
                  <a16:creationId xmlns:a16="http://schemas.microsoft.com/office/drawing/2014/main" id="{4E8DD3E2-F1FF-4F9A-A780-0BDAAA41C0DA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8" name="Google Shape;9841;p83">
              <a:extLst>
                <a:ext uri="{FF2B5EF4-FFF2-40B4-BE49-F238E27FC236}">
                  <a16:creationId xmlns:a16="http://schemas.microsoft.com/office/drawing/2014/main" id="{17F18EA8-7609-45F5-9C8F-65490D72AE8E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9" name="Google Shape;9841;p83">
              <a:extLst>
                <a:ext uri="{FF2B5EF4-FFF2-40B4-BE49-F238E27FC236}">
                  <a16:creationId xmlns:a16="http://schemas.microsoft.com/office/drawing/2014/main" id="{3AEFA975-A17F-4D6D-8204-29A39CB3F747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0" name="Google Shape;9841;p83">
              <a:extLst>
                <a:ext uri="{FF2B5EF4-FFF2-40B4-BE49-F238E27FC236}">
                  <a16:creationId xmlns:a16="http://schemas.microsoft.com/office/drawing/2014/main" id="{FFE24C00-6E3E-4FE3-A054-0307418E8DF4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:push dir="u"/>
      </p:transition>
    </mc:Choice>
    <mc:Fallback xmlns="" xmlns:m="http://schemas.openxmlformats.org/officeDocument/2006/math" xmlns:w="http://schemas.openxmlformats.org/wordprocessingml/2006/main">
      <p:transition spd="med" advClick="1">
        <p:push dir="u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A298C9FD-09BB-4CAC-8992-5583C6B73126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4389848" y="440068"/>
            <a:ext cx="4672093" cy="4474231"/>
          </a:xfrm>
          <a:prstGeom prst="rect">
            <a:avLst/>
          </a:prstGeom>
        </p:spPr>
      </p:pic>
      <p:sp>
        <p:nvSpPr>
          <p:cNvPr id="1446956684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82059" y="344788"/>
            <a:ext cx="5774069" cy="705627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32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Архитектура библиотеки</a:t>
            </a:r>
            <a:endParaRPr sz="3200" b="1" dirty="0">
              <a:latin typeface="Times New Roman" panose="02020603050405020304" pitchFamily="18" charset="0"/>
              <a:ea typeface="AMDRTG"/>
              <a:cs typeface="Times New Roman" panose="02020603050405020304" pitchFamily="18" charset="0"/>
            </a:endParaRPr>
          </a:p>
        </p:txBody>
      </p:sp>
      <p:sp>
        <p:nvSpPr>
          <p:cNvPr id="1588833458" name="TextBox 1588833457"/>
          <p:cNvSpPr txBox="1"/>
          <p:nvPr/>
        </p:nvSpPr>
        <p:spPr bwMode="auto">
          <a:xfrm>
            <a:off x="179479" y="1660763"/>
            <a:ext cx="4839174" cy="224907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Представляет собой три уровня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arenR"/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Доступ к функциям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arenR"/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Внутренний, управление вызовами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arenR"/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Скрытый, аппаратно-зависимые реализации</a:t>
            </a: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0F14C775-0F24-476B-87C7-1F499D99FF85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24" name="Google Shape;9830;p83">
              <a:extLst>
                <a:ext uri="{FF2B5EF4-FFF2-40B4-BE49-F238E27FC236}">
                  <a16:creationId xmlns:a16="http://schemas.microsoft.com/office/drawing/2014/main" id="{94297A68-E66C-4538-B14B-6C830362FE5F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" name="Google Shape;9841;p83">
              <a:extLst>
                <a:ext uri="{FF2B5EF4-FFF2-40B4-BE49-F238E27FC236}">
                  <a16:creationId xmlns:a16="http://schemas.microsoft.com/office/drawing/2014/main" id="{EF48CD2E-1E98-474E-8A4A-952FE532ED2B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Google Shape;9841;p83">
              <a:extLst>
                <a:ext uri="{FF2B5EF4-FFF2-40B4-BE49-F238E27FC236}">
                  <a16:creationId xmlns:a16="http://schemas.microsoft.com/office/drawing/2014/main" id="{1A0F9BC3-79A6-463F-8F53-13BF83C6BA41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Google Shape;9841;p83">
              <a:extLst>
                <a:ext uri="{FF2B5EF4-FFF2-40B4-BE49-F238E27FC236}">
                  <a16:creationId xmlns:a16="http://schemas.microsoft.com/office/drawing/2014/main" id="{29226A3D-3190-43A5-9B2B-ED41FEE8468A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Google Shape;9841;p83">
              <a:extLst>
                <a:ext uri="{FF2B5EF4-FFF2-40B4-BE49-F238E27FC236}">
                  <a16:creationId xmlns:a16="http://schemas.microsoft.com/office/drawing/2014/main" id="{7D3FCB48-84E8-4692-B6C4-FC1F70A47A2A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Google Shape;9841;p83">
              <a:extLst>
                <a:ext uri="{FF2B5EF4-FFF2-40B4-BE49-F238E27FC236}">
                  <a16:creationId xmlns:a16="http://schemas.microsoft.com/office/drawing/2014/main" id="{533F8149-7814-469F-903F-694358BDFFF2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Google Shape;9841;p83">
              <a:extLst>
                <a:ext uri="{FF2B5EF4-FFF2-40B4-BE49-F238E27FC236}">
                  <a16:creationId xmlns:a16="http://schemas.microsoft.com/office/drawing/2014/main" id="{306F7B52-85D7-4D35-A94D-6C4271306C75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1" name="Google Shape;9841;p83">
              <a:extLst>
                <a:ext uri="{FF2B5EF4-FFF2-40B4-BE49-F238E27FC236}">
                  <a16:creationId xmlns:a16="http://schemas.microsoft.com/office/drawing/2014/main" id="{AE6609E9-892F-4B5B-9865-5898BBE5C05B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2" name="Google Shape;9841;p83">
              <a:extLst>
                <a:ext uri="{FF2B5EF4-FFF2-40B4-BE49-F238E27FC236}">
                  <a16:creationId xmlns:a16="http://schemas.microsoft.com/office/drawing/2014/main" id="{98FEEA01-ACB3-4921-A3A5-A688D0D5AEB6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Google Shape;9841;p83">
              <a:extLst>
                <a:ext uri="{FF2B5EF4-FFF2-40B4-BE49-F238E27FC236}">
                  <a16:creationId xmlns:a16="http://schemas.microsoft.com/office/drawing/2014/main" id="{E95E52F2-3A71-4601-B01B-7CCC6FD2A341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02573050"/>
      </p:ext>
    </p:extLst>
  </p:cSld>
  <p:clrMapOvr>
    <a:masterClrMapping/>
  </p:clrMapOvr>
  <p:transition spd="med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6956684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82059" y="430010"/>
            <a:ext cx="5774069" cy="841799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36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Декомпозиция задачи</a:t>
            </a:r>
            <a:endParaRPr sz="3600" b="1" dirty="0">
              <a:latin typeface="Times New Roman" panose="02020603050405020304" pitchFamily="18" charset="0"/>
              <a:ea typeface="AMDRTG"/>
              <a:cs typeface="Times New Roman" panose="02020603050405020304" pitchFamily="18" charset="0"/>
            </a:endParaRPr>
          </a:p>
        </p:txBody>
      </p:sp>
      <p:sp>
        <p:nvSpPr>
          <p:cNvPr id="1588833458" name="TextBox 1588833457"/>
          <p:cNvSpPr txBox="1"/>
          <p:nvPr/>
        </p:nvSpPr>
        <p:spPr bwMode="auto">
          <a:xfrm>
            <a:off x="153264" y="1271809"/>
            <a:ext cx="5629086" cy="269144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Процесс одной итерации клеточного автомата можно разбить на две отдельные операции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 indent="-457200">
              <a:lnSpc>
                <a:spcPct val="150000"/>
              </a:lnSpc>
              <a:buAutoNum type="arabicParenR"/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поиск суммы соседей для клетки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indent="-450000">
              <a:lnSpc>
                <a:spcPct val="150000"/>
              </a:lnSpc>
              <a:buAutoNum type="arabicParenR"/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применение правила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для соответствующей клетке согласно количеству соседей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C9BE2BB9-0D0C-45FD-951A-4311783AA021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24" name="Google Shape;9830;p83">
              <a:extLst>
                <a:ext uri="{FF2B5EF4-FFF2-40B4-BE49-F238E27FC236}">
                  <a16:creationId xmlns:a16="http://schemas.microsoft.com/office/drawing/2014/main" id="{E9536291-4272-49B9-B892-6E3BB3BEF4A6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" name="Google Shape;9841;p83">
              <a:extLst>
                <a:ext uri="{FF2B5EF4-FFF2-40B4-BE49-F238E27FC236}">
                  <a16:creationId xmlns:a16="http://schemas.microsoft.com/office/drawing/2014/main" id="{753F8346-0445-4529-AC1A-1CB2266CE80E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Google Shape;9841;p83">
              <a:extLst>
                <a:ext uri="{FF2B5EF4-FFF2-40B4-BE49-F238E27FC236}">
                  <a16:creationId xmlns:a16="http://schemas.microsoft.com/office/drawing/2014/main" id="{CC1F9B59-7420-443A-A570-220BD3472BDA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Google Shape;9841;p83">
              <a:extLst>
                <a:ext uri="{FF2B5EF4-FFF2-40B4-BE49-F238E27FC236}">
                  <a16:creationId xmlns:a16="http://schemas.microsoft.com/office/drawing/2014/main" id="{99CD349B-5CFE-4759-8846-C858DD5344AB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Google Shape;9841;p83">
              <a:extLst>
                <a:ext uri="{FF2B5EF4-FFF2-40B4-BE49-F238E27FC236}">
                  <a16:creationId xmlns:a16="http://schemas.microsoft.com/office/drawing/2014/main" id="{97F8FD77-4E54-46D0-A146-B9563414C010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Google Shape;9841;p83">
              <a:extLst>
                <a:ext uri="{FF2B5EF4-FFF2-40B4-BE49-F238E27FC236}">
                  <a16:creationId xmlns:a16="http://schemas.microsoft.com/office/drawing/2014/main" id="{311125A0-8826-482F-A106-920159218E83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Google Shape;9841;p83">
              <a:extLst>
                <a:ext uri="{FF2B5EF4-FFF2-40B4-BE49-F238E27FC236}">
                  <a16:creationId xmlns:a16="http://schemas.microsoft.com/office/drawing/2014/main" id="{86107225-0C71-4188-9B80-22381F50E41B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1" name="Google Shape;9841;p83">
              <a:extLst>
                <a:ext uri="{FF2B5EF4-FFF2-40B4-BE49-F238E27FC236}">
                  <a16:creationId xmlns:a16="http://schemas.microsoft.com/office/drawing/2014/main" id="{F732CD6D-90BD-40C0-A019-BA0FAE34FF99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2" name="Google Shape;9841;p83">
              <a:extLst>
                <a:ext uri="{FF2B5EF4-FFF2-40B4-BE49-F238E27FC236}">
                  <a16:creationId xmlns:a16="http://schemas.microsoft.com/office/drawing/2014/main" id="{510A7DBF-2862-4995-ACAD-BE273F51D946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Google Shape;9841;p83">
              <a:extLst>
                <a:ext uri="{FF2B5EF4-FFF2-40B4-BE49-F238E27FC236}">
                  <a16:creationId xmlns:a16="http://schemas.microsoft.com/office/drawing/2014/main" id="{0EAFBB1B-3944-46C6-9BA0-6F7847B02EF1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D2569147-10C9-45CC-8D29-ABECA672ED56}"/>
              </a:ext>
            </a:extLst>
          </p:cNvPr>
          <p:cNvGrpSpPr/>
          <p:nvPr/>
        </p:nvGrpSpPr>
        <p:grpSpPr>
          <a:xfrm>
            <a:off x="5883647" y="483518"/>
            <a:ext cx="3038122" cy="1927860"/>
            <a:chOff x="6084168" y="699542"/>
            <a:chExt cx="2736304" cy="1711836"/>
          </a:xfrm>
        </p:grpSpPr>
        <p:pic>
          <p:nvPicPr>
            <p:cNvPr id="2050" name="Picture 2">
              <a:extLst>
                <a:ext uri="{FF2B5EF4-FFF2-40B4-BE49-F238E27FC236}">
                  <a16:creationId xmlns:a16="http://schemas.microsoft.com/office/drawing/2014/main" id="{C26D1E3E-1A11-4CD6-A2FB-CCFEC08F7E7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906" t="11167" r="12497" b="13233"/>
            <a:stretch/>
          </p:blipFill>
          <p:spPr bwMode="auto">
            <a:xfrm>
              <a:off x="6804248" y="699542"/>
              <a:ext cx="1296144" cy="12961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813992C-F594-4628-9C81-1AF341F6681E}"/>
                </a:ext>
              </a:extLst>
            </p:cNvPr>
            <p:cNvSpPr txBox="1"/>
            <p:nvPr/>
          </p:nvSpPr>
          <p:spPr>
            <a:xfrm>
              <a:off x="6084168" y="2103601"/>
              <a:ext cx="273630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dirty="0"/>
                <a:t>Рисунок 1 – Окрестность Мура</a:t>
              </a:r>
            </a:p>
          </p:txBody>
        </p:sp>
      </p:grpSp>
      <p:grpSp>
        <p:nvGrpSpPr>
          <p:cNvPr id="4" name="Группа 3">
            <a:extLst>
              <a:ext uri="{FF2B5EF4-FFF2-40B4-BE49-F238E27FC236}">
                <a16:creationId xmlns:a16="http://schemas.microsoft.com/office/drawing/2014/main" id="{DC3221EB-2339-4F4F-9B59-882B782613FA}"/>
              </a:ext>
            </a:extLst>
          </p:cNvPr>
          <p:cNvGrpSpPr/>
          <p:nvPr/>
        </p:nvGrpSpPr>
        <p:grpSpPr>
          <a:xfrm>
            <a:off x="5919100" y="2643759"/>
            <a:ext cx="2967217" cy="2090351"/>
            <a:chOff x="6156176" y="2631661"/>
            <a:chExt cx="2592288" cy="1841074"/>
          </a:xfrm>
        </p:grpSpPr>
        <p:pic>
          <p:nvPicPr>
            <p:cNvPr id="2052" name="Picture 4">
              <a:extLst>
                <a:ext uri="{FF2B5EF4-FFF2-40B4-BE49-F238E27FC236}">
                  <a16:creationId xmlns:a16="http://schemas.microsoft.com/office/drawing/2014/main" id="{99FBC3B8-5B4B-47E1-8CDD-C24846B49AC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600" t="11168" r="11801" b="13234"/>
            <a:stretch/>
          </p:blipFill>
          <p:spPr bwMode="auto">
            <a:xfrm>
              <a:off x="6804248" y="2631661"/>
              <a:ext cx="1296144" cy="12961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9AB6642-FA26-49B1-B33C-57900AEE2102}"/>
                </a:ext>
              </a:extLst>
            </p:cNvPr>
            <p:cNvSpPr txBox="1"/>
            <p:nvPr/>
          </p:nvSpPr>
          <p:spPr>
            <a:xfrm>
              <a:off x="6156176" y="4011910"/>
              <a:ext cx="2592288" cy="4608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dirty="0"/>
                <a:t>Рисунок 2 – Окрестность фон Неймана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31146696"/>
      </p:ext>
    </p:extLst>
  </p:cSld>
  <p:clrMapOvr>
    <a:masterClrMapping/>
  </p:clrMapOvr>
  <p:transition spd="med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5549038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107504" y="426524"/>
            <a:ext cx="3078122" cy="841799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36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SISD </a:t>
            </a:r>
            <a:r>
              <a:rPr lang="ru-RU" sz="36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и</a:t>
            </a:r>
            <a:r>
              <a:rPr lang="en" sz="36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 SIMD</a:t>
            </a:r>
            <a:endParaRPr sz="3600" b="1" dirty="0">
              <a:latin typeface="Times New Roman" panose="02020603050405020304" pitchFamily="18" charset="0"/>
              <a:ea typeface="AMDRTG"/>
              <a:cs typeface="Times New Roman" panose="02020603050405020304" pitchFamily="18" charset="0"/>
            </a:endParaRPr>
          </a:p>
        </p:txBody>
      </p:sp>
      <p:sp>
        <p:nvSpPr>
          <p:cNvPr id="749599721" name="TextBox 749599720"/>
          <p:cNvSpPr txBox="1"/>
          <p:nvPr/>
        </p:nvSpPr>
        <p:spPr bwMode="auto">
          <a:xfrm>
            <a:off x="238091" y="1496936"/>
            <a:ext cx="4743504" cy="214962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SISD –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обработка единицы данных одной инструкцией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ct val="150000"/>
              </a:lnSpc>
              <a:defRPr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SIMD –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обработка массива данных одной инструкцией.</a:t>
            </a:r>
          </a:p>
        </p:txBody>
      </p:sp>
      <p:grpSp>
        <p:nvGrpSpPr>
          <p:cNvPr id="53" name="Группа 52">
            <a:extLst>
              <a:ext uri="{FF2B5EF4-FFF2-40B4-BE49-F238E27FC236}">
                <a16:creationId xmlns:a16="http://schemas.microsoft.com/office/drawing/2014/main" id="{122B916E-A766-466D-813C-C74F02E84948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54" name="Google Shape;9830;p83">
              <a:extLst>
                <a:ext uri="{FF2B5EF4-FFF2-40B4-BE49-F238E27FC236}">
                  <a16:creationId xmlns:a16="http://schemas.microsoft.com/office/drawing/2014/main" id="{C1C4FF65-4959-46E7-B23A-3EE3D86FD573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5" name="Google Shape;9841;p83">
              <a:extLst>
                <a:ext uri="{FF2B5EF4-FFF2-40B4-BE49-F238E27FC236}">
                  <a16:creationId xmlns:a16="http://schemas.microsoft.com/office/drawing/2014/main" id="{4C28DD65-3FC7-4D48-8010-D808C7508E61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6" name="Google Shape;9841;p83">
              <a:extLst>
                <a:ext uri="{FF2B5EF4-FFF2-40B4-BE49-F238E27FC236}">
                  <a16:creationId xmlns:a16="http://schemas.microsoft.com/office/drawing/2014/main" id="{8835B26E-1F39-4442-B317-327764C5904B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7" name="Google Shape;9841;p83">
              <a:extLst>
                <a:ext uri="{FF2B5EF4-FFF2-40B4-BE49-F238E27FC236}">
                  <a16:creationId xmlns:a16="http://schemas.microsoft.com/office/drawing/2014/main" id="{4D713A52-AB5F-4046-BC43-D8EA05F36D47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8" name="Google Shape;9841;p83">
              <a:extLst>
                <a:ext uri="{FF2B5EF4-FFF2-40B4-BE49-F238E27FC236}">
                  <a16:creationId xmlns:a16="http://schemas.microsoft.com/office/drawing/2014/main" id="{B4EE31B2-14A6-4268-973A-A7A8E637E1E2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9" name="Google Shape;9841;p83">
              <a:extLst>
                <a:ext uri="{FF2B5EF4-FFF2-40B4-BE49-F238E27FC236}">
                  <a16:creationId xmlns:a16="http://schemas.microsoft.com/office/drawing/2014/main" id="{D01613E0-191F-44DA-A731-229011950A71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0" name="Google Shape;9841;p83">
              <a:extLst>
                <a:ext uri="{FF2B5EF4-FFF2-40B4-BE49-F238E27FC236}">
                  <a16:creationId xmlns:a16="http://schemas.microsoft.com/office/drawing/2014/main" id="{2B32236F-758C-4D86-9408-61498F9531DC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1" name="Google Shape;9841;p83">
              <a:extLst>
                <a:ext uri="{FF2B5EF4-FFF2-40B4-BE49-F238E27FC236}">
                  <a16:creationId xmlns:a16="http://schemas.microsoft.com/office/drawing/2014/main" id="{5BAD0353-C482-4D91-B57C-8F497ADB0CBE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2" name="Google Shape;9841;p83">
              <a:extLst>
                <a:ext uri="{FF2B5EF4-FFF2-40B4-BE49-F238E27FC236}">
                  <a16:creationId xmlns:a16="http://schemas.microsoft.com/office/drawing/2014/main" id="{F3D8E77A-331C-4A59-A81D-1A9BB26FC726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3" name="Google Shape;9841;p83">
              <a:extLst>
                <a:ext uri="{FF2B5EF4-FFF2-40B4-BE49-F238E27FC236}">
                  <a16:creationId xmlns:a16="http://schemas.microsoft.com/office/drawing/2014/main" id="{0BD72E3B-3C3E-47B6-9125-C36C6AB48D17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FABCBAD7-196D-4B13-926E-D0D41B0149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0072" y="1599418"/>
            <a:ext cx="3601591" cy="19446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:push dir="u"/>
      </p:transition>
    </mc:Choice>
    <mc:Fallback xmlns="" xmlns:m="http://schemas.openxmlformats.org/officeDocument/2006/math" xmlns:w="http://schemas.openxmlformats.org/wordprocessingml/2006/main">
      <p:transition spd="med" advClick="1">
        <p:push dir="u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5549038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73296" y="432749"/>
            <a:ext cx="6586936" cy="798048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28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Производительность разработанных алгоритмов поиска сумм соседей</a:t>
            </a:r>
            <a:endParaRPr sz="2800" b="1" dirty="0">
              <a:latin typeface="Times New Roman" panose="02020603050405020304" pitchFamily="18" charset="0"/>
              <a:ea typeface="AMDRTG"/>
              <a:cs typeface="Times New Roman" panose="02020603050405020304" pitchFamily="18" charset="0"/>
            </a:endParaRPr>
          </a:p>
        </p:txBody>
      </p:sp>
      <p:sp>
        <p:nvSpPr>
          <p:cNvPr id="749599721" name="TextBox 749599720"/>
          <p:cNvSpPr txBox="1"/>
          <p:nvPr/>
        </p:nvSpPr>
        <p:spPr bwMode="auto">
          <a:xfrm>
            <a:off x="123718" y="1275606"/>
            <a:ext cx="3469107" cy="292336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2400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Было разработано 6 алгоритмов</a:t>
            </a:r>
            <a:r>
              <a:rPr lang="en-US" sz="2400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Наивный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Скалярный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Скалярный опт.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SSE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SSE 2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AVX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3" name="Группа 52">
            <a:extLst>
              <a:ext uri="{FF2B5EF4-FFF2-40B4-BE49-F238E27FC236}">
                <a16:creationId xmlns:a16="http://schemas.microsoft.com/office/drawing/2014/main" id="{177FFD5A-A828-47CC-9C83-D401CA2C5135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54" name="Google Shape;9830;p83">
              <a:extLst>
                <a:ext uri="{FF2B5EF4-FFF2-40B4-BE49-F238E27FC236}">
                  <a16:creationId xmlns:a16="http://schemas.microsoft.com/office/drawing/2014/main" id="{DB7A7098-0CA4-4C62-8A20-160ABADB4571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5" name="Google Shape;9841;p83">
              <a:extLst>
                <a:ext uri="{FF2B5EF4-FFF2-40B4-BE49-F238E27FC236}">
                  <a16:creationId xmlns:a16="http://schemas.microsoft.com/office/drawing/2014/main" id="{C66D2687-F860-49D2-8380-F5C86AFF7C6B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6" name="Google Shape;9841;p83">
              <a:extLst>
                <a:ext uri="{FF2B5EF4-FFF2-40B4-BE49-F238E27FC236}">
                  <a16:creationId xmlns:a16="http://schemas.microsoft.com/office/drawing/2014/main" id="{91293E59-E4CE-4C39-9C73-4C42BDB37B08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7" name="Google Shape;9841;p83">
              <a:extLst>
                <a:ext uri="{FF2B5EF4-FFF2-40B4-BE49-F238E27FC236}">
                  <a16:creationId xmlns:a16="http://schemas.microsoft.com/office/drawing/2014/main" id="{A055EFF2-DC13-4B59-A776-A064B103B4BD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8" name="Google Shape;9841;p83">
              <a:extLst>
                <a:ext uri="{FF2B5EF4-FFF2-40B4-BE49-F238E27FC236}">
                  <a16:creationId xmlns:a16="http://schemas.microsoft.com/office/drawing/2014/main" id="{991AA6F0-6A1F-4F1C-AC2A-D80FAA51AFE3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9" name="Google Shape;9841;p83">
              <a:extLst>
                <a:ext uri="{FF2B5EF4-FFF2-40B4-BE49-F238E27FC236}">
                  <a16:creationId xmlns:a16="http://schemas.microsoft.com/office/drawing/2014/main" id="{345E5AE9-DD90-4880-95AF-F392DF51FA3E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0" name="Google Shape;9841;p83">
              <a:extLst>
                <a:ext uri="{FF2B5EF4-FFF2-40B4-BE49-F238E27FC236}">
                  <a16:creationId xmlns:a16="http://schemas.microsoft.com/office/drawing/2014/main" id="{E0E062D7-4CF1-47CC-BCA7-010FF0FEB96C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1" name="Google Shape;9841;p83">
              <a:extLst>
                <a:ext uri="{FF2B5EF4-FFF2-40B4-BE49-F238E27FC236}">
                  <a16:creationId xmlns:a16="http://schemas.microsoft.com/office/drawing/2014/main" id="{CBFC1F89-620E-41B0-B9FC-B1F8AD4C2C91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2" name="Google Shape;9841;p83">
              <a:extLst>
                <a:ext uri="{FF2B5EF4-FFF2-40B4-BE49-F238E27FC236}">
                  <a16:creationId xmlns:a16="http://schemas.microsoft.com/office/drawing/2014/main" id="{6E043724-4E21-4229-B58F-A1B5ADA42E12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3" name="Google Shape;9841;p83">
              <a:extLst>
                <a:ext uri="{FF2B5EF4-FFF2-40B4-BE49-F238E27FC236}">
                  <a16:creationId xmlns:a16="http://schemas.microsoft.com/office/drawing/2014/main" id="{9B1D0FE3-8A0E-47B2-AF24-774DDCC391D5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aphicFrame>
        <p:nvGraphicFramePr>
          <p:cNvPr id="15" name="Диаграмма 14">
            <a:extLst>
              <a:ext uri="{FF2B5EF4-FFF2-40B4-BE49-F238E27FC236}">
                <a16:creationId xmlns:a16="http://schemas.microsoft.com/office/drawing/2014/main" id="{FCA60812-F9E5-4E55-97DE-D3D2C32D8A4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48513946"/>
              </p:ext>
            </p:extLst>
          </p:nvPr>
        </p:nvGraphicFramePr>
        <p:xfrm>
          <a:off x="3478451" y="1275606"/>
          <a:ext cx="5243830" cy="36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852782248"/>
      </p:ext>
    </p:extLst>
  </p:cSld>
  <p:clrMapOvr>
    <a:masterClrMapping/>
  </p:clrMapOvr>
  <p:transition spd="med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5549038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73296" y="432749"/>
            <a:ext cx="6658944" cy="798048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28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Производительность разработанных алгоритмов применения правил</a:t>
            </a:r>
            <a:r>
              <a:rPr lang="en-US" sz="28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 B</a:t>
            </a:r>
            <a:r>
              <a:rPr lang="ru-RU" sz="28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 и </a:t>
            </a:r>
            <a:r>
              <a:rPr lang="en-US" sz="28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S</a:t>
            </a:r>
            <a:endParaRPr sz="2800" b="1" dirty="0">
              <a:latin typeface="Times New Roman" panose="02020603050405020304" pitchFamily="18" charset="0"/>
              <a:ea typeface="AMDRTG"/>
              <a:cs typeface="Times New Roman" panose="02020603050405020304" pitchFamily="18" charset="0"/>
            </a:endParaRPr>
          </a:p>
        </p:txBody>
      </p:sp>
      <p:sp>
        <p:nvSpPr>
          <p:cNvPr id="749599721" name="TextBox 749599720"/>
          <p:cNvSpPr txBox="1"/>
          <p:nvPr/>
        </p:nvSpPr>
        <p:spPr bwMode="auto">
          <a:xfrm>
            <a:off x="179513" y="1523390"/>
            <a:ext cx="2880320" cy="32778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Было разработано 7 алгоритмов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Наивный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Оптимизированный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 исп.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bitset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 исп. буфера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 исп. буфера и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bitset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SSE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AVX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SSE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AVX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не вошли из-за низкой скорости в бенчмарке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E609C39E-6445-44CC-880F-589F359FAD39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24" name="Google Shape;9830;p83">
              <a:extLst>
                <a:ext uri="{FF2B5EF4-FFF2-40B4-BE49-F238E27FC236}">
                  <a16:creationId xmlns:a16="http://schemas.microsoft.com/office/drawing/2014/main" id="{FEC25EF4-2EC1-4D80-93D7-2EB0017C8D56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" name="Google Shape;9841;p83">
              <a:extLst>
                <a:ext uri="{FF2B5EF4-FFF2-40B4-BE49-F238E27FC236}">
                  <a16:creationId xmlns:a16="http://schemas.microsoft.com/office/drawing/2014/main" id="{CAEB3E90-142E-49A7-966B-C0EA330BFE92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Google Shape;9841;p83">
              <a:extLst>
                <a:ext uri="{FF2B5EF4-FFF2-40B4-BE49-F238E27FC236}">
                  <a16:creationId xmlns:a16="http://schemas.microsoft.com/office/drawing/2014/main" id="{456439DD-C1DE-4BAE-A025-96B2475C6776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Google Shape;9841;p83">
              <a:extLst>
                <a:ext uri="{FF2B5EF4-FFF2-40B4-BE49-F238E27FC236}">
                  <a16:creationId xmlns:a16="http://schemas.microsoft.com/office/drawing/2014/main" id="{DF9D5C74-57B2-4B91-AB55-FAA9D2E0C95E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Google Shape;9841;p83">
              <a:extLst>
                <a:ext uri="{FF2B5EF4-FFF2-40B4-BE49-F238E27FC236}">
                  <a16:creationId xmlns:a16="http://schemas.microsoft.com/office/drawing/2014/main" id="{856CF0A8-D8C9-4FC0-85F8-1183A767EE43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Google Shape;9841;p83">
              <a:extLst>
                <a:ext uri="{FF2B5EF4-FFF2-40B4-BE49-F238E27FC236}">
                  <a16:creationId xmlns:a16="http://schemas.microsoft.com/office/drawing/2014/main" id="{C49A4DAB-385A-4BDA-8547-94E3087208E8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Google Shape;9841;p83">
              <a:extLst>
                <a:ext uri="{FF2B5EF4-FFF2-40B4-BE49-F238E27FC236}">
                  <a16:creationId xmlns:a16="http://schemas.microsoft.com/office/drawing/2014/main" id="{A018B3DF-0F7F-4FBF-915A-1D22FCDCE2E7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Google Shape;9841;p83">
              <a:extLst>
                <a:ext uri="{FF2B5EF4-FFF2-40B4-BE49-F238E27FC236}">
                  <a16:creationId xmlns:a16="http://schemas.microsoft.com/office/drawing/2014/main" id="{37550588-7487-4490-B352-65D5D168871F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4" name="Google Shape;9841;p83">
              <a:extLst>
                <a:ext uri="{FF2B5EF4-FFF2-40B4-BE49-F238E27FC236}">
                  <a16:creationId xmlns:a16="http://schemas.microsoft.com/office/drawing/2014/main" id="{E90EA42B-0506-427E-B1EA-E31867AB425A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5" name="Google Shape;9841;p83">
              <a:extLst>
                <a:ext uri="{FF2B5EF4-FFF2-40B4-BE49-F238E27FC236}">
                  <a16:creationId xmlns:a16="http://schemas.microsoft.com/office/drawing/2014/main" id="{4E2C3CA5-4C09-4B3D-8CAD-B64D1ACDEC5A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aphicFrame>
        <p:nvGraphicFramePr>
          <p:cNvPr id="15" name="Диаграмма 14">
            <a:extLst>
              <a:ext uri="{FF2B5EF4-FFF2-40B4-BE49-F238E27FC236}">
                <a16:creationId xmlns:a16="http://schemas.microsoft.com/office/drawing/2014/main" id="{973217CF-09C5-4C63-B754-BD3DE0D8C13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43847346"/>
              </p:ext>
            </p:extLst>
          </p:nvPr>
        </p:nvGraphicFramePr>
        <p:xfrm>
          <a:off x="2987824" y="1343302"/>
          <a:ext cx="5924550" cy="35327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178513561"/>
      </p:ext>
    </p:extLst>
  </p:cSld>
  <p:clrMapOvr>
    <a:masterClrMapping/>
  </p:clrMapOvr>
  <p:transition spd="med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5549038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73296" y="432748"/>
            <a:ext cx="6065121" cy="986873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36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Производительность общих алгоритмов</a:t>
            </a:r>
            <a:endParaRPr sz="3600" b="1" dirty="0">
              <a:latin typeface="Times New Roman" panose="02020603050405020304" pitchFamily="18" charset="0"/>
              <a:ea typeface="AMDRTG"/>
              <a:cs typeface="Times New Roman" panose="02020603050405020304" pitchFamily="18" charset="0"/>
            </a:endParaRPr>
          </a:p>
        </p:txBody>
      </p:sp>
      <p:sp>
        <p:nvSpPr>
          <p:cNvPr id="749599721" name="TextBox 749599720"/>
          <p:cNvSpPr txBox="1"/>
          <p:nvPr/>
        </p:nvSpPr>
        <p:spPr bwMode="auto">
          <a:xfrm>
            <a:off x="81611" y="1429168"/>
            <a:ext cx="3951416" cy="256948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Собрав в общие алгоритмы декомпозированные задачи, реализовано 4 алгоритма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 indent="-457200">
              <a:buFont typeface="+mj-lt"/>
              <a:buAutoNum type="arabicParenR"/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Базовый</a:t>
            </a:r>
          </a:p>
          <a:p>
            <a:pPr marL="457200" indent="-457200">
              <a:buFont typeface="+mj-lt"/>
              <a:buAutoNum type="arabicParenR"/>
              <a:defRPr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AVX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 исп.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bitset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arenR"/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Только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AVX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arenR"/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Только скалярный</a:t>
            </a:r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F704C3FF-E35F-4BE8-B1A8-198FDA742ED2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24" name="Google Shape;9830;p83">
              <a:extLst>
                <a:ext uri="{FF2B5EF4-FFF2-40B4-BE49-F238E27FC236}">
                  <a16:creationId xmlns:a16="http://schemas.microsoft.com/office/drawing/2014/main" id="{DC67F308-47DA-4FAF-86C5-39C4220EE5A7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" name="Google Shape;9841;p83">
              <a:extLst>
                <a:ext uri="{FF2B5EF4-FFF2-40B4-BE49-F238E27FC236}">
                  <a16:creationId xmlns:a16="http://schemas.microsoft.com/office/drawing/2014/main" id="{3570189D-C660-40BF-A17C-ECF36C9F594D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Google Shape;9841;p83">
              <a:extLst>
                <a:ext uri="{FF2B5EF4-FFF2-40B4-BE49-F238E27FC236}">
                  <a16:creationId xmlns:a16="http://schemas.microsoft.com/office/drawing/2014/main" id="{F70EA5FD-0BC6-4BFA-BE44-CB2FF97C9D3C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Google Shape;9841;p83">
              <a:extLst>
                <a:ext uri="{FF2B5EF4-FFF2-40B4-BE49-F238E27FC236}">
                  <a16:creationId xmlns:a16="http://schemas.microsoft.com/office/drawing/2014/main" id="{77D15518-14D0-432F-8D58-CE1F923B20D4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Google Shape;9841;p83">
              <a:extLst>
                <a:ext uri="{FF2B5EF4-FFF2-40B4-BE49-F238E27FC236}">
                  <a16:creationId xmlns:a16="http://schemas.microsoft.com/office/drawing/2014/main" id="{2EA4F44D-DE96-429A-BBDD-093F4D2B33EA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Google Shape;9841;p83">
              <a:extLst>
                <a:ext uri="{FF2B5EF4-FFF2-40B4-BE49-F238E27FC236}">
                  <a16:creationId xmlns:a16="http://schemas.microsoft.com/office/drawing/2014/main" id="{089BAE9A-6594-49C7-AEF8-4169C7529AC7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Google Shape;9841;p83">
              <a:extLst>
                <a:ext uri="{FF2B5EF4-FFF2-40B4-BE49-F238E27FC236}">
                  <a16:creationId xmlns:a16="http://schemas.microsoft.com/office/drawing/2014/main" id="{FD34CE3B-0049-488F-A8C7-8DA466C85362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Google Shape;9841;p83">
              <a:extLst>
                <a:ext uri="{FF2B5EF4-FFF2-40B4-BE49-F238E27FC236}">
                  <a16:creationId xmlns:a16="http://schemas.microsoft.com/office/drawing/2014/main" id="{1FA23D01-D9C2-4DC5-82B5-2021ED7ABCDA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4" name="Google Shape;9841;p83">
              <a:extLst>
                <a:ext uri="{FF2B5EF4-FFF2-40B4-BE49-F238E27FC236}">
                  <a16:creationId xmlns:a16="http://schemas.microsoft.com/office/drawing/2014/main" id="{88450FA8-DEE9-4DCD-83F8-BD3711825FFD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5" name="Google Shape;9841;p83">
              <a:extLst>
                <a:ext uri="{FF2B5EF4-FFF2-40B4-BE49-F238E27FC236}">
                  <a16:creationId xmlns:a16="http://schemas.microsoft.com/office/drawing/2014/main" id="{0E215F88-EF50-486F-87F8-16A471A25CBF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aphicFrame>
        <p:nvGraphicFramePr>
          <p:cNvPr id="16" name="Диаграмма 15">
            <a:extLst>
              <a:ext uri="{FF2B5EF4-FFF2-40B4-BE49-F238E27FC236}">
                <a16:creationId xmlns:a16="http://schemas.microsoft.com/office/drawing/2014/main" id="{C04C1FFD-EAA0-40CA-BFE9-5D28C0D621B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09502444"/>
              </p:ext>
            </p:extLst>
          </p:nvPr>
        </p:nvGraphicFramePr>
        <p:xfrm>
          <a:off x="3765279" y="1059582"/>
          <a:ext cx="5305425" cy="34861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166712265"/>
      </p:ext>
    </p:extLst>
  </p:cSld>
  <p:clrMapOvr>
    <a:masterClrMapping/>
  </p:clrMapOvr>
  <p:transition spd="med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3FAC5DB-B97C-46F5-8AAD-AD45D01FDB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0034" y="555526"/>
            <a:ext cx="3743931" cy="1368152"/>
          </a:xfrm>
        </p:spPr>
        <p:txBody>
          <a:bodyPr/>
          <a:lstStyle/>
          <a:p>
            <a:r>
              <a:rPr lang="ru-RU" sz="3600" dirty="0"/>
              <a:t>Заключение</a:t>
            </a:r>
            <a:br>
              <a:rPr lang="ru-RU" sz="6000" dirty="0"/>
            </a:br>
            <a:endParaRPr lang="ru-RU" sz="6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0F0E6CA-74A2-4238-93E4-271D6FA41A5B}"/>
              </a:ext>
            </a:extLst>
          </p:cNvPr>
          <p:cNvSpPr txBox="1"/>
          <p:nvPr/>
        </p:nvSpPr>
        <p:spPr bwMode="auto">
          <a:xfrm>
            <a:off x="323527" y="1762362"/>
            <a:ext cx="8496944" cy="161877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Обеспечены высокопроизводительные вычисления благодаря динамической библиотеке на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C++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которая позволила уменьшить время выполнения в 86 раз.</a:t>
            </a:r>
          </a:p>
        </p:txBody>
      </p:sp>
    </p:spTree>
    <p:extLst>
      <p:ext uri="{BB962C8B-B14F-4D97-AF65-F5344CB8AC3E}">
        <p14:creationId xmlns:p14="http://schemas.microsoft.com/office/powerpoint/2010/main" val="70085573"/>
      </p:ext>
    </p:extLst>
  </p:cSld>
  <p:clrMapOvr>
    <a:masterClrMapping/>
  </p:clrMapOvr>
</p:sld>
</file>

<file path=ppt/theme/theme1.xml><?xml version="1.0" encoding="utf-8"?>
<a:theme xmlns:a="http://schemas.openxmlformats.org/drawingml/2006/main" name="Computer Science &amp; Mathematics Major for College: Software &amp; Media Applications by Slidesgo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FFFFFF"/>
      </a:lt2>
      <a:accent1>
        <a:srgbClr val="B7B7B7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00000"/>
      </a:hlink>
      <a:folHlink>
        <a:srgbClr val="0097A7"/>
      </a:folHlink>
    </a:clrScheme>
    <a:fontScheme name="база">
      <a:majorFont>
        <a:latin typeface="Times New Roman"/>
        <a:ea typeface="Arial"/>
        <a:cs typeface="Arial"/>
      </a:majorFont>
      <a:minorFont>
        <a:latin typeface="Times New Roman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795</TotalTime>
  <Words>1088</Words>
  <Application>Microsoft Office PowerPoint</Application>
  <DocSecurity>0</DocSecurity>
  <PresentationFormat>Экран (16:9)</PresentationFormat>
  <Paragraphs>104</Paragraphs>
  <Slides>11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7" baseType="lpstr">
      <vt:lpstr>Arial</vt:lpstr>
      <vt:lpstr>Abadi</vt:lpstr>
      <vt:lpstr>Times New Roman</vt:lpstr>
      <vt:lpstr>Chakra Petch Medium</vt:lpstr>
      <vt:lpstr>Fira Code</vt:lpstr>
      <vt:lpstr>Computer Science &amp; Mathematics Major for College: Software &amp; Media Applications by Slidesgo</vt:lpstr>
      <vt:lpstr>Презентация PowerPoint</vt:lpstr>
      <vt:lpstr>Актуальность</vt:lpstr>
      <vt:lpstr>Цель</vt:lpstr>
      <vt:lpstr>Выбор средств разработки</vt:lpstr>
      <vt:lpstr>Архитектура библиотеки</vt:lpstr>
      <vt:lpstr>Декомпозиция задачи</vt:lpstr>
      <vt:lpstr>SISD и SIMD</vt:lpstr>
      <vt:lpstr>Производительность разработанных алгоритмов поиска сумм соседей</vt:lpstr>
      <vt:lpstr>Производительность разработанных алгоритмов применения правил B и S</vt:lpstr>
      <vt:lpstr>Производительность общих алгоритмов</vt:lpstr>
      <vt:lpstr>Заключение 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Baka</dc:creator>
  <cp:keywords/>
  <dc:description/>
  <cp:lastModifiedBy>Baka</cp:lastModifiedBy>
  <cp:revision>86</cp:revision>
  <dcterms:modified xsi:type="dcterms:W3CDTF">2026-06-12T10:10:46Z</dcterms:modified>
  <cp:category/>
  <dc:identifier/>
  <cp:contentStatus/>
  <dc:language/>
  <cp:version/>
</cp:coreProperties>
</file>