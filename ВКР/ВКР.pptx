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  <p:sldId id="279" r:id="rId12"/>
  </p:sldIdLst>
  <p:sldSz cx="9144000" cy="5143500" type="screen16x9"/>
  <p:notesSz cx="6858000" cy="9144000"/>
  <p:embeddedFontLst>
    <p:embeddedFont>
      <p:font typeface="Abadi" panose="020B0604020104020204" pitchFamily="34" charset="0"/>
      <p:regular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3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020" autoAdjust="0"/>
  </p:normalViewPr>
  <p:slideViewPr>
    <p:cSldViewPr>
      <p:cViewPr varScale="1">
        <p:scale>
          <a:sx n="121" d="100"/>
          <a:sy n="121" d="100"/>
        </p:scale>
        <p:origin x="1314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9418622272492673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37-481B-9B8F-A891E0A2BD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637-481B-9B8F-A891E0A2BD7D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637-481B-9B8F-A891E0A2BD7D}"/>
                </c:ext>
              </c:extLst>
            </c:dLbl>
            <c:dLbl>
              <c:idx val="2"/>
              <c:layout>
                <c:manualLayout>
                  <c:x val="2.7892777527645696E-3"/>
                  <c:y val="-6.018518518518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637-481B-9B8F-A891E0A2BD7D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637-481B-9B8F-A891E0A2BD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637-481B-9B8F-A891E0A2BD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Клеточные автоматы – мощный инструмент для моделирования различных процессов в различных областях науки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от физики и химии, до социологии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нет простых и мощных программных продуктов, которые бы позволили легко встроить клеточный автомат в свою программу для использовании в научных вычислениях, или в игры (например, для процедурной генерации, фоновых тем, головоломок и т.п.).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На рисунке изображена </a:t>
            </a:r>
            <a:r>
              <a:rPr lang="ru-RU" dirty="0" err="1">
                <a:latin typeface="Abadi" panose="020B0604020104020204" pitchFamily="34" charset="0"/>
              </a:rPr>
              <a:t>гифка</a:t>
            </a:r>
            <a:r>
              <a:rPr lang="ru-RU" dirty="0">
                <a:latin typeface="Abadi" panose="020B0604020104020204" pitchFamily="34" charset="0"/>
              </a:rPr>
              <a:t> с хоть и довольно простым, но моделированием лесных пожаров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Целью ВКР является разработка высокопроизводительной библиотеки для моделирования клеточных автоматов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этого были поставлены следующие задачи: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AutoNum type="arabicParenR"/>
              <a:defRPr/>
            </a:pPr>
            <a:r>
              <a:rPr lang="ru-RU" dirty="0">
                <a:latin typeface="Abadi" panose="020B0604020104020204" pitchFamily="34" charset="0"/>
              </a:rPr>
              <a:t>Узнать, какие особенности современных процессоров позволяют добиться максимальной производительности (правильное расположение данных, использование предсказателя ветвлений, </a:t>
            </a:r>
            <a:r>
              <a:rPr lang="ru-RU" dirty="0" err="1">
                <a:latin typeface="Abadi" panose="020B0604020104020204" pitchFamily="34" charset="0"/>
              </a:rPr>
              <a:t>предвыборщика</a:t>
            </a:r>
            <a:r>
              <a:rPr lang="ru-RU" dirty="0">
                <a:latin typeface="Abadi" panose="020B0604020104020204" pitchFamily="34" charset="0"/>
              </a:rPr>
              <a:t> данных, правильная упаковка данных, SIMD, SISD и так далее)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2) Спроектировать архитектуру для удобства использования другими языками через ABI с соглашением вызовов </a:t>
            </a:r>
            <a:r>
              <a:rPr lang="ru-RU" dirty="0" err="1">
                <a:latin typeface="Abadi" panose="020B0604020104020204" pitchFamily="34" charset="0"/>
              </a:rPr>
              <a:t>cdecl</a:t>
            </a:r>
            <a:endParaRPr lang="ru-RU" dirty="0">
              <a:latin typeface="Abadi" panose="020B0604020104020204" pitchFamily="34" charset="0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3) на основе полученных данных с пункта 1 реализовать различные алгоритмы, сравнить их производительность и взять самое лучшее из них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4) на основе предыдущих пунктов реализовать конечную библиотеку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 качестве языка программирования был выбран </a:t>
            </a:r>
            <a:r>
              <a:rPr lang="en-US" dirty="0">
                <a:latin typeface="Abadi" panose="020B0604020104020204" pitchFamily="34" charset="0"/>
              </a:rPr>
              <a:t>C++23</a:t>
            </a:r>
            <a:r>
              <a:rPr lang="ru-RU" dirty="0">
                <a:latin typeface="Abadi" panose="020B0604020104020204" pitchFamily="34" charset="0"/>
              </a:rPr>
              <a:t>., который позволяет писать быстрый код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Выбранной </a:t>
            </a:r>
            <a:r>
              <a:rPr lang="en-US" dirty="0">
                <a:latin typeface="Abadi" panose="020B0604020104020204" pitchFamily="34" charset="0"/>
              </a:rPr>
              <a:t>IDE</a:t>
            </a:r>
            <a:r>
              <a:rPr lang="ru-RU" dirty="0">
                <a:latin typeface="Abadi" panose="020B0604020104020204" pitchFamily="34" charset="0"/>
              </a:rPr>
              <a:t> стала </a:t>
            </a:r>
            <a:r>
              <a:rPr lang="en-US" dirty="0">
                <a:latin typeface="Abadi" panose="020B0604020104020204" pitchFamily="34" charset="0"/>
              </a:rPr>
              <a:t>VS2026</a:t>
            </a:r>
            <a:r>
              <a:rPr lang="ru-RU" dirty="0">
                <a:latin typeface="Abadi" panose="020B0604020104020204" pitchFamily="34" charset="0"/>
              </a:rPr>
              <a:t> с только-только вышедшей полноценной поддержкой 23-его стандарта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Деплой был на </a:t>
            </a:r>
            <a:r>
              <a:rPr lang="en-US" dirty="0">
                <a:latin typeface="Abadi" panose="020B0604020104020204" pitchFamily="34" charset="0"/>
              </a:rPr>
              <a:t>Windows 11</a:t>
            </a:r>
            <a:r>
              <a:rPr lang="ru-RU" dirty="0">
                <a:latin typeface="Abadi" panose="020B0604020104020204" pitchFamily="34" charset="0"/>
              </a:rPr>
              <a:t>, но нет никаких ограничений на использование и в более старых версиях </a:t>
            </a:r>
            <a:r>
              <a:rPr lang="en-US" dirty="0">
                <a:latin typeface="Abadi" panose="020B0604020104020204" pitchFamily="34" charset="0"/>
              </a:rPr>
              <a:t>Windows</a:t>
            </a:r>
            <a:r>
              <a:rPr lang="ru-RU" dirty="0">
                <a:latin typeface="Abadi" panose="020B0604020104020204" pitchFamily="34" charset="0"/>
              </a:rPr>
              <a:t>, главное, чтобы они были 64-ёх битными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Главной особенностью библиотеки стал автоматический выбор бэкенда, то есть реализации ядра (алгоритмов). Если публичный интерфейс отвечает только за набор предоставляемых во вне функций,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то уровень диспетчеризации отвечает за выбор правильного </a:t>
            </a:r>
            <a:r>
              <a:rPr lang="ru-RU" dirty="0" err="1">
                <a:latin typeface="Abadi" panose="020B0604020104020204" pitchFamily="34" charset="0"/>
              </a:rPr>
              <a:t>бекэнда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Бэкенд отвечает за саму реализацию алгоритмов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есть поддержка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– значит используем его. Нет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, но есть </a:t>
            </a:r>
            <a:r>
              <a:rPr lang="en-US" dirty="0">
                <a:latin typeface="Abadi" panose="020B0604020104020204" pitchFamily="34" charset="0"/>
              </a:rPr>
              <a:t>SSE? – </a:t>
            </a:r>
            <a:r>
              <a:rPr lang="ru-RU" dirty="0">
                <a:latin typeface="Abadi" panose="020B0604020104020204" pitchFamily="34" charset="0"/>
              </a:rPr>
              <a:t>значит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. Если нет и этого, то используем скалярную реализацию,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которая запустится на любом процессоре</a:t>
            </a: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Итерация клеточного автомата легко поддаётся декомпозиции. Первым делом ищем сумму соседей по нужной окрестности (Мура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взгляните на рисунок 1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 или фон Неймана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представлено на рисунке 2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), а затем в зависимости от этой суммы и состояния этой клетки применяются правила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, для определения состояния клетки на следующий ход.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разбить на две отдельные операции, можно разрабатывать и оптимизировать отдельные куски программы (то есть эти самые операции), что должно упростить разработку и время на тестирование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заходит дело про оптимизацию времени выполнения, не стоит пропускать разницу между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– это привычные нам операции, которые мы пишем в коде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прибавить к одному числу другое, поменять значение в массиве по конкретному индексу на другое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не позволяет использовать главное преимущество современных процессоров – векторизацию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 же работает иначе, он оперирует блоками данных и применяет к ним инструкцию. Привычное «прибавить к одному числу другое» превращается в «к каждому элементу блока данных прибавить другой блок данных» и т.д.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Это позволяет кратно повысить производительность, ценой повышения сложности кода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Вспоминая про декомпозицию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было разработано 6 различных алгоритмов для поиска сумм в окрестности Мура, а так же был разработан собственный бенчмарк. Замерялось время выполнения 1000 итераций по массивам 4096*4096 элементов. Он замерял такие параметры, как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Минимальное, Среднее, Максимальное время выполнения, а так же перцентили времени. На гистограмме отображено преимущество во времени выполнения разработанных алгоритмов перед самым простым и наивным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применения правил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 были разработаны уже 7 алгоритмов. Сравнительная гистограмма так же представлена на экране. Отмечу, что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из-за своей низкой производительности </a:t>
            </a:r>
            <a:r>
              <a:rPr lang="ru-RU" sz="1200" b="1" dirty="0">
                <a:latin typeface="Abadi" panose="020B0604020104020204" pitchFamily="34" charset="0"/>
              </a:rPr>
              <a:t>именно</a:t>
            </a:r>
            <a:r>
              <a:rPr lang="ru-RU" dirty="0">
                <a:latin typeface="Abadi" panose="020B0604020104020204" pitchFamily="34" charset="0"/>
              </a:rPr>
              <a:t> в бенчмарке</a:t>
            </a:r>
            <a:r>
              <a:rPr lang="en-US" dirty="0">
                <a:latin typeface="Abadi" panose="020B0604020104020204" pitchFamily="34" charset="0"/>
              </a:rPr>
              <a:t> </a:t>
            </a:r>
            <a:r>
              <a:rPr lang="ru-RU" dirty="0">
                <a:latin typeface="Abadi" panose="020B0604020104020204" pitchFamily="34" charset="0"/>
              </a:rPr>
              <a:t>не вошли в гистограмму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Собрав назад декомпозированные задачи в алгоритмы, я получил 4 общих реализации. Если принять базовую реализацию за 100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то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для поиска сумм, а </a:t>
            </a:r>
            <a:r>
              <a:rPr lang="en-US" dirty="0" err="1">
                <a:latin typeface="Abadi" panose="020B0604020104020204" pitchFamily="34" charset="0"/>
              </a:rPr>
              <a:t>bitset</a:t>
            </a:r>
            <a:r>
              <a:rPr lang="ru-RU" dirty="0">
                <a:latin typeface="Abadi" panose="020B0604020104020204" pitchFamily="34" charset="0"/>
              </a:rPr>
              <a:t> для применения правил, то получится что они займут всего 18,4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 выполнения.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 для суммирования и для применения правил ещё сильнее повышает производительность – он занимает всего 1,2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времени.  Использование только самых оптимизированных скалярных алгоритмов занимает 20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что тоже неплохо, так как повышает производительность в 5 раз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14946" y="1156715"/>
            <a:ext cx="8928992" cy="283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мощный инструмент для моделирования различных процессов в физике, химии, социологии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научных вычислениях и играх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Но 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есть проблема отсутствия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высокопроизводительных решений в удобной обёртке, например,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1296144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79512" y="2473037"/>
            <a:ext cx="8640960" cy="180671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3738070-53B0-43B6-AF06-1D5F9E14E8B2}"/>
              </a:ext>
            </a:extLst>
          </p:cNvPr>
          <p:cNvSpPr txBox="1"/>
          <p:nvPr/>
        </p:nvSpPr>
        <p:spPr bwMode="auto">
          <a:xfrm>
            <a:off x="208801" y="1119459"/>
            <a:ext cx="6235407" cy="9219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высокопроизводительную библиотеку для моделирования клеточных автоматов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Google Shape;794;p40">
            <a:extLst>
              <a:ext uri="{FF2B5EF4-FFF2-40B4-BE49-F238E27FC236}">
                <a16:creationId xmlns:a16="http://schemas.microsoft.com/office/drawing/2014/main" id="{88A68FDA-35BF-416D-B9F8-CA895324D953}"/>
              </a:ext>
            </a:extLst>
          </p:cNvPr>
          <p:cNvSpPr txBox="1">
            <a:spLocks/>
          </p:cNvSpPr>
          <p:nvPr/>
        </p:nvSpPr>
        <p:spPr bwMode="auto">
          <a:xfrm>
            <a:off x="107504" y="1836341"/>
            <a:ext cx="1719808" cy="8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5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hakra Petch Medium"/>
                <a:cs typeface="Times New Roman" panose="02020603050405020304" pitchFamily="18" charset="0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 algn="l">
              <a:defRPr/>
            </a:pPr>
            <a:r>
              <a:rPr lang="ru-RU" sz="3600" b="1" dirty="0">
                <a:ea typeface="Federov2"/>
              </a:rPr>
              <a:t>Задачи</a:t>
            </a:r>
            <a:endParaRPr lang="ru-RU" sz="3600" b="1" dirty="0"/>
          </a:p>
        </p:txBody>
      </p: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04204" y="1635646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2BB6DC-D362-4554-A40A-A9A98771F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232" y="572926"/>
            <a:ext cx="1515852" cy="170765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2841FA-320A-46A1-B9EF-2F2800854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2571750"/>
            <a:ext cx="2173645" cy="1995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9848" y="440068"/>
            <a:ext cx="4672093" cy="4474231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344788"/>
            <a:ext cx="5774069" cy="705627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2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2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660763"/>
            <a:ext cx="4839174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indent="-4500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клетке согласно количеству соседей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38091" y="1496936"/>
            <a:ext cx="4743504" cy="21496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599418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2860844"/>
              </p:ext>
            </p:extLst>
          </p:nvPr>
        </p:nvGraphicFramePr>
        <p:xfrm>
          <a:off x="4081066" y="1384671"/>
          <a:ext cx="4985198" cy="312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AC5DB-B97C-46F5-8AAD-AD45D01FD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034" y="555526"/>
            <a:ext cx="3743931" cy="1368152"/>
          </a:xfrm>
        </p:spPr>
        <p:txBody>
          <a:bodyPr/>
          <a:lstStyle/>
          <a:p>
            <a:r>
              <a:rPr lang="ru-RU" sz="3600" dirty="0"/>
              <a:t>Заключение</a:t>
            </a:r>
            <a:br>
              <a:rPr lang="ru-RU" sz="6000" dirty="0"/>
            </a:br>
            <a:endParaRPr lang="ru-RU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F0E6CA-74A2-4238-93E4-271D6FA41A5B}"/>
              </a:ext>
            </a:extLst>
          </p:cNvPr>
          <p:cNvSpPr txBox="1"/>
          <p:nvPr/>
        </p:nvSpPr>
        <p:spPr bwMode="auto">
          <a:xfrm>
            <a:off x="251520" y="1227675"/>
            <a:ext cx="8496944" cy="26804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Поставленная цель достигнута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Итоговая производительность библиотеки оказалась выше базовой реализации в 86 раз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Обеспечены высокопроизводительные вычисления благодаря библиотеке.</a:t>
            </a:r>
          </a:p>
        </p:txBody>
      </p:sp>
    </p:spTree>
    <p:extLst>
      <p:ext uri="{BB962C8B-B14F-4D97-AF65-F5344CB8AC3E}">
        <p14:creationId xmlns:p14="http://schemas.microsoft.com/office/powerpoint/2010/main" val="70085573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738</TotalTime>
  <Words>1090</Words>
  <Application>Microsoft Office PowerPoint</Application>
  <DocSecurity>0</DocSecurity>
  <PresentationFormat>Экран (16:9)</PresentationFormat>
  <Paragraphs>106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Abadi</vt:lpstr>
      <vt:lpstr>Arial</vt:lpstr>
      <vt:lpstr>Times New Roman</vt:lpstr>
      <vt:lpstr>Chakra Petch Medium</vt:lpstr>
      <vt:lpstr>Fira Code</vt:lpstr>
      <vt:lpstr>Computer Science &amp; Mathematics Major for College: Software &amp; Media Applications by Slidesgo</vt:lpstr>
      <vt:lpstr>Презентация PowerPoint</vt:lpstr>
      <vt:lpstr>Актуальность</vt:lpstr>
      <vt:lpstr>Цель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  <vt:lpstr>Заключение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83</cp:revision>
  <dcterms:modified xsi:type="dcterms:W3CDTF">2026-06-09T14:13:44Z</dcterms:modified>
  <cp:category/>
  <dc:identifier/>
  <cp:contentStatus/>
  <dc:language/>
  <cp:version/>
</cp:coreProperties>
</file>