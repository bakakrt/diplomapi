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78" r:id="rId4"/>
    <p:sldId id="258" r:id="rId5"/>
    <p:sldId id="273" r:id="rId6"/>
    <p:sldId id="275" r:id="rId7"/>
    <p:sldId id="259" r:id="rId8"/>
    <p:sldId id="274" r:id="rId9"/>
    <p:sldId id="276" r:id="rId10"/>
    <p:sldId id="277" r:id="rId11"/>
  </p:sldIdLst>
  <p:sldSz cx="9144000" cy="5143500" type="screen16x9"/>
  <p:notesSz cx="6858000" cy="9144000"/>
  <p:embeddedFontLst>
    <p:embeddedFont>
      <p:font typeface="Abadi" panose="020B0604020104020204" pitchFamily="34" charset="0"/>
      <p:regular r:id="rId13"/>
    </p:embeddedFont>
    <p:embeddedFont>
      <p:font typeface="Fira Code" panose="020B0809050000020004" pitchFamily="49" charset="0"/>
      <p:regular r:id="rId14"/>
      <p:bold r:id="rId15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ka" initials="B" lastIdx="1" clrIdx="0">
    <p:extLst>
      <p:ext uri="{19B8F6BF-5375-455C-9EA6-DF929625EA0E}">
        <p15:presenceInfo xmlns:p15="http://schemas.microsoft.com/office/powerpoint/2012/main" userId="Bak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  <a:srgbClr val="66FFFF"/>
    <a:srgbClr val="669900"/>
    <a:srgbClr val="0066CC"/>
    <a:srgbClr val="009999"/>
    <a:srgbClr val="6666F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149" d="100"/>
          <a:sy n="149" d="100"/>
        </p:scale>
        <p:origin x="504" y="120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(&#1040;&#1074;&#1090;&#1086;&#1084;&#1072;&#1090;&#1080;&#1095;&#1077;&#1089;&#1082;&#1080;&#1042;&#1086;&#1089;&#1089;&#1090;&#1072;&#1085;&#1086;&#1074;&#1083;&#1077;&#1085;&#1086;)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1"/>
          <c:order val="0"/>
          <c:tx>
            <c:strRef>
              <c:f>SUM!$D$17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(SUM!$D$68,SUM!$D$70:$D$73)</c:f>
              <c:numCache>
                <c:formatCode>0.00</c:formatCode>
                <c:ptCount val="5"/>
                <c:pt idx="0">
                  <c:v>25.969579278467741</c:v>
                </c:pt>
                <c:pt idx="1">
                  <c:v>26.077018891426199</c:v>
                </c:pt>
                <c:pt idx="2">
                  <c:v>2.7575089024889334</c:v>
                </c:pt>
                <c:pt idx="3">
                  <c:v>34.216986088140864</c:v>
                </c:pt>
                <c:pt idx="4">
                  <c:v>85.826354319180084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CC12-428A-8F7E-F82A54E336EF}"/>
            </c:ext>
          </c:extLst>
        </c:ser>
        <c:ser>
          <c:idx val="3"/>
          <c:order val="1"/>
          <c:tx>
            <c:strRef>
              <c:f>SUM!$F$17</c:f>
              <c:strCache>
                <c:ptCount val="1"/>
                <c:pt idx="0">
                  <c:v>0,01%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(SUM!$F$68,SUM!$F$70:$F$73)</c:f>
              <c:numCache>
                <c:formatCode>0.00</c:formatCode>
                <c:ptCount val="5"/>
                <c:pt idx="0">
                  <c:v>25.967757712192419</c:v>
                </c:pt>
                <c:pt idx="1">
                  <c:v>26.076875543829804</c:v>
                </c:pt>
                <c:pt idx="2">
                  <c:v>2.7448663066482033</c:v>
                </c:pt>
                <c:pt idx="3">
                  <c:v>34.216693970539893</c:v>
                </c:pt>
                <c:pt idx="4">
                  <c:v>85.822509326259052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CC12-428A-8F7E-F82A54E336EF}"/>
            </c:ext>
          </c:extLst>
        </c:ser>
        <c:ser>
          <c:idx val="6"/>
          <c:order val="4"/>
          <c:tx>
            <c:strRef>
              <c:f>SUM!$I$17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(SUM!$I$68,SUM!$I$70:$I$73)</c:f>
              <c:numCache>
                <c:formatCode>0.00</c:formatCode>
                <c:ptCount val="5"/>
                <c:pt idx="0">
                  <c:v>26.178361200390018</c:v>
                </c:pt>
                <c:pt idx="1">
                  <c:v>26.376295336787564</c:v>
                </c:pt>
                <c:pt idx="2">
                  <c:v>2.4833746255608022</c:v>
                </c:pt>
                <c:pt idx="3">
                  <c:v>34.683785956249643</c:v>
                </c:pt>
                <c:pt idx="4">
                  <c:v>86.407252008486893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CC12-428A-8F7E-F82A54E336EF}"/>
            </c:ext>
          </c:extLst>
        </c:ser>
        <c:ser>
          <c:idx val="0"/>
          <c:order val="5"/>
          <c:tx>
            <c:strRef>
              <c:f>SUM!$B$18</c:f>
              <c:strCache>
                <c:ptCount val="1"/>
                <c:pt idx="0">
                  <c:v>СрВр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(SUM!$B$68,SUM!$B$70:$B$73)</c:f>
              <c:numCache>
                <c:formatCode>0.00</c:formatCode>
                <c:ptCount val="5"/>
                <c:pt idx="0">
                  <c:v>25.258067244487243</c:v>
                </c:pt>
                <c:pt idx="1">
                  <c:v>25.79873597856346</c:v>
                </c:pt>
                <c:pt idx="2">
                  <c:v>2.4847919595690411</c:v>
                </c:pt>
                <c:pt idx="3">
                  <c:v>33.897676162051837</c:v>
                </c:pt>
                <c:pt idx="4">
                  <c:v>84.165209313153596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CC12-428A-8F7E-F82A54E336EF}"/>
            </c:ext>
          </c:extLst>
        </c:ser>
        <c:ser>
          <c:idx val="9"/>
          <c:order val="8"/>
          <c:tx>
            <c:strRef>
              <c:f>SUM!$L$17</c:f>
              <c:strCache>
                <c:ptCount val="1"/>
                <c:pt idx="0">
                  <c:v>99,99%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(SUM!$L$68,SUM!$L$70:$L$73)</c:f>
              <c:numCache>
                <c:formatCode>0.00</c:formatCode>
                <c:ptCount val="5"/>
                <c:pt idx="0">
                  <c:v>18.953710276981326</c:v>
                </c:pt>
                <c:pt idx="1">
                  <c:v>20.861250648153007</c:v>
                </c:pt>
                <c:pt idx="2">
                  <c:v>2.5198152151839812</c:v>
                </c:pt>
                <c:pt idx="3">
                  <c:v>25.205078363376778</c:v>
                </c:pt>
                <c:pt idx="4">
                  <c:v>58.422526883004032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CC12-428A-8F7E-F82A54E336EF}"/>
            </c:ext>
          </c:extLst>
        </c:ser>
        <c:ser>
          <c:idx val="2"/>
          <c:order val="9"/>
          <c:tx>
            <c:strRef>
              <c:f>SUM!$E$17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(SUM!$E$68,SUM!$E$70:$E$73)</c:f>
              <c:numCache>
                <c:formatCode>0.00</c:formatCode>
                <c:ptCount val="5"/>
                <c:pt idx="0">
                  <c:v>18.918665053062742</c:v>
                </c:pt>
                <c:pt idx="1">
                  <c:v>20.731250255029178</c:v>
                </c:pt>
                <c:pt idx="2">
                  <c:v>2.5195489653975378</c:v>
                </c:pt>
                <c:pt idx="3">
                  <c:v>25.157438011413578</c:v>
                </c:pt>
                <c:pt idx="4">
                  <c:v>58.392753498261648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CC12-428A-8F7E-F82A54E336E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072405744"/>
        <c:axId val="1072406992"/>
        <c:extLst>
          <c:ext xmlns:c15="http://schemas.microsoft.com/office/drawing/2012/chart" uri="{02D57815-91ED-43cb-92C2-25804820EDAC}">
            <c15:filteredBarSeries>
              <c15:ser>
                <c:idx val="4"/>
                <c:order val="2"/>
                <c:tx>
                  <c:strRef>
                    <c:extLst>
                      <c:ext uri="{02D57815-91ED-43cb-92C2-25804820EDAC}">
                        <c15:formulaRef>
                          <c15:sqref>SUM!$G$17</c15:sqref>
                        </c15:formulaRef>
                      </c:ext>
                    </c:extLst>
                    <c:strCache>
                      <c:ptCount val="1"/>
                      <c:pt idx="0">
                        <c:v>0,1%</c:v>
                      </c:pt>
                    </c:strCache>
                  </c:strRef>
                </c:tx>
                <c:spPr>
                  <a:solidFill>
                    <a:schemeClr val="dk1">
                      <a:tint val="3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(SUM!$G$68,SUM!$G$70:$G$73)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25.951375279411682</c:v>
                      </c:pt>
                      <c:pt idx="1">
                        <c:v>26.075586103107863</c:v>
                      </c:pt>
                      <c:pt idx="2">
                        <c:v>2.6361428861734808</c:v>
                      </c:pt>
                      <c:pt idx="3">
                        <c:v>34.214066393277946</c:v>
                      </c:pt>
                      <c:pt idx="4">
                        <c:v>85.787936416733714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6-CC12-428A-8F7E-F82A54E336EF}"/>
                  </c:ext>
                </c:extLst>
              </c15:ser>
            </c15:filteredBarSeries>
            <c15:filteredBarSeries>
              <c15:ser>
                <c:idx val="5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SUM!$H$17</c15:sqref>
                        </c15:formulaRef>
                      </c:ext>
                    </c:extLst>
                    <c:strCache>
                      <c:ptCount val="1"/>
                      <c:pt idx="0">
                        <c:v>1%</c:v>
                      </c:pt>
                    </c:strCache>
                  </c:strRef>
                </c:tx>
                <c:spPr>
                  <a:solidFill>
                    <a:schemeClr val="dk1">
                      <a:tint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(SUM!$H$68,SUM!$H$70:$H$73)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25.957883947643186</c:v>
                      </c:pt>
                      <c:pt idx="1">
                        <c:v>26.061442523247734</c:v>
                      </c:pt>
                      <c:pt idx="2">
                        <c:v>2.5579527031129596</c:v>
                      </c:pt>
                      <c:pt idx="3">
                        <c:v>34.242135624431818</c:v>
                      </c:pt>
                      <c:pt idx="4">
                        <c:v>85.851980434147762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7-CC12-428A-8F7E-F82A54E336EF}"/>
                  </c:ext>
                </c:extLst>
              </c15:ser>
            </c15:filteredBarSeries>
            <c15:filteredBarSeries>
              <c15:ser>
                <c:idx val="7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SUM!$J$17</c15:sqref>
                        </c15:formulaRef>
                      </c:ext>
                    </c:extLst>
                    <c:strCache>
                      <c:ptCount val="1"/>
                      <c:pt idx="0">
                        <c:v>99%</c:v>
                      </c:pt>
                    </c:strCache>
                  </c:strRef>
                </c:tx>
                <c:spPr>
                  <a:solidFill>
                    <a:schemeClr val="dk1">
                      <a:tint val="885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(SUM!$J$68,SUM!$J$70:$J$73)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19.628086094069818</c:v>
                      </c:pt>
                      <c:pt idx="1">
                        <c:v>22.569934474585065</c:v>
                      </c:pt>
                      <c:pt idx="2">
                        <c:v>2.4761601288318675</c:v>
                      </c:pt>
                      <c:pt idx="3">
                        <c:v>29.071317527680296</c:v>
                      </c:pt>
                      <c:pt idx="4">
                        <c:v>69.488313202155283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8-CC12-428A-8F7E-F82A54E336EF}"/>
                  </c:ext>
                </c:extLst>
              </c15:ser>
            </c15:filteredBarSeries>
            <c15:filteredBarSeries>
              <c15:ser>
                <c:idx val="8"/>
                <c:order val="7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SUM!$K$17</c15:sqref>
                        </c15:formulaRef>
                      </c:ext>
                    </c:extLst>
                    <c:strCache>
                      <c:ptCount val="1"/>
                      <c:pt idx="0">
                        <c:v>99,9%</c:v>
                      </c:pt>
                    </c:strCache>
                  </c:strRef>
                </c:tx>
                <c:spPr>
                  <a:solidFill>
                    <a:schemeClr val="dk1">
                      <a:tint val="55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(SUM!$K$68,SUM!$K$70:$K$73)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19.279036441074034</c:v>
                      </c:pt>
                      <c:pt idx="1">
                        <c:v>22.125068654675996</c:v>
                      </c:pt>
                      <c:pt idx="2">
                        <c:v>2.5222431339617377</c:v>
                      </c:pt>
                      <c:pt idx="3">
                        <c:v>25.647497896726691</c:v>
                      </c:pt>
                      <c:pt idx="4">
                        <c:v>58.695143398903092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CC12-428A-8F7E-F82A54E336EF}"/>
                  </c:ext>
                </c:extLst>
              </c15:ser>
            </c15:filteredBarSeries>
          </c:ext>
        </c:extLst>
      </c:barChart>
      <c:catAx>
        <c:axId val="10724057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6992"/>
        <c:crosses val="autoZero"/>
        <c:auto val="1"/>
        <c:lblAlgn val="ctr"/>
        <c:lblOffset val="100"/>
        <c:noMultiLvlLbl val="0"/>
      </c:catAx>
      <c:valAx>
        <c:axId val="1072406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dirty="0"/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5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baseline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2"/>
          <c:order val="0"/>
          <c:tx>
            <c:strRef>
              <c:f>B_S_RULES!$D$1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B_S_RULES!$D$50:$D$53</c:f>
              <c:numCache>
                <c:formatCode>0.000</c:formatCode>
                <c:ptCount val="4"/>
                <c:pt idx="0">
                  <c:v>2.3918686292334774</c:v>
                </c:pt>
                <c:pt idx="1">
                  <c:v>3.0112255582341056</c:v>
                </c:pt>
                <c:pt idx="2">
                  <c:v>26.865522485335646</c:v>
                </c:pt>
                <c:pt idx="3">
                  <c:v>26.116578669482575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B7EB-46FB-8364-CD5332838AE1}"/>
            </c:ext>
          </c:extLst>
        </c:ser>
        <c:ser>
          <c:idx val="4"/>
          <c:order val="1"/>
          <c:tx>
            <c:strRef>
              <c:f>B_S_RULES!$F$1</c:f>
              <c:strCache>
                <c:ptCount val="1"/>
                <c:pt idx="0">
                  <c:v>0.01%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B_S_RULES!$F$50:$F$53</c:f>
              <c:numCache>
                <c:formatCode>0.000</c:formatCode>
                <c:ptCount val="4"/>
                <c:pt idx="0">
                  <c:v>2.3916010904661547</c:v>
                </c:pt>
                <c:pt idx="1">
                  <c:v>3.011540147051663</c:v>
                </c:pt>
                <c:pt idx="2">
                  <c:v>26.849576731061429</c:v>
                </c:pt>
                <c:pt idx="3">
                  <c:v>26.085196119780683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B7EB-46FB-8364-CD5332838AE1}"/>
            </c:ext>
          </c:extLst>
        </c:ser>
        <c:ser>
          <c:idx val="6"/>
          <c:order val="4"/>
          <c:tx>
            <c:strRef>
              <c:f>B_S_RULES!$H$1</c:f>
              <c:strCache>
                <c:ptCount val="1"/>
                <c:pt idx="0">
                  <c:v>1%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B_S_RULES!$H$50:$H$53</c:f>
              <c:numCache>
                <c:formatCode>0.000</c:formatCode>
                <c:ptCount val="4"/>
                <c:pt idx="0">
                  <c:v>2.3899133916531934</c:v>
                </c:pt>
                <c:pt idx="1">
                  <c:v>3.0132719140454083</c:v>
                </c:pt>
                <c:pt idx="2">
                  <c:v>26.802157837837839</c:v>
                </c:pt>
                <c:pt idx="3">
                  <c:v>26.003771764212296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B7EB-46FB-8364-CD5332838AE1}"/>
            </c:ext>
          </c:extLst>
        </c:ser>
        <c:ser>
          <c:idx val="7"/>
          <c:order val="5"/>
          <c:tx>
            <c:strRef>
              <c:f>B_S_RULES!$I$1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B_S_RULES!$I$50:$I$53</c:f>
              <c:numCache>
                <c:formatCode>0.000</c:formatCode>
                <c:ptCount val="4"/>
                <c:pt idx="0">
                  <c:v>2.3583104731126228</c:v>
                </c:pt>
                <c:pt idx="1">
                  <c:v>3.0004302925989679</c:v>
                </c:pt>
                <c:pt idx="2">
                  <c:v>26.110671936758891</c:v>
                </c:pt>
                <c:pt idx="3">
                  <c:v>25.137993190466659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B7EB-46FB-8364-CD5332838AE1}"/>
            </c:ext>
          </c:extLst>
        </c:ser>
        <c:ser>
          <c:idx val="0"/>
          <c:order val="6"/>
          <c:tx>
            <c:strRef>
              <c:f>B_S_RULES!$B$1</c:f>
              <c:strCache>
                <c:ptCount val="1"/>
                <c:pt idx="0">
                  <c:v>Среднее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B_S_RULES!$B$50:$B$53</c:f>
              <c:numCache>
                <c:formatCode>0.000</c:formatCode>
                <c:ptCount val="4"/>
                <c:pt idx="0">
                  <c:v>2.3150416418423569</c:v>
                </c:pt>
                <c:pt idx="1">
                  <c:v>2.9660088654878303</c:v>
                </c:pt>
                <c:pt idx="2">
                  <c:v>25.867065682802288</c:v>
                </c:pt>
                <c:pt idx="3">
                  <c:v>24.981693519408754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B7EB-46FB-8364-CD5332838AE1}"/>
            </c:ext>
          </c:extLst>
        </c:ser>
        <c:ser>
          <c:idx val="8"/>
          <c:order val="7"/>
          <c:tx>
            <c:strRef>
              <c:f>B_S_RULES!$J$1</c:f>
              <c:strCache>
                <c:ptCount val="1"/>
                <c:pt idx="0">
                  <c:v>99%</c:v>
                </c:pt>
              </c:strCache>
            </c:strRef>
          </c:tx>
          <c:spPr>
            <a:solidFill>
              <a:srgbClr val="0066CC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B_S_RULES!$J$50:$J$53</c:f>
              <c:numCache>
                <c:formatCode>0.000</c:formatCode>
                <c:ptCount val="4"/>
                <c:pt idx="0">
                  <c:v>1.8683726158334311</c:v>
                </c:pt>
                <c:pt idx="1">
                  <c:v>2.6108690698414061</c:v>
                </c:pt>
                <c:pt idx="2">
                  <c:v>20.561814512591035</c:v>
                </c:pt>
                <c:pt idx="3">
                  <c:v>20.519700918724045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B7EB-46FB-8364-CD5332838AE1}"/>
            </c:ext>
          </c:extLst>
        </c:ser>
        <c:ser>
          <c:idx val="10"/>
          <c:order val="9"/>
          <c:tx>
            <c:strRef>
              <c:f>B_S_RULES!$L$1</c:f>
              <c:strCache>
                <c:ptCount val="1"/>
                <c:pt idx="0">
                  <c:v>99.99%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B_S_RULES!$L$50:$L$53</c:f>
              <c:numCache>
                <c:formatCode>0.000</c:formatCode>
                <c:ptCount val="4"/>
                <c:pt idx="0">
                  <c:v>1.685532690332862</c:v>
                </c:pt>
                <c:pt idx="1">
                  <c:v>2.4795772127093638</c:v>
                </c:pt>
                <c:pt idx="2">
                  <c:v>13.376974326595972</c:v>
                </c:pt>
                <c:pt idx="3">
                  <c:v>13.625931466511508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6-B7EB-46FB-8364-CD5332838AE1}"/>
            </c:ext>
          </c:extLst>
        </c:ser>
        <c:ser>
          <c:idx val="3"/>
          <c:order val="10"/>
          <c:tx>
            <c:strRef>
              <c:f>B_S_RULES!$E$1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FF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B_S_RULES!$E$50:$E$53</c:f>
              <c:numCache>
                <c:formatCode>0.000</c:formatCode>
                <c:ptCount val="4"/>
                <c:pt idx="0">
                  <c:v>2.0475579631635967</c:v>
                </c:pt>
                <c:pt idx="1">
                  <c:v>3.0790897123418004</c:v>
                </c:pt>
                <c:pt idx="2">
                  <c:v>14.999174603174605</c:v>
                </c:pt>
                <c:pt idx="3">
                  <c:v>15.557260454395783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7-B7EB-46FB-8364-CD5332838A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9"/>
        <c:overlap val="-11"/>
        <c:axId val="1127726992"/>
        <c:axId val="1127726160"/>
        <c:extLst>
          <c:ext xmlns:c15="http://schemas.microsoft.com/office/drawing/2012/chart" uri="{02D57815-91ED-43cb-92C2-25804820EDAC}">
            <c15:filteredBarSeries>
              <c15:ser>
                <c:idx val="5"/>
                <c:order val="2"/>
                <c:tx>
                  <c:strRef>
                    <c:extLst>
                      <c:ext uri="{02D57815-91ED-43cb-92C2-25804820EDAC}">
                        <c15:formulaRef>
                          <c15:sqref>B_S_RULES!$G$1</c15:sqref>
                        </c15:formulaRef>
                      </c:ext>
                    </c:extLst>
                    <c:strCache>
                      <c:ptCount val="1"/>
                      <c:pt idx="0">
                        <c:v>0.1%</c:v>
                      </c:pt>
                    </c:strCache>
                  </c:strRef>
                </c:tx>
                <c:spPr>
                  <a:solidFill>
                    <a:schemeClr val="accent6"/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B_S_RULES!$G$50:$G$53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2.3914689745769264</c:v>
                      </c:pt>
                      <c:pt idx="1">
                        <c:v>3.0119708029197083</c:v>
                      </c:pt>
                      <c:pt idx="2">
                        <c:v>26.847104749512042</c:v>
                      </c:pt>
                      <c:pt idx="3">
                        <c:v>26.061473684210533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8-B7EB-46FB-8364-CD5332838AE1}"/>
                  </c:ext>
                </c:extLst>
              </c15:ser>
            </c15:filteredBarSeries>
            <c15:filteredBarSeries>
              <c15:ser>
                <c:idx val="1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B_S_RULES!$C$1</c15:sqref>
                        </c15:formulaRef>
                      </c:ext>
                    </c:extLst>
                    <c:strCache>
                      <c:ptCount val="1"/>
                      <c:pt idx="0">
                        <c:v>СтОткл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B_S_RULES!$C$50:$C$53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1.0499880555226089</c:v>
                      </c:pt>
                      <c:pt idx="1">
                        <c:v>1.722272154326739</c:v>
                      </c:pt>
                      <c:pt idx="2">
                        <c:v>11.153174575007984</c:v>
                      </c:pt>
                      <c:pt idx="3">
                        <c:v>12.176488821728856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B7EB-46FB-8364-CD5332838AE1}"/>
                  </c:ext>
                </c:extLst>
              </c15:ser>
            </c15:filteredBarSeries>
            <c15:filteredBarSeries>
              <c15:ser>
                <c:idx val="9"/>
                <c:order val="8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B_S_RULES!$K$1</c15:sqref>
                        </c15:formulaRef>
                      </c:ext>
                    </c:extLst>
                    <c:strCache>
                      <c:ptCount val="1"/>
                      <c:pt idx="0">
                        <c:v>99.9%</c:v>
                      </c:pt>
                    </c:strCache>
                  </c:strRef>
                </c:tx>
                <c:spPr>
                  <a:solidFill>
                    <a:schemeClr val="accent4">
                      <a:lumMod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B_S_RULES!$K$50:$K$53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1.5725739731087478</c:v>
                      </c:pt>
                      <c:pt idx="1">
                        <c:v>2.4328429702753431</c:v>
                      </c:pt>
                      <c:pt idx="2">
                        <c:v>14.713166467814226</c:v>
                      </c:pt>
                      <c:pt idx="3">
                        <c:v>17.936321153966091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B7EB-46FB-8364-CD5332838AE1}"/>
                  </c:ext>
                </c:extLst>
              </c15:ser>
            </c15:filteredBarSeries>
          </c:ext>
        </c:extLst>
      </c:barChart>
      <c:catAx>
        <c:axId val="11277269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160"/>
        <c:crosses val="autoZero"/>
        <c:auto val="1"/>
        <c:lblAlgn val="ctr"/>
        <c:lblOffset val="100"/>
        <c:noMultiLvlLbl val="0"/>
      </c:catAx>
      <c:valAx>
        <c:axId val="1127726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sz="1000" b="0" i="0" baseline="0" dirty="0">
                    <a:effectLst/>
                  </a:rPr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9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Производительность</a:t>
            </a:r>
            <a:r>
              <a:rPr lang="ru-RU" baseline="0"/>
              <a:t> общих алгоритмов</a:t>
            </a:r>
            <a:endParaRPr lang="ru-RU"/>
          </a:p>
        </c:rich>
      </c:tx>
      <c:layout>
        <c:manualLayout>
          <c:xMode val="edge"/>
          <c:yMode val="edge"/>
          <c:x val="0.29418622272492673"/>
          <c:y val="2.777777777777777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Среднее время</c:v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B_S_RULES!$B$75:$B$78</c:f>
              <c:numCache>
                <c:formatCode>General</c:formatCode>
                <c:ptCount val="4"/>
                <c:pt idx="0">
                  <c:v>831957.96100000001</c:v>
                </c:pt>
                <c:pt idx="1">
                  <c:v>153136.18</c:v>
                </c:pt>
                <c:pt idx="2">
                  <c:v>9580.3580000000002</c:v>
                </c:pt>
                <c:pt idx="3">
                  <c:v>166728.14000000001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37-481B-9B8F-A891E0A2BD7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65942735"/>
        <c:axId val="165941487"/>
      </c:barChart>
      <c:lineChart>
        <c:grouping val="standard"/>
        <c:varyColors val="0"/>
        <c:ser>
          <c:idx val="1"/>
          <c:order val="1"/>
          <c:tx>
            <c:v>Процент от базового</c:v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2.2314222022116505E-2"/>
                  <c:y val="-3.70370370370370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637-481B-9B8F-A891E0A2BD7D}"/>
                </c:ext>
              </c:extLst>
            </c:dLbl>
            <c:dLbl>
              <c:idx val="1"/>
              <c:layout>
                <c:manualLayout>
                  <c:x val="8.3678332582937092E-3"/>
                  <c:y val="-4.629629629629629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C637-481B-9B8F-A891E0A2BD7D}"/>
                </c:ext>
              </c:extLst>
            </c:dLbl>
            <c:dLbl>
              <c:idx val="2"/>
              <c:layout>
                <c:manualLayout>
                  <c:x val="2.7892777527645696E-3"/>
                  <c:y val="-6.018518518518527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637-481B-9B8F-A891E0A2BD7D}"/>
                </c:ext>
              </c:extLst>
            </c:dLbl>
            <c:dLbl>
              <c:idx val="3"/>
              <c:layout>
                <c:manualLayout>
                  <c:x val="2.7892777527646719E-3"/>
                  <c:y val="-6.018518518518518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C637-481B-9B8F-A891E0A2BD7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B_S_RULES!$D$75:$D$78</c:f>
              <c:numCache>
                <c:formatCode>0.00%</c:formatCode>
                <c:ptCount val="4"/>
                <c:pt idx="0">
                  <c:v>1</c:v>
                </c:pt>
                <c:pt idx="1">
                  <c:v>0.18406720913630392</c:v>
                </c:pt>
                <c:pt idx="2">
                  <c:v>1.1515435213198231E-2</c:v>
                </c:pt>
                <c:pt idx="3">
                  <c:v>0.20040452500700334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637-481B-9B8F-A891E0A2BD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63574655"/>
        <c:axId val="463573823"/>
      </c:lineChart>
      <c:catAx>
        <c:axId val="16594273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1487"/>
        <c:crosses val="autoZero"/>
        <c:auto val="1"/>
        <c:lblAlgn val="ctr"/>
        <c:lblOffset val="100"/>
        <c:noMultiLvlLbl val="0"/>
      </c:catAx>
      <c:valAx>
        <c:axId val="1659414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Время</a:t>
                </a:r>
                <a:r>
                  <a:rPr lang="ru-RU" baseline="0"/>
                  <a:t> выполнения, мкс</a:t>
                </a:r>
                <a:endParaRPr lang="ru-RU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2735"/>
        <c:crosses val="autoZero"/>
        <c:crossBetween val="between"/>
      </c:valAx>
      <c:valAx>
        <c:axId val="463573823"/>
        <c:scaling>
          <c:orientation val="minMax"/>
        </c:scaling>
        <c:delete val="0"/>
        <c:axPos val="r"/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3574655"/>
        <c:crosses val="max"/>
        <c:crossBetween val="between"/>
      </c:valAx>
      <c:catAx>
        <c:axId val="4635746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4635738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badi" panose="020B0604020104020204" pitchFamily="34" charset="0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0B5463-65C2-FBEE-F8BF-E5BCC8E28A40}" type="slidenum">
              <a:rPr>
                <a:latin typeface="Abadi" panose="020B0604020104020204" pitchFamily="34" charset="0"/>
              </a:rPr>
              <a:t>1</a:t>
            </a:fld>
            <a:endParaRPr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14577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586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3159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1858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3986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584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" name="Google Shape;29;p3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30" name="Google Shape;30;p3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Google Shape;35;p3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36" name="Google Shape;36;p3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37" name="Google Shape;37;p3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38" name="Google Shape;38;p3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39" name="Google Shape;39;p3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0" name="Google Shape;40;p3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41" name="Google Shape;41;p3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42" name="Google Shape;42;p3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43" name="Google Shape;43;p3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45" name="Google Shape;45;p3"/>
          <p:cNvSpPr txBox="1">
            <a:spLocks noGrp="1"/>
          </p:cNvSpPr>
          <p:nvPr>
            <p:ph type="title"/>
          </p:nvPr>
        </p:nvSpPr>
        <p:spPr bwMode="auto">
          <a:xfrm>
            <a:off x="1908675" y="2364788"/>
            <a:ext cx="5326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46" name="Google Shape;46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2996625" y="15229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r>
              <a:rPr dirty="0"/>
              <a:t>xx%</a:t>
            </a:r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1"/>
          </p:nvPr>
        </p:nvSpPr>
        <p:spPr bwMode="auto">
          <a:xfrm>
            <a:off x="1908825" y="3310913"/>
            <a:ext cx="5326500" cy="3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5" name="Google Shape;145;p9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146" name="Google Shape;146;p9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" name="Google Shape;147;p9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" name="Google Shape;148;p9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" name="Google Shape;149;p9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" name="Google Shape;150;p9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1" name="Google Shape;151;p9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152" name="Google Shape;152;p9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153" name="Google Shape;153;p9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154" name="Google Shape;154;p9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155" name="Google Shape;155;p9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6" name="Google Shape;156;p9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157" name="Google Shape;157;p9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158" name="Google Shape;158;p9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159" name="Google Shape;159;p9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160" name="Google Shape;160;p9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161" name="Google Shape;161;p9"/>
          <p:cNvSpPr txBox="1">
            <a:spLocks noGrp="1"/>
          </p:cNvSpPr>
          <p:nvPr>
            <p:ph type="title"/>
          </p:nvPr>
        </p:nvSpPr>
        <p:spPr bwMode="auto">
          <a:xfrm>
            <a:off x="715099" y="1547575"/>
            <a:ext cx="4661100" cy="64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162" name="Google Shape;162;p9"/>
          <p:cNvSpPr txBox="1">
            <a:spLocks noGrp="1"/>
          </p:cNvSpPr>
          <p:nvPr>
            <p:ph type="subTitle" idx="1"/>
          </p:nvPr>
        </p:nvSpPr>
        <p:spPr bwMode="auto">
          <a:xfrm>
            <a:off x="715099" y="2305922"/>
            <a:ext cx="4661100" cy="12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BLANK_1_1_1_1_1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05" name="Google Shape;605;p31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06" name="Google Shape;606;p31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7" name="Google Shape;607;p31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8" name="Google Shape;608;p31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9" name="Google Shape;609;p31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10" name="Google Shape;610;p31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11" name="Google Shape;611;p31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2" name="Google Shape;612;p31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13" name="Google Shape;613;p31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4" name="Google Shape;614;p31"/>
            <p:cNvSpPr/>
            <p:nvPr/>
          </p:nvSpPr>
          <p:spPr bwMode="auto">
            <a:xfrm>
              <a:off x="253750" y="130008"/>
              <a:ext cx="218100" cy="218100"/>
            </a:xfrm>
            <a:prstGeom prst="smileyFace">
              <a:avLst>
                <a:gd name="adj" fmla="val 465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15" name="Google Shape;615;p31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6" name="Google Shape;616;p31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7" name="Google Shape;617;p31"/>
          <p:cNvGrpSpPr/>
          <p:nvPr/>
        </p:nvGrpSpPr>
        <p:grpSpPr bwMode="auto">
          <a:xfrm>
            <a:off x="8712862" y="137154"/>
            <a:ext cx="132938" cy="218080"/>
            <a:chOff x="4113132" y="2072643"/>
            <a:chExt cx="406290" cy="666503"/>
          </a:xfrm>
        </p:grpSpPr>
        <p:sp>
          <p:nvSpPr>
            <p:cNvPr id="618" name="Google Shape;618;p31"/>
            <p:cNvSpPr/>
            <p:nvPr/>
          </p:nvSpPr>
          <p:spPr bwMode="auto">
            <a:xfrm>
              <a:off x="4113132" y="2072643"/>
              <a:ext cx="406290" cy="662825"/>
            </a:xfrm>
            <a:custGeom>
              <a:avLst/>
              <a:gdLst/>
              <a:ahLst/>
              <a:cxnLst/>
              <a:rect l="l" t="t" r="r" b="b"/>
              <a:pathLst>
                <a:path w="11042" h="18014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001" y="2002"/>
                  </a:lnTo>
                  <a:lnTo>
                    <a:pt x="1001" y="6005"/>
                  </a:lnTo>
                  <a:lnTo>
                    <a:pt x="2002" y="6005"/>
                  </a:lnTo>
                  <a:lnTo>
                    <a:pt x="2002" y="7005"/>
                  </a:lnTo>
                  <a:lnTo>
                    <a:pt x="3002" y="7005"/>
                  </a:lnTo>
                  <a:lnTo>
                    <a:pt x="3002" y="8006"/>
                  </a:lnTo>
                  <a:lnTo>
                    <a:pt x="4003" y="8006"/>
                  </a:lnTo>
                  <a:lnTo>
                    <a:pt x="4003" y="9007"/>
                  </a:lnTo>
                  <a:lnTo>
                    <a:pt x="4003" y="10008"/>
                  </a:lnTo>
                  <a:lnTo>
                    <a:pt x="3002" y="10008"/>
                  </a:lnTo>
                  <a:lnTo>
                    <a:pt x="3002" y="11008"/>
                  </a:lnTo>
                  <a:lnTo>
                    <a:pt x="2002" y="11008"/>
                  </a:lnTo>
                  <a:lnTo>
                    <a:pt x="2002" y="12009"/>
                  </a:lnTo>
                  <a:lnTo>
                    <a:pt x="1001" y="12009"/>
                  </a:lnTo>
                  <a:lnTo>
                    <a:pt x="1001" y="16012"/>
                  </a:lnTo>
                  <a:lnTo>
                    <a:pt x="0" y="16012"/>
                  </a:lnTo>
                  <a:lnTo>
                    <a:pt x="0" y="17013"/>
                  </a:lnTo>
                  <a:lnTo>
                    <a:pt x="0" y="18013"/>
                  </a:lnTo>
                  <a:lnTo>
                    <a:pt x="11042" y="18013"/>
                  </a:lnTo>
                  <a:lnTo>
                    <a:pt x="11042" y="17013"/>
                  </a:lnTo>
                  <a:lnTo>
                    <a:pt x="11042" y="16012"/>
                  </a:lnTo>
                  <a:lnTo>
                    <a:pt x="10041" y="16012"/>
                  </a:lnTo>
                  <a:lnTo>
                    <a:pt x="10041" y="12009"/>
                  </a:lnTo>
                  <a:lnTo>
                    <a:pt x="9040" y="12009"/>
                  </a:lnTo>
                  <a:lnTo>
                    <a:pt x="9040" y="11008"/>
                  </a:lnTo>
                  <a:lnTo>
                    <a:pt x="8039" y="11008"/>
                  </a:lnTo>
                  <a:lnTo>
                    <a:pt x="8039" y="10008"/>
                  </a:lnTo>
                  <a:lnTo>
                    <a:pt x="7039" y="10008"/>
                  </a:lnTo>
                  <a:lnTo>
                    <a:pt x="7039" y="9007"/>
                  </a:lnTo>
                  <a:lnTo>
                    <a:pt x="7039" y="8006"/>
                  </a:lnTo>
                  <a:lnTo>
                    <a:pt x="8039" y="8006"/>
                  </a:lnTo>
                  <a:lnTo>
                    <a:pt x="8039" y="7005"/>
                  </a:lnTo>
                  <a:lnTo>
                    <a:pt x="9040" y="7005"/>
                  </a:lnTo>
                  <a:lnTo>
                    <a:pt x="9040" y="6005"/>
                  </a:lnTo>
                  <a:lnTo>
                    <a:pt x="10041" y="6005"/>
                  </a:lnTo>
                  <a:lnTo>
                    <a:pt x="10041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9" name="Google Shape;619;p31"/>
            <p:cNvSpPr/>
            <p:nvPr/>
          </p:nvSpPr>
          <p:spPr bwMode="auto">
            <a:xfrm>
              <a:off x="4260422" y="2367223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0" name="Google Shape;620;p31"/>
            <p:cNvSpPr/>
            <p:nvPr/>
          </p:nvSpPr>
          <p:spPr bwMode="auto">
            <a:xfrm>
              <a:off x="4260422" y="2405269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1" name="Google Shape;621;p31"/>
            <p:cNvSpPr/>
            <p:nvPr/>
          </p:nvSpPr>
          <p:spPr bwMode="auto">
            <a:xfrm>
              <a:off x="4223590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2" name="Google Shape;622;p31"/>
            <p:cNvSpPr/>
            <p:nvPr/>
          </p:nvSpPr>
          <p:spPr bwMode="auto">
            <a:xfrm>
              <a:off x="4186758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3" name="Google Shape;623;p31"/>
            <p:cNvSpPr/>
            <p:nvPr/>
          </p:nvSpPr>
          <p:spPr bwMode="auto">
            <a:xfrm>
              <a:off x="4223590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4" name="Google Shape;624;p31"/>
            <p:cNvSpPr/>
            <p:nvPr/>
          </p:nvSpPr>
          <p:spPr bwMode="auto">
            <a:xfrm>
              <a:off x="4186758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5" name="Google Shape;625;p31"/>
            <p:cNvSpPr/>
            <p:nvPr/>
          </p:nvSpPr>
          <p:spPr bwMode="auto">
            <a:xfrm>
              <a:off x="4149964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6" name="Google Shape;626;p31"/>
            <p:cNvSpPr/>
            <p:nvPr/>
          </p:nvSpPr>
          <p:spPr bwMode="auto">
            <a:xfrm>
              <a:off x="4113132" y="2072643"/>
              <a:ext cx="406290" cy="73664"/>
            </a:xfrm>
            <a:custGeom>
              <a:avLst/>
              <a:gdLst/>
              <a:ahLst/>
              <a:cxnLst/>
              <a:rect l="l" t="t" r="r" b="b"/>
              <a:pathLst>
                <a:path w="11042" h="2002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7" name="Google Shape;627;p31"/>
            <p:cNvSpPr/>
            <p:nvPr/>
          </p:nvSpPr>
          <p:spPr bwMode="auto">
            <a:xfrm>
              <a:off x="4334049" y="2367223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8" name="Google Shape;628;p31"/>
            <p:cNvSpPr/>
            <p:nvPr/>
          </p:nvSpPr>
          <p:spPr bwMode="auto">
            <a:xfrm>
              <a:off x="4334049" y="2405269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9" name="Google Shape;629;p31"/>
            <p:cNvSpPr/>
            <p:nvPr/>
          </p:nvSpPr>
          <p:spPr bwMode="auto">
            <a:xfrm>
              <a:off x="4370881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0" name="Google Shape;630;p31"/>
            <p:cNvSpPr/>
            <p:nvPr/>
          </p:nvSpPr>
          <p:spPr bwMode="auto">
            <a:xfrm>
              <a:off x="4408927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1" name="Google Shape;631;p31"/>
            <p:cNvSpPr/>
            <p:nvPr/>
          </p:nvSpPr>
          <p:spPr bwMode="auto">
            <a:xfrm>
              <a:off x="4370881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2" name="Google Shape;632;p31"/>
            <p:cNvSpPr/>
            <p:nvPr/>
          </p:nvSpPr>
          <p:spPr bwMode="auto">
            <a:xfrm>
              <a:off x="429721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2" y="1001"/>
                  </a:lnTo>
                  <a:lnTo>
                    <a:pt x="1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3" name="Google Shape;633;p31"/>
            <p:cNvSpPr/>
            <p:nvPr/>
          </p:nvSpPr>
          <p:spPr bwMode="auto">
            <a:xfrm>
              <a:off x="4260422" y="2256728"/>
              <a:ext cx="36832" cy="36869"/>
            </a:xfrm>
            <a:custGeom>
              <a:avLst/>
              <a:gdLst/>
              <a:ahLst/>
              <a:cxnLst/>
              <a:rect l="l" t="t" r="r" b="b"/>
              <a:pathLst>
                <a:path w="1001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4" name="Google Shape;634;p31"/>
            <p:cNvSpPr/>
            <p:nvPr/>
          </p:nvSpPr>
          <p:spPr bwMode="auto">
            <a:xfrm>
              <a:off x="4334049" y="2256728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5" name="Google Shape;635;p31"/>
            <p:cNvSpPr/>
            <p:nvPr/>
          </p:nvSpPr>
          <p:spPr bwMode="auto">
            <a:xfrm>
              <a:off x="440892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6" name="Google Shape;636;p31"/>
            <p:cNvSpPr/>
            <p:nvPr/>
          </p:nvSpPr>
          <p:spPr bwMode="auto">
            <a:xfrm>
              <a:off x="4445758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7" name="Google Shape;637;p31"/>
            <p:cNvSpPr/>
            <p:nvPr/>
          </p:nvSpPr>
          <p:spPr bwMode="auto">
            <a:xfrm>
              <a:off x="4149964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8" name="Google Shape;638;p31"/>
            <p:cNvSpPr/>
            <p:nvPr/>
          </p:nvSpPr>
          <p:spPr bwMode="auto">
            <a:xfrm>
              <a:off x="4113132" y="2663017"/>
              <a:ext cx="406290" cy="76129"/>
            </a:xfrm>
            <a:custGeom>
              <a:avLst/>
              <a:gdLst/>
              <a:ahLst/>
              <a:cxnLst/>
              <a:rect l="l" t="t" r="r" b="b"/>
              <a:pathLst>
                <a:path w="11042" h="2069" extrusionOk="0">
                  <a:moveTo>
                    <a:pt x="0" y="0"/>
                  </a:moveTo>
                  <a:lnTo>
                    <a:pt x="0" y="1068"/>
                  </a:lnTo>
                  <a:lnTo>
                    <a:pt x="0" y="2068"/>
                  </a:lnTo>
                  <a:lnTo>
                    <a:pt x="11042" y="2068"/>
                  </a:lnTo>
                  <a:lnTo>
                    <a:pt x="11042" y="1068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9" name="Google Shape;639;p31"/>
            <p:cNvSpPr/>
            <p:nvPr/>
          </p:nvSpPr>
          <p:spPr bwMode="auto">
            <a:xfrm>
              <a:off x="4223590" y="2515727"/>
              <a:ext cx="185373" cy="110495"/>
            </a:xfrm>
            <a:custGeom>
              <a:avLst/>
              <a:gdLst/>
              <a:ahLst/>
              <a:cxnLst/>
              <a:rect l="l" t="t" r="r" b="b"/>
              <a:pathLst>
                <a:path w="5038" h="3003" extrusionOk="0">
                  <a:moveTo>
                    <a:pt x="2002" y="0"/>
                  </a:moveTo>
                  <a:lnTo>
                    <a:pt x="2002" y="1001"/>
                  </a:lnTo>
                  <a:lnTo>
                    <a:pt x="1001" y="1001"/>
                  </a:lnTo>
                  <a:lnTo>
                    <a:pt x="1001" y="2002"/>
                  </a:lnTo>
                  <a:lnTo>
                    <a:pt x="0" y="2002"/>
                  </a:lnTo>
                  <a:lnTo>
                    <a:pt x="0" y="3002"/>
                  </a:lnTo>
                  <a:lnTo>
                    <a:pt x="5037" y="3002"/>
                  </a:lnTo>
                  <a:lnTo>
                    <a:pt x="5037" y="2002"/>
                  </a:lnTo>
                  <a:lnTo>
                    <a:pt x="4003" y="2002"/>
                  </a:lnTo>
                  <a:lnTo>
                    <a:pt x="4003" y="1001"/>
                  </a:lnTo>
                  <a:lnTo>
                    <a:pt x="3003" y="1001"/>
                  </a:lnTo>
                  <a:lnTo>
                    <a:pt x="30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40" name="Google Shape;640;p31"/>
            <p:cNvSpPr/>
            <p:nvPr/>
          </p:nvSpPr>
          <p:spPr bwMode="auto">
            <a:xfrm>
              <a:off x="4445758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2" name="Google Shape;642;p32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43" name="Google Shape;643;p32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4" name="Google Shape;644;p32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5" name="Google Shape;645;p32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6" name="Google Shape;646;p32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7" name="Google Shape;647;p32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48" name="Google Shape;648;p32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49" name="Google Shape;649;p32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50" name="Google Shape;650;p32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51" name="Google Shape;651;p32"/>
            <p:cNvSpPr/>
            <p:nvPr/>
          </p:nvSpPr>
          <p:spPr bwMode="auto">
            <a:xfrm>
              <a:off x="253750" y="130008"/>
              <a:ext cx="218100" cy="218100"/>
            </a:xfrm>
            <a:prstGeom prst="leftRightArrowCallout">
              <a:avLst>
                <a:gd name="adj1" fmla="val 34916"/>
                <a:gd name="adj2" fmla="val 25000"/>
                <a:gd name="adj3" fmla="val 35030"/>
                <a:gd name="adj4" fmla="val 4812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52" name="Google Shape;652;p32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32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654" name="Google Shape;654;p32"/>
          <p:cNvSpPr/>
          <p:nvPr/>
        </p:nvSpPr>
        <p:spPr bwMode="auto">
          <a:xfrm>
            <a:off x="8690995" y="137150"/>
            <a:ext cx="152400" cy="218100"/>
          </a:xfrm>
          <a:prstGeom prst="curvedLeftArrow">
            <a:avLst>
              <a:gd name="adj1" fmla="val 25000"/>
              <a:gd name="adj2" fmla="val 50000"/>
              <a:gd name="adj3" fmla="val 25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5099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>
              <a:defRPr/>
            </a:pPr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5099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1pPr>
            <a:lvl2pPr marL="914400" lvl="1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2pPr>
            <a:lvl3pPr marL="1371600" lvl="2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3pPr>
            <a:lvl4pPr marL="1828800" lvl="3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4pPr>
            <a:lvl5pPr marL="2286000" lvl="4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5pPr>
            <a:lvl6pPr marL="2743200" lvl="5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6pPr>
            <a:lvl7pPr marL="3200400" lvl="6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7pPr>
            <a:lvl8pPr marL="3657600" lvl="7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8pPr>
            <a:lvl9pPr marL="4114800" lvl="8" indent="-317500">
              <a:lnSpc>
                <a:spcPct val="114999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Abadi" panose="020B0604020104020204" pitchFamily="34" charset="0"/>
          <a:cs typeface="Times New Roman" panose="02020603050405020304" pitchFamily="18" charset="0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283604" name="TextBox 1621283603"/>
          <p:cNvSpPr txBox="1"/>
          <p:nvPr/>
        </p:nvSpPr>
        <p:spPr bwMode="auto">
          <a:xfrm>
            <a:off x="572" y="1729308"/>
            <a:ext cx="9142856" cy="16848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Разработка динамической библиотеки на C++ для моделирования клеточных автоматов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8691449" name="TextBox 608691448"/>
          <p:cNvSpPr txBox="1"/>
          <p:nvPr/>
        </p:nvSpPr>
        <p:spPr bwMode="auto">
          <a:xfrm>
            <a:off x="1262127" y="447219"/>
            <a:ext cx="6627495" cy="6232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МИНИСТЕРСТВО НАУКИ И ВЫСШЕГО ОБРАЗОВАНИЯ РОССИЙСКОЙ ФЕДЕРАЦИИ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ФГБОУ ВО «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Чувашский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государственный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университет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имени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И.Н.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Ульянова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»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Факультет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информатики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вычислительной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техники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4736419" name="TextBox 514736418"/>
          <p:cNvSpPr txBox="1"/>
          <p:nvPr/>
        </p:nvSpPr>
        <p:spPr bwMode="auto">
          <a:xfrm>
            <a:off x="6684475" y="3662095"/>
            <a:ext cx="2410294" cy="13311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14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Выполнил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студент </a:t>
            </a:r>
            <a:r>
              <a:rPr sz="1400" dirty="0" err="1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группы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ИВТ-41-22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Ярдыков Эдуард Евгеньевич</a:t>
            </a:r>
          </a:p>
          <a:p>
            <a:pPr>
              <a:defRPr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defRPr/>
            </a:pP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ст.пр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Юрьева Е.В.</a:t>
            </a: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доц.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Ржавин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В.В.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5C3E9277-77FA-45C3-8296-151DBDD44E4C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6" name="Google Shape;9830;p83"/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/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CDC943A0-A04D-4F6E-9651-A9F449117B63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647D8708-86F4-47B1-8176-02FD61B4496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22749BAF-7F88-4EDE-BD42-E2F9DA7FFE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8" name="Google Shape;9841;p83">
              <a:extLst>
                <a:ext uri="{FF2B5EF4-FFF2-40B4-BE49-F238E27FC236}">
                  <a16:creationId xmlns:a16="http://schemas.microsoft.com/office/drawing/2014/main" id="{E4572158-5DE3-4CE8-B8E7-79DA8A83D3D9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Google Shape;9841;p83">
              <a:extLst>
                <a:ext uri="{FF2B5EF4-FFF2-40B4-BE49-F238E27FC236}">
                  <a16:creationId xmlns:a16="http://schemas.microsoft.com/office/drawing/2014/main" id="{0F98696E-9D3F-46E0-BEAA-AC12E5D7F15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Google Shape;9841;p83">
              <a:extLst>
                <a:ext uri="{FF2B5EF4-FFF2-40B4-BE49-F238E27FC236}">
                  <a16:creationId xmlns:a16="http://schemas.microsoft.com/office/drawing/2014/main" id="{157B5CD0-9DE7-49D1-B1B5-0F8B7420A4B4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Google Shape;9841;p83">
              <a:extLst>
                <a:ext uri="{FF2B5EF4-FFF2-40B4-BE49-F238E27FC236}">
                  <a16:creationId xmlns:a16="http://schemas.microsoft.com/office/drawing/2014/main" id="{4D0D47C8-EAC6-4720-A6B0-58062B071F6F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Google Shape;9841;p83">
              <a:extLst>
                <a:ext uri="{FF2B5EF4-FFF2-40B4-BE49-F238E27FC236}">
                  <a16:creationId xmlns:a16="http://schemas.microsoft.com/office/drawing/2014/main" id="{C5E7C139-DE49-4D81-BF84-E4FDCD4AD24E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3DC567FA-CEC2-494C-8454-9F184ED950B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1483" y="849878"/>
            <a:ext cx="4515013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328526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Актуальность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07504" y="1270778"/>
            <a:ext cx="4824536" cy="32282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Клеточные автоматы – эффективный способ моделирования различных процессов в физике, химии, социологии. Возникает потребность в специализированной высокопроизводительной динамической библиотеки, ориентированной исключительно на максимальную производительность вычислений клеточных автоматов.</a:t>
            </a:r>
          </a:p>
        </p:txBody>
      </p:sp>
      <p:grpSp>
        <p:nvGrpSpPr>
          <p:cNvPr id="79" name="Группа 78">
            <a:extLst>
              <a:ext uri="{FF2B5EF4-FFF2-40B4-BE49-F238E27FC236}">
                <a16:creationId xmlns:a16="http://schemas.microsoft.com/office/drawing/2014/main" id="{6EEFF390-3C80-460A-BB13-AF7EE774035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0" name="Google Shape;9830;p83">
              <a:extLst>
                <a:ext uri="{FF2B5EF4-FFF2-40B4-BE49-F238E27FC236}">
                  <a16:creationId xmlns:a16="http://schemas.microsoft.com/office/drawing/2014/main" id="{C83417F4-F7F0-4AAC-83AA-3E2ABDEEEBB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Google Shape;9841;p83">
              <a:extLst>
                <a:ext uri="{FF2B5EF4-FFF2-40B4-BE49-F238E27FC236}">
                  <a16:creationId xmlns:a16="http://schemas.microsoft.com/office/drawing/2014/main" id="{E02F7B6E-4063-4B5F-8CBE-C72B0B6810E9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F4651E71-30B5-4C7B-92E2-C285915CA71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7F59A4C8-9CAC-4D3A-8A68-108E783A6795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F4EC25BF-6DFA-4297-9C8C-B7C7669CC6C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72810C15-CCE6-4246-962D-615D01E2497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DCA4FA60-BA0D-4B35-809A-47ACABBD6748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A5C3090E-4AA7-40EB-A9AD-27FA427470D3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3B3A3AF6-7224-4DAC-A264-124136D01253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EB7BA7A2-973A-4515-923E-A93B0B428C0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="" xmlns:m="http://schemas.openxmlformats.org/officeDocument/2006/math" xmlns:w="http://schemas.openxmlformats.org/wordprocessingml/2006/main">
      <p:transition spd="med" advClick="1"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328526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Цель и задачи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264044" y="1261676"/>
            <a:ext cx="6223013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Выяснить, к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акие особенности современных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CPU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нужно использовать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Спроектировать архитектуру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алгоритмы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 библиотеку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B7E60A42-4D81-4F42-8F89-1A9F3BE7580A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F9D34E1-9C63-485E-A3F1-7D85F12CE9B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14A73F59-A2AE-40D2-A5A2-42393A990F10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39E402CE-4F82-43AB-99B6-A6DC165609E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4E96B38-49A9-4AA6-AAF8-22F9891888C3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A7181382-08D6-4669-A817-BB73C79AEB1D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DFB00DC4-7ABB-4A3E-BB99-33B5DF17619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2F2383B8-2FF5-4D78-B5AC-777F7464009F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CAEE4FAB-0D32-4701-81E1-8808708BAC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884AAAF6-6DD6-446C-95E7-11716185344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95268EAA-3FFF-4117-B5EA-B91A855234F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23464173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Выбор средств разработки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53263" y="1271808"/>
            <a:ext cx="5774069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Язык программирования</a:t>
            </a:r>
            <a:r>
              <a:rPr lang="en-US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 C++ 23;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Интегрированная среда разработки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Visual Studio 2026;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MSVC 14.51.36231,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набор инструментов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v145;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0" name="Группа 79">
            <a:extLst>
              <a:ext uri="{FF2B5EF4-FFF2-40B4-BE49-F238E27FC236}">
                <a16:creationId xmlns:a16="http://schemas.microsoft.com/office/drawing/2014/main" id="{9353D405-9010-43B8-AEE7-64CDA2B0E6B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1" name="Google Shape;9830;p83">
              <a:extLst>
                <a:ext uri="{FF2B5EF4-FFF2-40B4-BE49-F238E27FC236}">
                  <a16:creationId xmlns:a16="http://schemas.microsoft.com/office/drawing/2014/main" id="{5CB09E3A-0FFA-4285-94CE-43961C37F09B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C79D9156-6E4C-45A6-B83F-001C2D141056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26608158-AF00-472B-B5EC-90E5511E54ED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465650A7-0F27-4563-9F55-30358870850C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938E18AC-7723-408E-8710-CEBF545898D5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9CA3F124-6259-4727-BEB1-6C3E063D8CFD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4E8DD3E2-F1FF-4F9A-A780-0BDAAA41C0DA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17F18EA8-7609-45F5-9C8F-65490D72AE8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3AEFA975-A17F-4D6D-8204-29A39CB3F747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0" name="Google Shape;9841;p83">
              <a:extLst>
                <a:ext uri="{FF2B5EF4-FFF2-40B4-BE49-F238E27FC236}">
                  <a16:creationId xmlns:a16="http://schemas.microsoft.com/office/drawing/2014/main" id="{FFE24C00-6E3E-4FE3-A054-0307418E8DF4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32BB6DC-D362-4554-A40A-A9A98771F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232" y="572926"/>
            <a:ext cx="1515852" cy="170765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2841FA-320A-46A1-B9EF-2F2800854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104" y="2571750"/>
            <a:ext cx="2173645" cy="1995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="" xmlns:m="http://schemas.openxmlformats.org/officeDocument/2006/math" xmlns:w="http://schemas.openxmlformats.org/wordprocessingml/2006/main">
      <p:transition spd="med" advClick="1">
        <p:push dir="u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298C9FD-09BB-4CAC-8992-5583C6B7312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018653" y="850909"/>
            <a:ext cx="3835300" cy="3672876"/>
          </a:xfrm>
          <a:prstGeom prst="rect">
            <a:avLst/>
          </a:prstGeom>
        </p:spPr>
      </p:pic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Архитектура библиотеки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79479" y="1788362"/>
            <a:ext cx="4839174" cy="156677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Представляет собой три уровня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 к функциям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Внутренний, управление вызовами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Скрытый, аппаратно-зависимые реализации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0F14C775-0F24-476B-87C7-1F499D99FF8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94297A68-E66C-4538-B14B-6C830362FE5F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EF48CD2E-1E98-474E-8A4A-952FE532ED2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1A0F9BC3-79A6-463F-8F53-13BF83C6BA4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29226A3D-3190-43A5-9B2B-ED41FEE8468A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7D3FCB48-84E8-4692-B6C4-FC1F70A47A2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533F8149-7814-469F-903F-694358BDFFF2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306F7B52-85D7-4D35-A94D-6C4271306C75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AE6609E9-892F-4B5B-9865-5898BBE5C0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98FEEA01-ACB3-4921-A3A5-A688D0D5AEB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E95E52F2-3A71-4601-B01B-7CCC6FD2A34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2573050"/>
      </p:ext>
    </p:extLst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Декомпозиция задачи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53264" y="1271809"/>
            <a:ext cx="5629086" cy="26914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 одной итерации клеточного автомата можно разбить на две отдельные операции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суммы соседей для клетки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457200" indent="-4572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правила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соответствующей клетке согласно количеству соседей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C9BE2BB9-0D0C-45FD-951A-4311783AA021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E9536291-4272-49B9-B892-6E3BB3BEF4A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753F8346-0445-4529-AC1A-1CB2266CE80E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CC1F9B59-7420-443A-A570-220BD3472BD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99CD349B-5CFE-4759-8846-C858DD5344AB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97F8FD77-4E54-46D0-A146-B9563414C010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311125A0-8826-482F-A106-920159218E83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86107225-0C71-4188-9B80-22381F50E41B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F732CD6D-90BD-40C0-A019-BA0FAE34FF99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510A7DBF-2862-4995-ACAD-BE273F51D94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0EAFBB1B-3944-46C6-9BA0-6F7847B02EF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D2569147-10C9-45CC-8D29-ABECA672ED56}"/>
              </a:ext>
            </a:extLst>
          </p:cNvPr>
          <p:cNvGrpSpPr/>
          <p:nvPr/>
        </p:nvGrpSpPr>
        <p:grpSpPr>
          <a:xfrm>
            <a:off x="5883647" y="483518"/>
            <a:ext cx="3038122" cy="1927860"/>
            <a:chOff x="6084168" y="699542"/>
            <a:chExt cx="2736304" cy="1711836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C26D1E3E-1A11-4CD6-A2FB-CCFEC08F7E7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06" t="11167" r="12497" b="13233"/>
            <a:stretch/>
          </p:blipFill>
          <p:spPr bwMode="auto">
            <a:xfrm>
              <a:off x="6804248" y="699542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813992C-F594-4628-9C81-1AF341F6681E}"/>
                </a:ext>
              </a:extLst>
            </p:cNvPr>
            <p:cNvSpPr txBox="1"/>
            <p:nvPr/>
          </p:nvSpPr>
          <p:spPr>
            <a:xfrm>
              <a:off x="6084168" y="2103601"/>
              <a:ext cx="27363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1 – Окрестность Мура</a:t>
              </a:r>
            </a:p>
          </p:txBody>
        </p:sp>
      </p:grp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DC3221EB-2339-4F4F-9B59-882B782613FA}"/>
              </a:ext>
            </a:extLst>
          </p:cNvPr>
          <p:cNvGrpSpPr/>
          <p:nvPr/>
        </p:nvGrpSpPr>
        <p:grpSpPr>
          <a:xfrm>
            <a:off x="5919100" y="2643759"/>
            <a:ext cx="2967217" cy="2090351"/>
            <a:chOff x="6156176" y="2631661"/>
            <a:chExt cx="2592288" cy="1841074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99FBC3B8-5B4B-47E1-8CDD-C24846B49AC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00" t="11168" r="11801" b="13234"/>
            <a:stretch/>
          </p:blipFill>
          <p:spPr bwMode="auto">
            <a:xfrm>
              <a:off x="6804248" y="2631661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9AB6642-FA26-49B1-B33C-57900AEE2102}"/>
                </a:ext>
              </a:extLst>
            </p:cNvPr>
            <p:cNvSpPr txBox="1"/>
            <p:nvPr/>
          </p:nvSpPr>
          <p:spPr>
            <a:xfrm>
              <a:off x="6156176" y="4011910"/>
              <a:ext cx="2592288" cy="4608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2 – Окрестность фон Неймана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1146696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6524"/>
            <a:ext cx="307812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SISD </a:t>
            </a: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и</a:t>
            </a: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SIMD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263120" y="1817825"/>
            <a:ext cx="4743504" cy="150784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единицы данных одной инструкцией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массива данных одной инструкцией.</a:t>
            </a: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22B916E-A766-466D-813C-C74F02E84948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C1C4FF65-4959-46E7-B23A-3EE3D86FD573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4C28DD65-3FC7-4D48-8010-D808C7508E61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8835B26E-1F39-4442-B317-327764C5904B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4D713A52-AB5F-4046-BC43-D8EA05F36D47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B4EE31B2-14A6-4268-973A-A7A8E637E1E2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D01613E0-191F-44DA-A731-229011950A71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2B32236F-758C-4D86-9408-61498F9531D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5BAD0353-C482-4D91-B57C-8F497ADB0CB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F3D8E77A-331C-4A59-A81D-1A9BB26FC72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0BD72E3B-3C3E-47B6-9125-C36C6AB48D17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FABCBAD7-196D-4B13-926E-D0D41B014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1268323"/>
            <a:ext cx="3601591" cy="194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="" xmlns:m="http://schemas.openxmlformats.org/officeDocument/2006/math" xmlns:w="http://schemas.openxmlformats.org/wordprocessingml/2006/main">
      <p:transition spd="med" advClick="1">
        <p:push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586936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поиска сумм соседей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23718" y="1275606"/>
            <a:ext cx="3469107" cy="29233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Было разработано 6 алгоритмов</a:t>
            </a:r>
            <a:r>
              <a:rPr lang="en-US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 опт.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 2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77FFD5A-A828-47CC-9C83-D401CA2C513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DB7A7098-0CA4-4C62-8A20-160ABADB457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C66D2687-F860-49D2-8380-F5C86AFF7C6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91293E59-E4CE-4C39-9C73-4C42BDB37B08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A055EFF2-DC13-4B59-A776-A064B103B4BD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991AA6F0-6A1F-4F1C-AC2A-D80FAA51AFE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345E5AE9-DD90-4880-95AF-F392DF51FA3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E0E062D7-4CF1-47CC-BCA7-010FF0FEB96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CBFC1F89-620E-41B0-B9FC-B1F8AD4C2C91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6E043724-4E21-4229-B58F-A1B5ADA42E1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9B1D0FE3-8A0E-47B2-AF24-774DDCC391D5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FCA60812-F9E5-4E55-97DE-D3D2C32D8A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8513946"/>
              </p:ext>
            </p:extLst>
          </p:nvPr>
        </p:nvGraphicFramePr>
        <p:xfrm>
          <a:off x="3478451" y="1275606"/>
          <a:ext cx="5243830" cy="36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5278224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658944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применения правил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B</a:t>
            </a: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и 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79513" y="1523390"/>
            <a:ext cx="2880320" cy="32778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Было разработано 7 алгоритмов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Оптимизированный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 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не вошли из-за низкой скорости в бенчмарке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E609C39E-6445-44CC-880F-589F359FAD3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FEC25EF4-2EC1-4D80-93D7-2EB0017C8D5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CAEB3E90-142E-49A7-966B-C0EA330BFE92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456439DD-C1DE-4BAE-A025-96B2475C6776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F9D5C74-57B2-4B91-AB55-FAA9D2E0C95E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856CF0A8-D8C9-4FC0-85F8-1183A767EE4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C49A4DAB-385A-4BDA-8547-94E3087208E8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A018B3DF-0F7F-4FBF-915A-1D22FCDCE2E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37550588-7487-4490-B352-65D5D168871F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E90EA42B-0506-427E-B1EA-E31867AB425A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4E2C3CA5-4C09-4B3D-8CAD-B64D1ACDEC5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973217CF-09C5-4C63-B754-BD3DE0D8C1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3847346"/>
              </p:ext>
            </p:extLst>
          </p:nvPr>
        </p:nvGraphicFramePr>
        <p:xfrm>
          <a:off x="2987824" y="1343302"/>
          <a:ext cx="5924550" cy="35327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78513561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8"/>
            <a:ext cx="6065121" cy="986873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общих алгоритмов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81611" y="1429168"/>
            <a:ext cx="3951416" cy="25694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Собрав в общие алгоритмы декомпозированные задачи, реализовано 4 алгоритма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Базовый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исп.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скалярный</a:t>
            </a: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F704C3FF-E35F-4BE8-B1A8-198FDA742ED2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C67F308-47DA-4FAF-86C5-39C4220EE5A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3570189D-C660-40BF-A17C-ECF36C9F594D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F70EA5FD-0BC6-4BFA-BE44-CB2FF97C9D3C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77D15518-14D0-432F-8D58-CE1F923B20D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2EA4F44D-DE96-429A-BBDD-093F4D2B33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089BAE9A-6594-49C7-AEF8-4169C7529AC7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FD34CE3B-0049-488F-A8C7-8DA466C85362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1FA23D01-D9C2-4DC5-82B5-2021ED7ABCDA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88450FA8-DEE9-4DCD-83F8-BD3711825FFD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0E215F88-EF50-486F-87F8-16A471A25CBF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C04C1FFD-EAA0-40CA-BFE9-5D28C0D621B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62860844"/>
              </p:ext>
            </p:extLst>
          </p:nvPr>
        </p:nvGraphicFramePr>
        <p:xfrm>
          <a:off x="4081066" y="1384671"/>
          <a:ext cx="4985198" cy="312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66712265"/>
      </p:ext>
    </p:extLst>
  </p:cSld>
  <p:clrMapOvr>
    <a:masterClrMapping/>
  </p:clrMapOvr>
  <p:transition spd="med">
    <p:push dir="u"/>
  </p:transition>
</p:sld>
</file>

<file path=ppt/theme/theme1.xml><?xml version="1.0" encoding="utf-8"?>
<a:theme xmlns:a="http://schemas.openxmlformats.org/drawingml/2006/main" name="Computer Science &amp; Mathematics Major for College: Software &amp; Media Application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FFFFFF"/>
      </a:lt2>
      <a:accent1>
        <a:srgbClr val="B7B7B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база">
      <a:majorFont>
        <a:latin typeface="Times New Roman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</TotalTime>
  <Words>358</Words>
  <Application>Microsoft Office PowerPoint</Application>
  <DocSecurity>0</DocSecurity>
  <PresentationFormat>Экран (16:9)</PresentationFormat>
  <Paragraphs>71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Fira Code</vt:lpstr>
      <vt:lpstr>Chakra Petch Medium</vt:lpstr>
      <vt:lpstr>Arial</vt:lpstr>
      <vt:lpstr>Abadi</vt:lpstr>
      <vt:lpstr>Times New Roman</vt:lpstr>
      <vt:lpstr>Computer Science &amp; Mathematics Major for College: Software &amp; Media Applications by Slidesgo</vt:lpstr>
      <vt:lpstr>Презентация PowerPoint</vt:lpstr>
      <vt:lpstr>Актуальность</vt:lpstr>
      <vt:lpstr>Цель и задачи</vt:lpstr>
      <vt:lpstr>Выбор средств разработки</vt:lpstr>
      <vt:lpstr>Архитектура библиотеки</vt:lpstr>
      <vt:lpstr>Декомпозиция задачи</vt:lpstr>
      <vt:lpstr>SISD и SIMD</vt:lpstr>
      <vt:lpstr>Производительность разработанных алгоритмов поиска сумм соседей</vt:lpstr>
      <vt:lpstr>Производительность разработанных алгоритмов применения правил B и S</vt:lpstr>
      <vt:lpstr>Производительность общих алгоритмов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Baka</dc:creator>
  <cp:keywords/>
  <dc:description/>
  <cp:lastModifiedBy>baka</cp:lastModifiedBy>
  <cp:revision>62</cp:revision>
  <dcterms:modified xsi:type="dcterms:W3CDTF">2026-05-31T11:44:03Z</dcterms:modified>
  <cp:category/>
  <dc:identifier/>
  <cp:contentStatus/>
  <dc:language/>
  <cp:version/>
</cp:coreProperties>
</file>